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Lst>
  <p:notesMasterIdLst>
    <p:notesMasterId r:id="rId31"/>
  </p:notesMasterIdLst>
  <p:sldIdLst>
    <p:sldId id="291" r:id="rId2"/>
    <p:sldId id="259" r:id="rId3"/>
    <p:sldId id="384" r:id="rId4"/>
    <p:sldId id="297" r:id="rId5"/>
    <p:sldId id="419" r:id="rId6"/>
    <p:sldId id="420" r:id="rId7"/>
    <p:sldId id="417" r:id="rId8"/>
    <p:sldId id="422" r:id="rId9"/>
    <p:sldId id="286" r:id="rId10"/>
    <p:sldId id="424" r:id="rId11"/>
    <p:sldId id="330" r:id="rId12"/>
    <p:sldId id="423" r:id="rId13"/>
    <p:sldId id="425" r:id="rId14"/>
    <p:sldId id="339" r:id="rId15"/>
    <p:sldId id="426" r:id="rId16"/>
    <p:sldId id="427" r:id="rId17"/>
    <p:sldId id="428" r:id="rId18"/>
    <p:sldId id="303" r:id="rId19"/>
    <p:sldId id="344" r:id="rId20"/>
    <p:sldId id="305" r:id="rId21"/>
    <p:sldId id="349" r:id="rId22"/>
    <p:sldId id="343" r:id="rId23"/>
    <p:sldId id="351" r:id="rId24"/>
    <p:sldId id="430" r:id="rId25"/>
    <p:sldId id="310" r:id="rId26"/>
    <p:sldId id="431" r:id="rId27"/>
    <p:sldId id="341" r:id="rId28"/>
    <p:sldId id="432" r:id="rId29"/>
    <p:sldId id="429" r:id="rId30"/>
  </p:sldIdLst>
  <p:sldSz cx="10693400" cy="7556500"/>
  <p:notesSz cx="10693400" cy="7556500"/>
  <p:defaultTextStyle>
    <a:defPPr>
      <a:defRPr lang="en-S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2EDFC5-AD09-EA4B-97C0-E9384F9959C3}" v="14" dt="2025-10-16T11:25:53.18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p:restoredTop sz="94752"/>
  </p:normalViewPr>
  <p:slideViewPr>
    <p:cSldViewPr>
      <p:cViewPr varScale="1">
        <p:scale>
          <a:sx n="101" d="100"/>
          <a:sy n="101" d="100"/>
        </p:scale>
        <p:origin x="2304"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08F67016-5008-8D4D-8120-80A51FB22D33}" type="datetimeFigureOut">
              <a:rPr lang="en-IE" smtClean="0"/>
              <a:t>16/10/2025</a:t>
            </a:fld>
            <a:endParaRPr lang="en-IE"/>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FDD5DCFF-6E3D-A949-8199-5555B7AEA416}" type="slidenum">
              <a:rPr lang="en-IE" smtClean="0"/>
              <a:t>‹#›</a:t>
            </a:fld>
            <a:endParaRPr lang="en-IE"/>
          </a:p>
        </p:txBody>
      </p:sp>
    </p:spTree>
    <p:extLst>
      <p:ext uri="{BB962C8B-B14F-4D97-AF65-F5344CB8AC3E}">
        <p14:creationId xmlns:p14="http://schemas.microsoft.com/office/powerpoint/2010/main" val="3645232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ChangeArrowheads="1"/>
          </p:cNvSpPr>
          <p:nvPr/>
        </p:nvSpPr>
        <p:spPr bwMode="auto">
          <a:xfrm>
            <a:off x="-1543" y="-1698"/>
            <a:ext cx="2943498" cy="50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913" tIns="44956" rIns="89913" bIns="44956" anchor="ctr"/>
          <a:lstStyle/>
          <a:p>
            <a:endParaRPr lang="en-IE">
              <a:solidFill>
                <a:prstClr val="black"/>
              </a:solidFill>
            </a:endParaRPr>
          </a:p>
        </p:txBody>
      </p:sp>
      <p:sp>
        <p:nvSpPr>
          <p:cNvPr id="370693" name="Rectangle 5"/>
          <p:cNvSpPr>
            <a:spLocks noGrp="1" noRot="1" noChangeAspect="1" noChangeArrowheads="1" noTextEdit="1"/>
          </p:cNvSpPr>
          <p:nvPr>
            <p:ph type="sldImg"/>
          </p:nvPr>
        </p:nvSpPr>
        <p:spPr>
          <a:ln/>
        </p:spPr>
      </p:sp>
      <p:sp>
        <p:nvSpPr>
          <p:cNvPr id="370694" name="Rectangle 6"/>
          <p:cNvSpPr>
            <a:spLocks noGrp="1" noChangeArrowheads="1"/>
          </p:cNvSpPr>
          <p:nvPr>
            <p:ph type="body" idx="1"/>
          </p:nvPr>
        </p:nvSpPr>
        <p:spPr/>
        <p:txBody>
          <a:bodyPr/>
          <a:lstStyle/>
          <a:p>
            <a:r>
              <a:rPr lang="en-US" altLang="en-US" dirty="0"/>
              <a:t>SQL Functions (continued)</a:t>
            </a:r>
          </a:p>
          <a:p>
            <a:pPr lvl="1"/>
            <a:r>
              <a:rPr lang="en-US" altLang="en-US" dirty="0">
                <a:solidFill>
                  <a:schemeClr val="tx1"/>
                </a:solidFill>
              </a:rPr>
              <a:t>There are two types of functions:</a:t>
            </a:r>
          </a:p>
          <a:p>
            <a:pPr lvl="2">
              <a:buClr>
                <a:schemeClr val="tx1"/>
              </a:buClr>
            </a:pPr>
            <a:r>
              <a:rPr lang="en-US" altLang="en-US" dirty="0">
                <a:solidFill>
                  <a:schemeClr val="tx1"/>
                </a:solidFill>
              </a:rPr>
              <a:t>Single-row functions</a:t>
            </a:r>
          </a:p>
          <a:p>
            <a:pPr lvl="2">
              <a:buClr>
                <a:schemeClr val="tx1"/>
              </a:buClr>
            </a:pPr>
            <a:r>
              <a:rPr lang="en-US" altLang="en-US" dirty="0">
                <a:solidFill>
                  <a:schemeClr val="tx1"/>
                </a:solidFill>
              </a:rPr>
              <a:t>Multiple-row functions</a:t>
            </a:r>
          </a:p>
          <a:p>
            <a:pPr lvl="1"/>
            <a:r>
              <a:rPr lang="en-US" altLang="en-US" b="1" dirty="0">
                <a:solidFill>
                  <a:schemeClr val="tx1"/>
                </a:solidFill>
              </a:rPr>
              <a:t>Single-Row Functions</a:t>
            </a:r>
          </a:p>
          <a:p>
            <a:pPr lvl="1"/>
            <a:r>
              <a:rPr lang="en-US" altLang="en-US" dirty="0">
                <a:solidFill>
                  <a:schemeClr val="tx1"/>
                </a:solidFill>
              </a:rPr>
              <a:t>These functions operate on single rows only and return one result per row. There are different types of single-row functions. This lesson covers the following ones:</a:t>
            </a:r>
          </a:p>
          <a:p>
            <a:pPr lvl="2">
              <a:buClr>
                <a:schemeClr val="tx1"/>
              </a:buClr>
            </a:pPr>
            <a:r>
              <a:rPr lang="en-US" altLang="en-US" dirty="0">
                <a:solidFill>
                  <a:schemeClr val="tx1"/>
                </a:solidFill>
              </a:rPr>
              <a:t>Character</a:t>
            </a:r>
          </a:p>
          <a:p>
            <a:pPr lvl="2">
              <a:buClr>
                <a:schemeClr val="tx1"/>
              </a:buClr>
            </a:pPr>
            <a:r>
              <a:rPr lang="en-US" altLang="en-US" dirty="0">
                <a:solidFill>
                  <a:schemeClr val="tx1"/>
                </a:solidFill>
              </a:rPr>
              <a:t>Number</a:t>
            </a:r>
          </a:p>
          <a:p>
            <a:pPr lvl="2">
              <a:buClr>
                <a:schemeClr val="tx1"/>
              </a:buClr>
            </a:pPr>
            <a:r>
              <a:rPr lang="en-US" altLang="en-US" dirty="0">
                <a:solidFill>
                  <a:schemeClr val="tx1"/>
                </a:solidFill>
              </a:rPr>
              <a:t>Date</a:t>
            </a:r>
          </a:p>
          <a:p>
            <a:pPr lvl="2">
              <a:buClr>
                <a:schemeClr val="tx1"/>
              </a:buClr>
            </a:pPr>
            <a:r>
              <a:rPr lang="en-US" altLang="en-US" dirty="0">
                <a:solidFill>
                  <a:schemeClr val="tx1"/>
                </a:solidFill>
              </a:rPr>
              <a:t>Conversion</a:t>
            </a:r>
          </a:p>
          <a:p>
            <a:pPr lvl="2">
              <a:buClr>
                <a:schemeClr val="tx1"/>
              </a:buClr>
            </a:pPr>
            <a:r>
              <a:rPr lang="en-US" altLang="en-US" dirty="0">
                <a:solidFill>
                  <a:schemeClr val="tx1"/>
                </a:solidFill>
              </a:rPr>
              <a:t>General</a:t>
            </a:r>
          </a:p>
          <a:p>
            <a:pPr lvl="1"/>
            <a:r>
              <a:rPr lang="en-US" altLang="en-US" b="1" dirty="0"/>
              <a:t>Multiple-Row Functions</a:t>
            </a:r>
          </a:p>
          <a:p>
            <a:pPr lvl="1"/>
            <a:r>
              <a:rPr lang="en-US" altLang="en-US" dirty="0"/>
              <a:t>Functions can manipulate groups of rows to give one result per group of rows. These functions are also known as </a:t>
            </a:r>
            <a:r>
              <a:rPr lang="en-US" altLang="en-US" i="1" dirty="0"/>
              <a:t>group functions</a:t>
            </a:r>
            <a:r>
              <a:rPr lang="en-US" altLang="en-US" dirty="0"/>
              <a:t> (covered in a later lesson).</a:t>
            </a:r>
          </a:p>
          <a:p>
            <a:pPr lvl="1"/>
            <a:r>
              <a:rPr lang="en-US" altLang="en-US" b="1" dirty="0"/>
              <a:t>Note:</a:t>
            </a:r>
            <a:r>
              <a:rPr lang="en-US" altLang="en-US" dirty="0"/>
              <a:t> For more information and a complete list of available functions and their syntax, see </a:t>
            </a:r>
            <a:r>
              <a:rPr lang="en-US" altLang="en-US" i="1" dirty="0"/>
              <a:t>Oracle SQL Reference</a:t>
            </a:r>
            <a:r>
              <a:rPr lang="en-US" altLang="en-US" dirty="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FDD5DCFF-6E3D-A949-8199-5555B7AEA416}" type="slidenum">
              <a:rPr lang="en-IE" smtClean="0"/>
              <a:t>4</a:t>
            </a:fld>
            <a:endParaRPr lang="en-IE"/>
          </a:p>
        </p:txBody>
      </p:sp>
    </p:spTree>
    <p:extLst>
      <p:ext uri="{BB962C8B-B14F-4D97-AF65-F5344CB8AC3E}">
        <p14:creationId xmlns:p14="http://schemas.microsoft.com/office/powerpoint/2010/main" val="1621985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336675" y="1236678"/>
            <a:ext cx="8020050" cy="2630781"/>
          </a:xfrm>
        </p:spPr>
        <p:txBody>
          <a:bodyPr anchor="b"/>
          <a:lstStyle>
            <a:lvl1pPr algn="ctr">
              <a:defRPr sz="4959"/>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336675" y="3968912"/>
            <a:ext cx="8020050" cy="1824404"/>
          </a:xfrm>
        </p:spPr>
        <p:txBody>
          <a:bodyPr/>
          <a:lstStyle>
            <a:lvl1pPr marL="0" indent="0" algn="ctr">
              <a:buNone/>
              <a:defRPr sz="1983"/>
            </a:lvl1pPr>
            <a:lvl2pPr marL="377846" indent="0" algn="ctr">
              <a:buNone/>
              <a:defRPr sz="1653"/>
            </a:lvl2pPr>
            <a:lvl3pPr marL="755691" indent="0" algn="ctr">
              <a:buNone/>
              <a:defRPr sz="1488"/>
            </a:lvl3pPr>
            <a:lvl4pPr marL="1133537" indent="0" algn="ctr">
              <a:buNone/>
              <a:defRPr sz="1322"/>
            </a:lvl4pPr>
            <a:lvl5pPr marL="1511383" indent="0" algn="ctr">
              <a:buNone/>
              <a:defRPr sz="1322"/>
            </a:lvl5pPr>
            <a:lvl6pPr marL="1889228" indent="0" algn="ctr">
              <a:buNone/>
              <a:defRPr sz="1322"/>
            </a:lvl6pPr>
            <a:lvl7pPr marL="2267074" indent="0" algn="ctr">
              <a:buNone/>
              <a:defRPr sz="1322"/>
            </a:lvl7pPr>
            <a:lvl8pPr marL="2644919" indent="0" algn="ctr">
              <a:buNone/>
              <a:defRPr sz="1322"/>
            </a:lvl8pPr>
            <a:lvl9pPr marL="3022765" indent="0" algn="ctr">
              <a:buNone/>
              <a:defRPr sz="1322"/>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9343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326036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a:ext>
            </a:extLst>
          </a:blip>
          <a:stretch>
            <a:fillRect/>
          </a:stretch>
        </p:blipFill>
        <p:spPr>
          <a:xfrm>
            <a:off x="916312" y="2011570"/>
            <a:ext cx="1828160" cy="229665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406015" y="2366655"/>
            <a:ext cx="7552214" cy="418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2916889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1883879"/>
            <a:ext cx="9223058" cy="3143294"/>
          </a:xfrm>
        </p:spPr>
        <p:txBody>
          <a:bodyPr anchor="b"/>
          <a:lstStyle>
            <a:lvl1pPr>
              <a:defRPr sz="4959">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729602" y="5056910"/>
            <a:ext cx="9223058" cy="1652984"/>
          </a:xfrm>
        </p:spPr>
        <p:txBody>
          <a:bodyPr/>
          <a:lstStyle>
            <a:lvl1pPr marL="0" indent="0">
              <a:buNone/>
              <a:defRPr sz="1983">
                <a:solidFill>
                  <a:schemeClr val="tx1">
                    <a:tint val="75000"/>
                  </a:schemeClr>
                </a:solidFill>
              </a:defRPr>
            </a:lvl1pPr>
            <a:lvl2pPr marL="377846" indent="0">
              <a:buNone/>
              <a:defRPr sz="1653">
                <a:solidFill>
                  <a:schemeClr val="tx1">
                    <a:tint val="75000"/>
                  </a:schemeClr>
                </a:solidFill>
              </a:defRPr>
            </a:lvl2pPr>
            <a:lvl3pPr marL="755691" indent="0">
              <a:buNone/>
              <a:defRPr sz="1488">
                <a:solidFill>
                  <a:schemeClr val="tx1">
                    <a:tint val="75000"/>
                  </a:schemeClr>
                </a:solidFill>
              </a:defRPr>
            </a:lvl3pPr>
            <a:lvl4pPr marL="1133537" indent="0">
              <a:buNone/>
              <a:defRPr sz="1322">
                <a:solidFill>
                  <a:schemeClr val="tx1">
                    <a:tint val="75000"/>
                  </a:schemeClr>
                </a:solidFill>
              </a:defRPr>
            </a:lvl4pPr>
            <a:lvl5pPr marL="1511383" indent="0">
              <a:buNone/>
              <a:defRPr sz="1322">
                <a:solidFill>
                  <a:schemeClr val="tx1">
                    <a:tint val="75000"/>
                  </a:schemeClr>
                </a:solidFill>
              </a:defRPr>
            </a:lvl5pPr>
            <a:lvl6pPr marL="1889228" indent="0">
              <a:buNone/>
              <a:defRPr sz="1322">
                <a:solidFill>
                  <a:schemeClr val="tx1">
                    <a:tint val="75000"/>
                  </a:schemeClr>
                </a:solidFill>
              </a:defRPr>
            </a:lvl6pPr>
            <a:lvl7pPr marL="2267074" indent="0">
              <a:buNone/>
              <a:defRPr sz="1322">
                <a:solidFill>
                  <a:schemeClr val="tx1">
                    <a:tint val="75000"/>
                  </a:schemeClr>
                </a:solidFill>
              </a:defRPr>
            </a:lvl7pPr>
            <a:lvl8pPr marL="2644919" indent="0">
              <a:buNone/>
              <a:defRPr sz="1322">
                <a:solidFill>
                  <a:schemeClr val="tx1">
                    <a:tint val="75000"/>
                  </a:schemeClr>
                </a:solidFill>
              </a:defRPr>
            </a:lvl8pPr>
            <a:lvl9pPr marL="3022765" indent="0">
              <a:buNone/>
              <a:defRPr sz="1322">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692194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5307123"/>
            <a:ext cx="9223058" cy="1348502"/>
          </a:xfrm>
        </p:spPr>
        <p:txBody>
          <a:bodyPr anchor="b">
            <a:normAutofit/>
          </a:bodyPr>
          <a:lstStyle>
            <a:lvl1pPr algn="ctr">
              <a:defRPr sz="4463">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415763" y="785388"/>
            <a:ext cx="5959343" cy="452173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3523506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735171"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413535"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862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736564" y="402315"/>
            <a:ext cx="9223058" cy="1460574"/>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736565" y="1852393"/>
            <a:ext cx="4523809" cy="907829"/>
          </a:xfrm>
        </p:spPr>
        <p:txBody>
          <a:bodyPr anchor="b"/>
          <a:lstStyle>
            <a:lvl1pPr marL="0" indent="0">
              <a:buNone/>
              <a:defRPr sz="1983" b="1"/>
            </a:lvl1pPr>
            <a:lvl2pPr marL="377846" indent="0">
              <a:buNone/>
              <a:defRPr sz="1653" b="1"/>
            </a:lvl2pPr>
            <a:lvl3pPr marL="755691" indent="0">
              <a:buNone/>
              <a:defRPr sz="1488" b="1"/>
            </a:lvl3pPr>
            <a:lvl4pPr marL="1133537" indent="0">
              <a:buNone/>
              <a:defRPr sz="1322" b="1"/>
            </a:lvl4pPr>
            <a:lvl5pPr marL="1511383" indent="0">
              <a:buNone/>
              <a:defRPr sz="1322" b="1"/>
            </a:lvl5pPr>
            <a:lvl6pPr marL="1889228" indent="0">
              <a:buNone/>
              <a:defRPr sz="1322" b="1"/>
            </a:lvl6pPr>
            <a:lvl7pPr marL="2267074" indent="0">
              <a:buNone/>
              <a:defRPr sz="1322" b="1"/>
            </a:lvl7pPr>
            <a:lvl8pPr marL="2644919" indent="0">
              <a:buNone/>
              <a:defRPr sz="1322" b="1"/>
            </a:lvl8pPr>
            <a:lvl9pPr marL="3022765" indent="0">
              <a:buNone/>
              <a:defRPr sz="1322"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736565" y="2760222"/>
            <a:ext cx="4523809"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413534" y="1852393"/>
            <a:ext cx="4546088" cy="907829"/>
          </a:xfrm>
        </p:spPr>
        <p:txBody>
          <a:bodyPr anchor="b"/>
          <a:lstStyle>
            <a:lvl1pPr marL="0" indent="0">
              <a:buNone/>
              <a:defRPr sz="1983" b="1"/>
            </a:lvl1pPr>
            <a:lvl2pPr marL="377846" indent="0">
              <a:buNone/>
              <a:defRPr sz="1653" b="1"/>
            </a:lvl2pPr>
            <a:lvl3pPr marL="755691" indent="0">
              <a:buNone/>
              <a:defRPr sz="1488" b="1"/>
            </a:lvl3pPr>
            <a:lvl4pPr marL="1133537" indent="0">
              <a:buNone/>
              <a:defRPr sz="1322" b="1"/>
            </a:lvl4pPr>
            <a:lvl5pPr marL="1511383" indent="0">
              <a:buNone/>
              <a:defRPr sz="1322" b="1"/>
            </a:lvl5pPr>
            <a:lvl6pPr marL="1889228" indent="0">
              <a:buNone/>
              <a:defRPr sz="1322" b="1"/>
            </a:lvl6pPr>
            <a:lvl7pPr marL="2267074" indent="0">
              <a:buNone/>
              <a:defRPr sz="1322" b="1"/>
            </a:lvl7pPr>
            <a:lvl8pPr marL="2644919" indent="0">
              <a:buNone/>
              <a:defRPr sz="1322" b="1"/>
            </a:lvl8pPr>
            <a:lvl9pPr marL="3022765" indent="0">
              <a:buNone/>
              <a:defRPr sz="1322"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413534" y="2760222"/>
            <a:ext cx="4546088"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76897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000573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22601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3724526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26497573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2032982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713784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306968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905289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21354620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10796400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2071189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3670372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2802802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Tree>
    <p:extLst>
      <p:ext uri="{BB962C8B-B14F-4D97-AF65-F5344CB8AC3E}">
        <p14:creationId xmlns:p14="http://schemas.microsoft.com/office/powerpoint/2010/main" val="2383322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925991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736564" y="503767"/>
            <a:ext cx="3448900" cy="1763183"/>
          </a:xfrm>
        </p:spPr>
        <p:txBody>
          <a:bodyPr anchor="b"/>
          <a:lstStyle>
            <a:lvl1pPr>
              <a:defRPr sz="2645"/>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546088" y="1087998"/>
            <a:ext cx="5413534" cy="5370013"/>
          </a:xfrm>
        </p:spPr>
        <p:txBody>
          <a:bodyPr/>
          <a:lstStyle>
            <a:lvl1pPr>
              <a:defRPr sz="2645"/>
            </a:lvl1pPr>
            <a:lvl2pPr>
              <a:defRPr sz="2314"/>
            </a:lvl2pPr>
            <a:lvl3pPr>
              <a:defRPr sz="1983"/>
            </a:lvl3pPr>
            <a:lvl4pPr>
              <a:defRPr sz="1653"/>
            </a:lvl4pPr>
            <a:lvl5pPr>
              <a:defRPr sz="1653"/>
            </a:lvl5pPr>
            <a:lvl6pPr>
              <a:defRPr sz="1653"/>
            </a:lvl6pPr>
            <a:lvl7pPr>
              <a:defRPr sz="1653"/>
            </a:lvl7pPr>
            <a:lvl8pPr>
              <a:defRPr sz="1653"/>
            </a:lvl8pPr>
            <a:lvl9pPr>
              <a:defRPr sz="16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736564" y="2266951"/>
            <a:ext cx="3448900" cy="4199805"/>
          </a:xfrm>
        </p:spPr>
        <p:txBody>
          <a:bodyPr/>
          <a:lstStyle>
            <a:lvl1pPr marL="0" indent="0">
              <a:buNone/>
              <a:defRPr sz="1322"/>
            </a:lvl1pPr>
            <a:lvl2pPr marL="377846" indent="0">
              <a:buNone/>
              <a:defRPr sz="1157"/>
            </a:lvl2pPr>
            <a:lvl3pPr marL="755691" indent="0">
              <a:buNone/>
              <a:defRPr sz="992"/>
            </a:lvl3pPr>
            <a:lvl4pPr marL="1133537" indent="0">
              <a:buNone/>
              <a:defRPr sz="826"/>
            </a:lvl4pPr>
            <a:lvl5pPr marL="1511383" indent="0">
              <a:buNone/>
              <a:defRPr sz="826"/>
            </a:lvl5pPr>
            <a:lvl6pPr marL="1889228" indent="0">
              <a:buNone/>
              <a:defRPr sz="826"/>
            </a:lvl6pPr>
            <a:lvl7pPr marL="2267074" indent="0">
              <a:buNone/>
              <a:defRPr sz="826"/>
            </a:lvl7pPr>
            <a:lvl8pPr marL="2644919" indent="0">
              <a:buNone/>
              <a:defRPr sz="826"/>
            </a:lvl8pPr>
            <a:lvl9pPr marL="3022765" indent="0">
              <a:buNone/>
              <a:defRPr sz="826"/>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90138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736564" y="503767"/>
            <a:ext cx="3448900" cy="1763183"/>
          </a:xfrm>
        </p:spPr>
        <p:txBody>
          <a:bodyPr anchor="b"/>
          <a:lstStyle>
            <a:lvl1pPr>
              <a:defRPr sz="2645"/>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546088" y="1087998"/>
            <a:ext cx="5413534" cy="5370013"/>
          </a:xfrm>
        </p:spPr>
        <p:txBody>
          <a:bodyPr/>
          <a:lstStyle>
            <a:lvl1pPr marL="0" indent="0">
              <a:buNone/>
              <a:defRPr sz="2645"/>
            </a:lvl1pPr>
            <a:lvl2pPr marL="377846" indent="0">
              <a:buNone/>
              <a:defRPr sz="2314"/>
            </a:lvl2pPr>
            <a:lvl3pPr marL="755691" indent="0">
              <a:buNone/>
              <a:defRPr sz="1983"/>
            </a:lvl3pPr>
            <a:lvl4pPr marL="1133537" indent="0">
              <a:buNone/>
              <a:defRPr sz="1653"/>
            </a:lvl4pPr>
            <a:lvl5pPr marL="1511383" indent="0">
              <a:buNone/>
              <a:defRPr sz="1653"/>
            </a:lvl5pPr>
            <a:lvl6pPr marL="1889228" indent="0">
              <a:buNone/>
              <a:defRPr sz="1653"/>
            </a:lvl6pPr>
            <a:lvl7pPr marL="2267074" indent="0">
              <a:buNone/>
              <a:defRPr sz="1653"/>
            </a:lvl7pPr>
            <a:lvl8pPr marL="2644919" indent="0">
              <a:buNone/>
              <a:defRPr sz="1653"/>
            </a:lvl8pPr>
            <a:lvl9pPr marL="3022765" indent="0">
              <a:buNone/>
              <a:defRPr sz="1653"/>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736564" y="2266951"/>
            <a:ext cx="3448900" cy="4199805"/>
          </a:xfrm>
        </p:spPr>
        <p:txBody>
          <a:bodyPr/>
          <a:lstStyle>
            <a:lvl1pPr marL="0" indent="0">
              <a:buNone/>
              <a:defRPr sz="1322"/>
            </a:lvl1pPr>
            <a:lvl2pPr marL="377846" indent="0">
              <a:buNone/>
              <a:defRPr sz="1157"/>
            </a:lvl2pPr>
            <a:lvl3pPr marL="755691" indent="0">
              <a:buNone/>
              <a:defRPr sz="992"/>
            </a:lvl3pPr>
            <a:lvl4pPr marL="1133537" indent="0">
              <a:buNone/>
              <a:defRPr sz="826"/>
            </a:lvl4pPr>
            <a:lvl5pPr marL="1511383" indent="0">
              <a:buNone/>
              <a:defRPr sz="826"/>
            </a:lvl5pPr>
            <a:lvl6pPr marL="1889228" indent="0">
              <a:buNone/>
              <a:defRPr sz="826"/>
            </a:lvl6pPr>
            <a:lvl7pPr marL="2267074" indent="0">
              <a:buNone/>
              <a:defRPr sz="826"/>
            </a:lvl7pPr>
            <a:lvl8pPr marL="2644919" indent="0">
              <a:buNone/>
              <a:defRPr sz="826"/>
            </a:lvl8pPr>
            <a:lvl9pPr marL="3022765" indent="0">
              <a:buNone/>
              <a:defRPr sz="826"/>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644906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622080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696"/>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652465" y="402314"/>
            <a:ext cx="2305764" cy="6403784"/>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735172" y="402314"/>
            <a:ext cx="6783626" cy="640378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3698649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9990660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1003300" y="315976"/>
            <a:ext cx="8408161" cy="477054"/>
          </a:xfrm>
        </p:spPr>
        <p:txBody>
          <a:bodyPr/>
          <a:lstStyle/>
          <a:p>
            <a:r>
              <a:rPr lang="en-GB"/>
              <a:t>Click to edit Master title style</a:t>
            </a:r>
            <a:endParaRPr lang="en-US"/>
          </a:p>
        </p:txBody>
      </p:sp>
    </p:spTree>
    <p:extLst>
      <p:ext uri="{BB962C8B-B14F-4D97-AF65-F5344CB8AC3E}">
        <p14:creationId xmlns:p14="http://schemas.microsoft.com/office/powerpoint/2010/main" val="3558472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1003300" y="315976"/>
            <a:ext cx="8408161" cy="477054"/>
          </a:xfrm>
        </p:spPr>
        <p:txBody>
          <a:bodyPr/>
          <a:lstStyle/>
          <a:p>
            <a:r>
              <a:rPr lang="en-GB"/>
              <a:t>Click to edit Master title style</a:t>
            </a:r>
            <a:endParaRPr lang="en-US"/>
          </a:p>
        </p:txBody>
      </p:sp>
    </p:spTree>
    <p:extLst>
      <p:ext uri="{BB962C8B-B14F-4D97-AF65-F5344CB8AC3E}">
        <p14:creationId xmlns:p14="http://schemas.microsoft.com/office/powerpoint/2010/main" val="35964509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1003300" y="315976"/>
            <a:ext cx="8408161" cy="523220"/>
          </a:xfrm>
        </p:spPr>
        <p:txBody>
          <a:bodyPr/>
          <a:lstStyle/>
          <a:p>
            <a:r>
              <a:rPr lang="en-GB"/>
              <a:t>Click to edit Master title style</a:t>
            </a:r>
            <a:endParaRPr lang="en-US"/>
          </a:p>
        </p:txBody>
      </p:sp>
    </p:spTree>
    <p:extLst>
      <p:ext uri="{BB962C8B-B14F-4D97-AF65-F5344CB8AC3E}">
        <p14:creationId xmlns:p14="http://schemas.microsoft.com/office/powerpoint/2010/main" val="1886556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735171" y="402315"/>
            <a:ext cx="9223058" cy="1460574"/>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735171" y="2011569"/>
            <a:ext cx="9223058" cy="47945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735171" y="7038904"/>
            <a:ext cx="2406015" cy="402314"/>
          </a:xfrm>
          <a:prstGeom prst="rect">
            <a:avLst/>
          </a:prstGeom>
        </p:spPr>
        <p:txBody>
          <a:bodyPr vert="horz" lIns="91440" tIns="45720" rIns="91440" bIns="45720" rtlCol="0" anchor="ctr"/>
          <a:lstStyle>
            <a:lvl1pPr algn="l">
              <a:defRPr sz="992">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542190" y="7038904"/>
            <a:ext cx="3609023" cy="402314"/>
          </a:xfrm>
          <a:prstGeom prst="rect">
            <a:avLst/>
          </a:prstGeom>
        </p:spPr>
        <p:txBody>
          <a:bodyPr vert="horz" lIns="91440" tIns="45720" rIns="91440" bIns="45720" rtlCol="0" anchor="ctr"/>
          <a:lstStyle>
            <a:lvl1pPr algn="ctr">
              <a:defRPr sz="992">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552215" y="7038904"/>
            <a:ext cx="2406015" cy="402314"/>
          </a:xfrm>
          <a:prstGeom prst="rect">
            <a:avLst/>
          </a:prstGeom>
        </p:spPr>
        <p:txBody>
          <a:bodyPr vert="horz" lIns="91440" tIns="45720" rIns="91440" bIns="45720" rtlCol="0" anchor="ctr"/>
          <a:lstStyle>
            <a:lvl1pPr algn="r">
              <a:defRPr sz="1322"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012364702"/>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679" r:id="rId30"/>
  </p:sldLayoutIdLst>
  <p:hf hdr="0" ftr="0" dt="0"/>
  <p:txStyles>
    <p:titleStyle>
      <a:lvl1pPr algn="l" defTabSz="755691" rtl="0" eaLnBrk="1" latinLnBrk="0" hangingPunct="1">
        <a:lnSpc>
          <a:spcPct val="90000"/>
        </a:lnSpc>
        <a:spcBef>
          <a:spcPct val="0"/>
        </a:spcBef>
        <a:buNone/>
        <a:defRPr sz="3636" b="1" kern="1200">
          <a:solidFill>
            <a:srgbClr val="004C6C"/>
          </a:solidFill>
          <a:latin typeface="+mj-lt"/>
          <a:ea typeface="+mj-ea"/>
          <a:cs typeface="+mj-cs"/>
        </a:defRPr>
      </a:lvl1pPr>
    </p:titleStyle>
    <p:bodyStyle>
      <a:lvl1pPr marL="188923" indent="-188923" algn="l" defTabSz="755691" rtl="0" eaLnBrk="1" latinLnBrk="0" hangingPunct="1">
        <a:lnSpc>
          <a:spcPct val="150000"/>
        </a:lnSpc>
        <a:spcBef>
          <a:spcPts val="826"/>
        </a:spcBef>
        <a:buFont typeface="Arial" panose="020B0604020202020204" pitchFamily="34" charset="0"/>
        <a:buChar char="•"/>
        <a:defRPr sz="2314" kern="1200">
          <a:solidFill>
            <a:schemeClr val="tx1"/>
          </a:solidFill>
          <a:latin typeface="+mn-lt"/>
          <a:ea typeface="+mn-ea"/>
          <a:cs typeface="+mn-cs"/>
        </a:defRPr>
      </a:lvl1pPr>
      <a:lvl2pPr marL="566768" indent="-188923" algn="l" defTabSz="755691" rtl="0" eaLnBrk="1" latinLnBrk="0" hangingPunct="1">
        <a:lnSpc>
          <a:spcPct val="150000"/>
        </a:lnSpc>
        <a:spcBef>
          <a:spcPts val="413"/>
        </a:spcBef>
        <a:buFont typeface="Arial" panose="020B0604020202020204" pitchFamily="34" charset="0"/>
        <a:buChar char="•"/>
        <a:defRPr sz="2314" kern="1200">
          <a:solidFill>
            <a:schemeClr val="tx1"/>
          </a:solidFill>
          <a:latin typeface="+mn-lt"/>
          <a:ea typeface="+mn-ea"/>
          <a:cs typeface="+mn-cs"/>
        </a:defRPr>
      </a:lvl2pPr>
      <a:lvl3pPr marL="944614" indent="-188923" algn="l" defTabSz="755691" rtl="0" eaLnBrk="1" latinLnBrk="0" hangingPunct="1">
        <a:lnSpc>
          <a:spcPct val="150000"/>
        </a:lnSpc>
        <a:spcBef>
          <a:spcPts val="413"/>
        </a:spcBef>
        <a:buFont typeface="Arial" panose="020B0604020202020204" pitchFamily="34" charset="0"/>
        <a:buChar char="•"/>
        <a:defRPr sz="1983" kern="1200">
          <a:solidFill>
            <a:schemeClr val="tx1"/>
          </a:solidFill>
          <a:latin typeface="+mn-lt"/>
          <a:ea typeface="+mn-ea"/>
          <a:cs typeface="+mn-cs"/>
        </a:defRPr>
      </a:lvl3pPr>
      <a:lvl4pPr marL="1322460" indent="-188923" algn="l" defTabSz="755691" rtl="0" eaLnBrk="1" latinLnBrk="0" hangingPunct="1">
        <a:lnSpc>
          <a:spcPct val="150000"/>
        </a:lnSpc>
        <a:spcBef>
          <a:spcPts val="413"/>
        </a:spcBef>
        <a:buFont typeface="Arial" panose="020B0604020202020204" pitchFamily="34" charset="0"/>
        <a:buChar char="•"/>
        <a:defRPr sz="1653" kern="1200">
          <a:solidFill>
            <a:schemeClr val="tx1"/>
          </a:solidFill>
          <a:latin typeface="+mn-lt"/>
          <a:ea typeface="+mn-ea"/>
          <a:cs typeface="+mn-cs"/>
        </a:defRPr>
      </a:lvl4pPr>
      <a:lvl5pPr marL="1700306" indent="-188923" algn="l" defTabSz="755691" rtl="0" eaLnBrk="1" latinLnBrk="0" hangingPunct="1">
        <a:lnSpc>
          <a:spcPct val="150000"/>
        </a:lnSpc>
        <a:spcBef>
          <a:spcPts val="413"/>
        </a:spcBef>
        <a:buFont typeface="Arial" panose="020B0604020202020204" pitchFamily="34" charset="0"/>
        <a:buChar char="•"/>
        <a:defRPr sz="1653" kern="1200">
          <a:solidFill>
            <a:schemeClr val="tx1"/>
          </a:solidFill>
          <a:latin typeface="+mn-lt"/>
          <a:ea typeface="+mn-ea"/>
          <a:cs typeface="+mn-cs"/>
        </a:defRPr>
      </a:lvl5pPr>
      <a:lvl6pPr marL="2078151" indent="-188923" algn="l" defTabSz="755691"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5997" indent="-188923" algn="l" defTabSz="755691"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3842" indent="-188923" algn="l" defTabSz="755691"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1688" indent="-188923" algn="l" defTabSz="755691"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691" rtl="0" eaLnBrk="1" latinLnBrk="0" hangingPunct="1">
        <a:defRPr sz="1488" kern="1200">
          <a:solidFill>
            <a:schemeClr val="tx1"/>
          </a:solidFill>
          <a:latin typeface="+mn-lt"/>
          <a:ea typeface="+mn-ea"/>
          <a:cs typeface="+mn-cs"/>
        </a:defRPr>
      </a:lvl1pPr>
      <a:lvl2pPr marL="377846" algn="l" defTabSz="755691" rtl="0" eaLnBrk="1" latinLnBrk="0" hangingPunct="1">
        <a:defRPr sz="1488" kern="1200">
          <a:solidFill>
            <a:schemeClr val="tx1"/>
          </a:solidFill>
          <a:latin typeface="+mn-lt"/>
          <a:ea typeface="+mn-ea"/>
          <a:cs typeface="+mn-cs"/>
        </a:defRPr>
      </a:lvl2pPr>
      <a:lvl3pPr marL="755691" algn="l" defTabSz="755691" rtl="0" eaLnBrk="1" latinLnBrk="0" hangingPunct="1">
        <a:defRPr sz="1488" kern="1200">
          <a:solidFill>
            <a:schemeClr val="tx1"/>
          </a:solidFill>
          <a:latin typeface="+mn-lt"/>
          <a:ea typeface="+mn-ea"/>
          <a:cs typeface="+mn-cs"/>
        </a:defRPr>
      </a:lvl3pPr>
      <a:lvl4pPr marL="1133537" algn="l" defTabSz="755691" rtl="0" eaLnBrk="1" latinLnBrk="0" hangingPunct="1">
        <a:defRPr sz="1488" kern="1200">
          <a:solidFill>
            <a:schemeClr val="tx1"/>
          </a:solidFill>
          <a:latin typeface="+mn-lt"/>
          <a:ea typeface="+mn-ea"/>
          <a:cs typeface="+mn-cs"/>
        </a:defRPr>
      </a:lvl4pPr>
      <a:lvl5pPr marL="1511383" algn="l" defTabSz="755691" rtl="0" eaLnBrk="1" latinLnBrk="0" hangingPunct="1">
        <a:defRPr sz="1488" kern="1200">
          <a:solidFill>
            <a:schemeClr val="tx1"/>
          </a:solidFill>
          <a:latin typeface="+mn-lt"/>
          <a:ea typeface="+mn-ea"/>
          <a:cs typeface="+mn-cs"/>
        </a:defRPr>
      </a:lvl5pPr>
      <a:lvl6pPr marL="1889228" algn="l" defTabSz="755691" rtl="0" eaLnBrk="1" latinLnBrk="0" hangingPunct="1">
        <a:defRPr sz="1488" kern="1200">
          <a:solidFill>
            <a:schemeClr val="tx1"/>
          </a:solidFill>
          <a:latin typeface="+mn-lt"/>
          <a:ea typeface="+mn-ea"/>
          <a:cs typeface="+mn-cs"/>
        </a:defRPr>
      </a:lvl6pPr>
      <a:lvl7pPr marL="2267074" algn="l" defTabSz="755691" rtl="0" eaLnBrk="1" latinLnBrk="0" hangingPunct="1">
        <a:defRPr sz="1488" kern="1200">
          <a:solidFill>
            <a:schemeClr val="tx1"/>
          </a:solidFill>
          <a:latin typeface="+mn-lt"/>
          <a:ea typeface="+mn-ea"/>
          <a:cs typeface="+mn-cs"/>
        </a:defRPr>
      </a:lvl7pPr>
      <a:lvl8pPr marL="2644919" algn="l" defTabSz="755691" rtl="0" eaLnBrk="1" latinLnBrk="0" hangingPunct="1">
        <a:defRPr sz="1488" kern="1200">
          <a:solidFill>
            <a:schemeClr val="tx1"/>
          </a:solidFill>
          <a:latin typeface="+mn-lt"/>
          <a:ea typeface="+mn-ea"/>
          <a:cs typeface="+mn-cs"/>
        </a:defRPr>
      </a:lvl8pPr>
      <a:lvl9pPr marL="3022765" algn="l" defTabSz="755691"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993405" y="2845689"/>
            <a:ext cx="8682679" cy="1375605"/>
          </a:xfrm>
        </p:spPr>
        <p:txBody>
          <a:bodyPr vert="horz" wrap="square" lIns="86082" tIns="43042" rIns="86082" bIns="43042" rtlCol="0" anchor="ctr">
            <a:normAutofit fontScale="90000"/>
          </a:bodyPr>
          <a:lstStyle/>
          <a:p>
            <a:r>
              <a:rPr lang="en-IE" sz="4142" dirty="0">
                <a:latin typeface="Helvetica" pitchFamily="2" charset="0"/>
              </a:rPr>
              <a:t>SQL Functions – Aggregate functions</a:t>
            </a:r>
            <a:br>
              <a:rPr lang="en-IE" sz="4142" dirty="0">
                <a:latin typeface="Helvetica" pitchFamily="2" charset="0"/>
              </a:rPr>
            </a:br>
            <a:br>
              <a:rPr lang="en-IE" sz="3766" dirty="0">
                <a:latin typeface="Helvetica" pitchFamily="2" charset="0"/>
              </a:rPr>
            </a:br>
            <a:r>
              <a:rPr lang="en-IE" sz="3389" dirty="0">
                <a:latin typeface="Helvetica" pitchFamily="2" charset="0"/>
              </a:rPr>
              <a:t>Dr Mariana Rocha</a:t>
            </a:r>
            <a:br>
              <a:rPr lang="en-IE" sz="3389" dirty="0">
                <a:latin typeface="Helvetica" pitchFamily="2" charset="0"/>
              </a:rPr>
            </a:br>
            <a:r>
              <a:rPr lang="en-IE" sz="3389" dirty="0">
                <a:latin typeface="Helvetica" pitchFamily="2" charset="0"/>
              </a:rPr>
              <a:t>School of Computer Science</a:t>
            </a:r>
            <a:endParaRPr lang="en-IE" sz="3766" dirty="0">
              <a:latin typeface="Helvetica" pitchFamily="2" charset="0"/>
            </a:endParaRPr>
          </a:p>
        </p:txBody>
      </p:sp>
      <p:sp>
        <p:nvSpPr>
          <p:cNvPr id="28" name="TextBox 27">
            <a:extLst>
              <a:ext uri="{FF2B5EF4-FFF2-40B4-BE49-F238E27FC236}">
                <a16:creationId xmlns:a16="http://schemas.microsoft.com/office/drawing/2014/main" id="{F8E066B0-7223-D5C8-AC47-4AE5F2157F6E}"/>
              </a:ext>
            </a:extLst>
          </p:cNvPr>
          <p:cNvSpPr txBox="1"/>
          <p:nvPr/>
        </p:nvSpPr>
        <p:spPr>
          <a:xfrm>
            <a:off x="1005361" y="5786844"/>
            <a:ext cx="5212084" cy="463631"/>
          </a:xfrm>
          <a:prstGeom prst="rect">
            <a:avLst/>
          </a:prstGeom>
          <a:noFill/>
        </p:spPr>
        <p:txBody>
          <a:bodyPr wrap="none" lIns="86082" tIns="43042" rIns="86082" bIns="43042" rtlCol="0" anchor="t">
            <a:spAutoFit/>
          </a:bodyPr>
          <a:lstStyle/>
          <a:p>
            <a:r>
              <a:rPr lang="en-US" sz="2448" dirty="0">
                <a:latin typeface="Helvetica" pitchFamily="2" charset="0"/>
                <a:cs typeface="Open sans"/>
              </a:rPr>
              <a:t>CPMU 2007 Databases 1, Lecture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Line 2"/>
          <p:cNvSpPr>
            <a:spLocks noChangeShapeType="1"/>
          </p:cNvSpPr>
          <p:nvPr/>
        </p:nvSpPr>
        <p:spPr bwMode="auto">
          <a:xfrm flipV="1">
            <a:off x="5325710" y="3052337"/>
            <a:ext cx="0" cy="87809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sp>
        <p:nvSpPr>
          <p:cNvPr id="369667" name="Freeform 3"/>
          <p:cNvSpPr>
            <a:spLocks/>
          </p:cNvSpPr>
          <p:nvPr/>
        </p:nvSpPr>
        <p:spPr bwMode="auto">
          <a:xfrm>
            <a:off x="2880343" y="3925182"/>
            <a:ext cx="4840009" cy="589478"/>
          </a:xfrm>
          <a:custGeom>
            <a:avLst/>
            <a:gdLst>
              <a:gd name="T0" fmla="*/ 0 w 2965"/>
              <a:gd name="T1" fmla="*/ 316 h 337"/>
              <a:gd name="T2" fmla="*/ 0 w 2965"/>
              <a:gd name="T3" fmla="*/ 0 h 337"/>
              <a:gd name="T4" fmla="*/ 2964 w 2965"/>
              <a:gd name="T5" fmla="*/ 0 h 337"/>
              <a:gd name="T6" fmla="*/ 2964 w 2965"/>
              <a:gd name="T7" fmla="*/ 148 h 337"/>
              <a:gd name="T8" fmla="*/ 2964 w 2965"/>
              <a:gd name="T9" fmla="*/ 336 h 337"/>
            </a:gdLst>
            <a:ahLst/>
            <a:cxnLst>
              <a:cxn ang="0">
                <a:pos x="T0" y="T1"/>
              </a:cxn>
              <a:cxn ang="0">
                <a:pos x="T2" y="T3"/>
              </a:cxn>
              <a:cxn ang="0">
                <a:pos x="T4" y="T5"/>
              </a:cxn>
              <a:cxn ang="0">
                <a:pos x="T6" y="T7"/>
              </a:cxn>
              <a:cxn ang="0">
                <a:pos x="T8" y="T9"/>
              </a:cxn>
            </a:cxnLst>
            <a:rect l="0" t="0" r="r" b="b"/>
            <a:pathLst>
              <a:path w="2965" h="337">
                <a:moveTo>
                  <a:pt x="0" y="316"/>
                </a:moveTo>
                <a:lnTo>
                  <a:pt x="0" y="0"/>
                </a:lnTo>
                <a:lnTo>
                  <a:pt x="2964" y="0"/>
                </a:lnTo>
                <a:lnTo>
                  <a:pt x="2964" y="148"/>
                </a:lnTo>
                <a:lnTo>
                  <a:pt x="2964" y="336"/>
                </a:lnTo>
              </a:path>
            </a:pathLst>
          </a:custGeom>
          <a:noFill/>
          <a:ln w="2857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sp>
        <p:nvSpPr>
          <p:cNvPr id="369670" name="Rectangle 6"/>
          <p:cNvSpPr>
            <a:spLocks noChangeArrowheads="1"/>
          </p:cNvSpPr>
          <p:nvPr/>
        </p:nvSpPr>
        <p:spPr bwMode="blackWhite">
          <a:xfrm>
            <a:off x="1619177" y="4488421"/>
            <a:ext cx="2517084" cy="1014530"/>
          </a:xfrm>
          <a:prstGeom prst="rect">
            <a:avLst/>
          </a:prstGeom>
          <a:solidFill>
            <a:srgbClr val="99CCCC"/>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453" tIns="50727" rIns="101453" bIns="50727" anchor="ctr"/>
          <a:lstStyle/>
          <a:p>
            <a:pPr algn="ctr" eaLnBrk="0" hangingPunct="0">
              <a:spcBef>
                <a:spcPct val="0"/>
              </a:spcBef>
            </a:pPr>
            <a:r>
              <a:rPr lang="en-US" altLang="en-US" sz="1983" dirty="0">
                <a:solidFill>
                  <a:prstClr val="black"/>
                </a:solidFill>
              </a:rPr>
              <a:t>Single-row </a:t>
            </a:r>
          </a:p>
          <a:p>
            <a:pPr algn="ctr" eaLnBrk="0" hangingPunct="0">
              <a:spcBef>
                <a:spcPct val="0"/>
              </a:spcBef>
            </a:pPr>
            <a:r>
              <a:rPr lang="en-US" altLang="en-US" sz="1983" dirty="0">
                <a:solidFill>
                  <a:prstClr val="black"/>
                </a:solidFill>
              </a:rPr>
              <a:t>functions</a:t>
            </a:r>
          </a:p>
        </p:txBody>
      </p:sp>
      <p:sp>
        <p:nvSpPr>
          <p:cNvPr id="369671" name="Rectangle 7"/>
          <p:cNvSpPr>
            <a:spLocks noChangeArrowheads="1"/>
          </p:cNvSpPr>
          <p:nvPr/>
        </p:nvSpPr>
        <p:spPr bwMode="blackWhite">
          <a:xfrm>
            <a:off x="6480175" y="4470930"/>
            <a:ext cx="2494345" cy="1047765"/>
          </a:xfrm>
          <a:prstGeom prst="rect">
            <a:avLst/>
          </a:prstGeom>
          <a:solidFill>
            <a:srgbClr val="99CCCC"/>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453" tIns="50727" rIns="101453" bIns="50727" anchor="ctr"/>
          <a:lstStyle/>
          <a:p>
            <a:pPr algn="ctr" eaLnBrk="0" hangingPunct="0">
              <a:spcBef>
                <a:spcPct val="0"/>
              </a:spcBef>
            </a:pPr>
            <a:r>
              <a:rPr lang="en-US" altLang="en-US" sz="1983" dirty="0">
                <a:solidFill>
                  <a:prstClr val="black"/>
                </a:solidFill>
              </a:rPr>
              <a:t>Multiple-row</a:t>
            </a:r>
          </a:p>
          <a:p>
            <a:pPr algn="ctr" eaLnBrk="0" hangingPunct="0">
              <a:spcBef>
                <a:spcPct val="0"/>
              </a:spcBef>
            </a:pPr>
            <a:r>
              <a:rPr lang="en-US" altLang="en-US" sz="1983" dirty="0">
                <a:solidFill>
                  <a:prstClr val="black"/>
                </a:solidFill>
              </a:rPr>
              <a:t>functions</a:t>
            </a:r>
          </a:p>
        </p:txBody>
      </p:sp>
      <p:sp>
        <p:nvSpPr>
          <p:cNvPr id="369673" name="Line 9"/>
          <p:cNvSpPr>
            <a:spLocks noChangeShapeType="1"/>
          </p:cNvSpPr>
          <p:nvPr/>
        </p:nvSpPr>
        <p:spPr bwMode="auto">
          <a:xfrm>
            <a:off x="1160452" y="4993937"/>
            <a:ext cx="377825"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sp>
        <p:nvSpPr>
          <p:cNvPr id="369674" name="Line 10"/>
          <p:cNvSpPr>
            <a:spLocks noChangeShapeType="1"/>
          </p:cNvSpPr>
          <p:nvPr/>
        </p:nvSpPr>
        <p:spPr bwMode="auto">
          <a:xfrm>
            <a:off x="4196444" y="4993937"/>
            <a:ext cx="356835"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sp>
        <p:nvSpPr>
          <p:cNvPr id="369677" name="Line 13"/>
          <p:cNvSpPr>
            <a:spLocks noChangeShapeType="1"/>
          </p:cNvSpPr>
          <p:nvPr/>
        </p:nvSpPr>
        <p:spPr bwMode="auto">
          <a:xfrm>
            <a:off x="8993762" y="4993937"/>
            <a:ext cx="374327"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grpSp>
        <p:nvGrpSpPr>
          <p:cNvPr id="369685" name="Group 21"/>
          <p:cNvGrpSpPr>
            <a:grpSpLocks/>
          </p:cNvGrpSpPr>
          <p:nvPr/>
        </p:nvGrpSpPr>
        <p:grpSpPr bwMode="auto">
          <a:xfrm>
            <a:off x="6102350" y="4689578"/>
            <a:ext cx="356835" cy="608718"/>
            <a:chOff x="3132" y="2663"/>
            <a:chExt cx="384" cy="348"/>
          </a:xfrm>
        </p:grpSpPr>
        <p:sp>
          <p:nvSpPr>
            <p:cNvPr id="369676" name="Line 12"/>
            <p:cNvSpPr>
              <a:spLocks noChangeShapeType="1"/>
            </p:cNvSpPr>
            <p:nvPr/>
          </p:nvSpPr>
          <p:spPr bwMode="auto">
            <a:xfrm>
              <a:off x="3132" y="2855"/>
              <a:ext cx="384"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sp>
          <p:nvSpPr>
            <p:cNvPr id="369678" name="Line 14"/>
            <p:cNvSpPr>
              <a:spLocks noChangeShapeType="1"/>
            </p:cNvSpPr>
            <p:nvPr/>
          </p:nvSpPr>
          <p:spPr bwMode="auto">
            <a:xfrm>
              <a:off x="3132" y="2663"/>
              <a:ext cx="384"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sp>
          <p:nvSpPr>
            <p:cNvPr id="369679" name="Line 15"/>
            <p:cNvSpPr>
              <a:spLocks noChangeShapeType="1"/>
            </p:cNvSpPr>
            <p:nvPr/>
          </p:nvSpPr>
          <p:spPr bwMode="auto">
            <a:xfrm>
              <a:off x="3132" y="3011"/>
              <a:ext cx="384"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sz="1983">
                <a:solidFill>
                  <a:prstClr val="black"/>
                </a:solidFill>
              </a:endParaRPr>
            </a:p>
          </p:txBody>
        </p:sp>
      </p:grpSp>
      <p:sp>
        <p:nvSpPr>
          <p:cNvPr id="369680" name="Rectangle 16"/>
          <p:cNvSpPr>
            <a:spLocks noChangeArrowheads="1"/>
          </p:cNvSpPr>
          <p:nvPr/>
        </p:nvSpPr>
        <p:spPr bwMode="blackWhite">
          <a:xfrm>
            <a:off x="1169635" y="5635890"/>
            <a:ext cx="3416168" cy="537002"/>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1620838">
              <a:spcBef>
                <a:spcPct val="0"/>
              </a:spcBef>
              <a:defRPr sz="2400">
                <a:solidFill>
                  <a:schemeClr val="tx1"/>
                </a:solidFill>
                <a:latin typeface="Times New Roman" pitchFamily="18" charset="0"/>
              </a:defRPr>
            </a:lvl1pPr>
            <a:lvl2pPr marL="609600" algn="l" defTabSz="1620838">
              <a:spcBef>
                <a:spcPct val="0"/>
              </a:spcBef>
              <a:defRPr sz="2400">
                <a:solidFill>
                  <a:schemeClr val="tx1"/>
                </a:solidFill>
                <a:latin typeface="Times New Roman" pitchFamily="18" charset="0"/>
              </a:defRPr>
            </a:lvl2pPr>
            <a:lvl3pPr marL="1217613" algn="l" defTabSz="1620838">
              <a:spcBef>
                <a:spcPct val="0"/>
              </a:spcBef>
              <a:defRPr sz="2400">
                <a:solidFill>
                  <a:schemeClr val="tx1"/>
                </a:solidFill>
                <a:latin typeface="Times New Roman" pitchFamily="18" charset="0"/>
              </a:defRPr>
            </a:lvl3pPr>
            <a:lvl4pPr marL="1825625" algn="l" defTabSz="1620838">
              <a:spcBef>
                <a:spcPct val="0"/>
              </a:spcBef>
              <a:defRPr sz="2400">
                <a:solidFill>
                  <a:schemeClr val="tx1"/>
                </a:solidFill>
                <a:latin typeface="Times New Roman" pitchFamily="18" charset="0"/>
              </a:defRPr>
            </a:lvl4pPr>
            <a:lvl5pPr marL="2433638" algn="l" defTabSz="1620838">
              <a:spcBef>
                <a:spcPct val="0"/>
              </a:spcBef>
              <a:defRPr sz="2400">
                <a:solidFill>
                  <a:schemeClr val="tx1"/>
                </a:solidFill>
                <a:latin typeface="Times New Roman" pitchFamily="18" charset="0"/>
              </a:defRPr>
            </a:lvl5pPr>
            <a:lvl6pPr marL="2890838" defTabSz="1620838" fontAlgn="base">
              <a:spcBef>
                <a:spcPct val="0"/>
              </a:spcBef>
              <a:spcAft>
                <a:spcPct val="0"/>
              </a:spcAft>
              <a:defRPr sz="2400">
                <a:solidFill>
                  <a:schemeClr val="tx1"/>
                </a:solidFill>
                <a:latin typeface="Times New Roman" pitchFamily="18" charset="0"/>
              </a:defRPr>
            </a:lvl6pPr>
            <a:lvl7pPr marL="3348038" defTabSz="1620838" fontAlgn="base">
              <a:spcBef>
                <a:spcPct val="0"/>
              </a:spcBef>
              <a:spcAft>
                <a:spcPct val="0"/>
              </a:spcAft>
              <a:defRPr sz="2400">
                <a:solidFill>
                  <a:schemeClr val="tx1"/>
                </a:solidFill>
                <a:latin typeface="Times New Roman" pitchFamily="18" charset="0"/>
              </a:defRPr>
            </a:lvl7pPr>
            <a:lvl8pPr marL="3805238" defTabSz="1620838" fontAlgn="base">
              <a:spcBef>
                <a:spcPct val="0"/>
              </a:spcBef>
              <a:spcAft>
                <a:spcPct val="0"/>
              </a:spcAft>
              <a:defRPr sz="2400">
                <a:solidFill>
                  <a:schemeClr val="tx1"/>
                </a:solidFill>
                <a:latin typeface="Times New Roman" pitchFamily="18" charset="0"/>
              </a:defRPr>
            </a:lvl8pPr>
            <a:lvl9pPr marL="4262438" defTabSz="1620838" fontAlgn="base">
              <a:spcBef>
                <a:spcPct val="0"/>
              </a:spcBef>
              <a:spcAft>
                <a:spcPct val="0"/>
              </a:spcAft>
              <a:defRPr sz="2400">
                <a:solidFill>
                  <a:schemeClr val="tx1"/>
                </a:solidFill>
                <a:latin typeface="Times New Roman" pitchFamily="18" charset="0"/>
              </a:defRPr>
            </a:lvl9pPr>
          </a:lstStyle>
          <a:p>
            <a:pPr algn="ctr" eaLnBrk="0" hangingPunct="0"/>
            <a:r>
              <a:rPr lang="en-US" altLang="en-US" sz="1983">
                <a:solidFill>
                  <a:prstClr val="black"/>
                </a:solidFill>
                <a:latin typeface="Arial" charset="0"/>
              </a:rPr>
              <a:t>Return one result </a:t>
            </a:r>
          </a:p>
          <a:p>
            <a:pPr algn="ctr" eaLnBrk="0" hangingPunct="0"/>
            <a:r>
              <a:rPr lang="en-US" altLang="en-US" sz="1983">
                <a:solidFill>
                  <a:prstClr val="black"/>
                </a:solidFill>
                <a:latin typeface="Arial" charset="0"/>
              </a:rPr>
              <a:t>per row</a:t>
            </a:r>
          </a:p>
        </p:txBody>
      </p:sp>
      <p:sp>
        <p:nvSpPr>
          <p:cNvPr id="369681" name="Rectangle 17"/>
          <p:cNvSpPr>
            <a:spLocks noChangeArrowheads="1"/>
          </p:cNvSpPr>
          <p:nvPr/>
        </p:nvSpPr>
        <p:spPr bwMode="blackWhite">
          <a:xfrm>
            <a:off x="5789246" y="5635890"/>
            <a:ext cx="3874455" cy="537002"/>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1620838">
              <a:spcBef>
                <a:spcPct val="0"/>
              </a:spcBef>
              <a:defRPr sz="2400">
                <a:solidFill>
                  <a:schemeClr val="tx1"/>
                </a:solidFill>
                <a:latin typeface="Times New Roman" pitchFamily="18" charset="0"/>
              </a:defRPr>
            </a:lvl1pPr>
            <a:lvl2pPr marL="609600" algn="l" defTabSz="1620838">
              <a:spcBef>
                <a:spcPct val="0"/>
              </a:spcBef>
              <a:defRPr sz="2400">
                <a:solidFill>
                  <a:schemeClr val="tx1"/>
                </a:solidFill>
                <a:latin typeface="Times New Roman" pitchFamily="18" charset="0"/>
              </a:defRPr>
            </a:lvl2pPr>
            <a:lvl3pPr marL="1217613" algn="l" defTabSz="1620838">
              <a:spcBef>
                <a:spcPct val="0"/>
              </a:spcBef>
              <a:defRPr sz="2400">
                <a:solidFill>
                  <a:schemeClr val="tx1"/>
                </a:solidFill>
                <a:latin typeface="Times New Roman" pitchFamily="18" charset="0"/>
              </a:defRPr>
            </a:lvl3pPr>
            <a:lvl4pPr marL="1825625" algn="l" defTabSz="1620838">
              <a:spcBef>
                <a:spcPct val="0"/>
              </a:spcBef>
              <a:defRPr sz="2400">
                <a:solidFill>
                  <a:schemeClr val="tx1"/>
                </a:solidFill>
                <a:latin typeface="Times New Roman" pitchFamily="18" charset="0"/>
              </a:defRPr>
            </a:lvl4pPr>
            <a:lvl5pPr marL="2433638" algn="l" defTabSz="1620838">
              <a:spcBef>
                <a:spcPct val="0"/>
              </a:spcBef>
              <a:defRPr sz="2400">
                <a:solidFill>
                  <a:schemeClr val="tx1"/>
                </a:solidFill>
                <a:latin typeface="Times New Roman" pitchFamily="18" charset="0"/>
              </a:defRPr>
            </a:lvl5pPr>
            <a:lvl6pPr marL="2890838" defTabSz="1620838" fontAlgn="base">
              <a:spcBef>
                <a:spcPct val="0"/>
              </a:spcBef>
              <a:spcAft>
                <a:spcPct val="0"/>
              </a:spcAft>
              <a:defRPr sz="2400">
                <a:solidFill>
                  <a:schemeClr val="tx1"/>
                </a:solidFill>
                <a:latin typeface="Times New Roman" pitchFamily="18" charset="0"/>
              </a:defRPr>
            </a:lvl6pPr>
            <a:lvl7pPr marL="3348038" defTabSz="1620838" fontAlgn="base">
              <a:spcBef>
                <a:spcPct val="0"/>
              </a:spcBef>
              <a:spcAft>
                <a:spcPct val="0"/>
              </a:spcAft>
              <a:defRPr sz="2400">
                <a:solidFill>
                  <a:schemeClr val="tx1"/>
                </a:solidFill>
                <a:latin typeface="Times New Roman" pitchFamily="18" charset="0"/>
              </a:defRPr>
            </a:lvl7pPr>
            <a:lvl8pPr marL="3805238" defTabSz="1620838" fontAlgn="base">
              <a:spcBef>
                <a:spcPct val="0"/>
              </a:spcBef>
              <a:spcAft>
                <a:spcPct val="0"/>
              </a:spcAft>
              <a:defRPr sz="2400">
                <a:solidFill>
                  <a:schemeClr val="tx1"/>
                </a:solidFill>
                <a:latin typeface="Times New Roman" pitchFamily="18" charset="0"/>
              </a:defRPr>
            </a:lvl8pPr>
            <a:lvl9pPr marL="4262438" defTabSz="1620838" fontAlgn="base">
              <a:spcBef>
                <a:spcPct val="0"/>
              </a:spcBef>
              <a:spcAft>
                <a:spcPct val="0"/>
              </a:spcAft>
              <a:defRPr sz="2400">
                <a:solidFill>
                  <a:schemeClr val="tx1"/>
                </a:solidFill>
                <a:latin typeface="Times New Roman" pitchFamily="18" charset="0"/>
              </a:defRPr>
            </a:lvl9pPr>
          </a:lstStyle>
          <a:p>
            <a:pPr algn="ctr" eaLnBrk="0" hangingPunct="0"/>
            <a:r>
              <a:rPr lang="en-US" altLang="en-US" sz="1983">
                <a:solidFill>
                  <a:prstClr val="black"/>
                </a:solidFill>
                <a:latin typeface="Arial" charset="0"/>
              </a:rPr>
              <a:t>Return one result </a:t>
            </a:r>
          </a:p>
          <a:p>
            <a:pPr algn="ctr" eaLnBrk="0" hangingPunct="0"/>
            <a:r>
              <a:rPr lang="en-US" altLang="en-US" sz="1983">
                <a:solidFill>
                  <a:prstClr val="black"/>
                </a:solidFill>
                <a:latin typeface="Arial" charset="0"/>
              </a:rPr>
              <a:t>per set of rows</a:t>
            </a:r>
          </a:p>
        </p:txBody>
      </p:sp>
      <p:sp>
        <p:nvSpPr>
          <p:cNvPr id="369684" name="Rectangle 20"/>
          <p:cNvSpPr>
            <a:spLocks noChangeArrowheads="1"/>
          </p:cNvSpPr>
          <p:nvPr/>
        </p:nvSpPr>
        <p:spPr bwMode="blackWhite">
          <a:xfrm>
            <a:off x="4020814" y="2340417"/>
            <a:ext cx="2590551" cy="1026775"/>
          </a:xfrm>
          <a:prstGeom prst="rect">
            <a:avLst/>
          </a:prstGeom>
          <a:solidFill>
            <a:srgbClr val="FF66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0"/>
              </a:spcBef>
            </a:pPr>
            <a:r>
              <a:rPr lang="en-US" altLang="en-US" sz="1983">
                <a:solidFill>
                  <a:prstClr val="black"/>
                </a:solidFill>
              </a:rPr>
              <a:t>Functions</a:t>
            </a:r>
          </a:p>
        </p:txBody>
      </p:sp>
      <p:sp>
        <p:nvSpPr>
          <p:cNvPr id="2" name="Title 1">
            <a:extLst>
              <a:ext uri="{FF2B5EF4-FFF2-40B4-BE49-F238E27FC236}">
                <a16:creationId xmlns:a16="http://schemas.microsoft.com/office/drawing/2014/main" id="{0543648F-00BC-FA88-07A4-184AEDA6599F}"/>
              </a:ext>
            </a:extLst>
          </p:cNvPr>
          <p:cNvSpPr txBox="1">
            <a:spLocks/>
          </p:cNvSpPr>
          <p:nvPr/>
        </p:nvSpPr>
        <p:spPr>
          <a:xfrm>
            <a:off x="1001713" y="402315"/>
            <a:ext cx="8689975" cy="1460574"/>
          </a:xfrm>
          <a:prstGeom prst="rect">
            <a:avLst/>
          </a:prstGeom>
        </p:spPr>
        <p:txBody>
          <a:bodyPr vert="horz" lIns="100753" tIns="50377" rIns="100753" bIns="50377" rtlCol="0" anchor="ctr">
            <a:normAutofit/>
          </a:bodyPr>
          <a:lstStyle>
            <a:lvl1pPr algn="l" defTabSz="685807" rtl="0" eaLnBrk="1" latinLnBrk="0" hangingPunct="1">
              <a:lnSpc>
                <a:spcPct val="90000"/>
              </a:lnSpc>
              <a:spcBef>
                <a:spcPct val="0"/>
              </a:spcBef>
              <a:buNone/>
              <a:defRPr sz="3300" b="1" kern="1200">
                <a:solidFill>
                  <a:srgbClr val="004C6C"/>
                </a:solidFill>
                <a:latin typeface="+mj-lt"/>
                <a:ea typeface="+mj-ea"/>
                <a:cs typeface="+mj-cs"/>
              </a:defRPr>
            </a:lvl1pPr>
          </a:lstStyle>
          <a:p>
            <a:r>
              <a:rPr lang="en-IE" sz="3636" dirty="0"/>
              <a:t>Types of SQL Functions</a:t>
            </a:r>
          </a:p>
        </p:txBody>
      </p:sp>
    </p:spTree>
    <p:extLst>
      <p:ext uri="{BB962C8B-B14F-4D97-AF65-F5344CB8AC3E}">
        <p14:creationId xmlns:p14="http://schemas.microsoft.com/office/powerpoint/2010/main" val="9609809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3ABD5-C871-F0A7-1D76-E718E1A1FB9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283C74-79C3-D6E2-6FC3-8398DBCD86A0}"/>
              </a:ext>
            </a:extLst>
          </p:cNvPr>
          <p:cNvSpPr txBox="1">
            <a:spLocks noGrp="1"/>
          </p:cNvSpPr>
          <p:nvPr>
            <p:ph type="title"/>
          </p:nvPr>
        </p:nvSpPr>
        <p:spPr>
          <a:xfrm>
            <a:off x="739043" y="805094"/>
            <a:ext cx="9215314" cy="655012"/>
          </a:xfrm>
          <a:prstGeom prst="rect">
            <a:avLst/>
          </a:prstGeom>
        </p:spPr>
        <p:txBody>
          <a:bodyPr vert="horz" wrap="square" lIns="0" tIns="95041" rIns="0" bIns="0" rtlCol="0" anchor="ctr">
            <a:spAutoFit/>
          </a:bodyPr>
          <a:lstStyle/>
          <a:p>
            <a:pPr marL="154816">
              <a:lnSpc>
                <a:spcPct val="100000"/>
              </a:lnSpc>
              <a:spcBef>
                <a:spcPts val="95"/>
              </a:spcBef>
            </a:pPr>
            <a:r>
              <a:rPr lang="pt-BR" dirty="0"/>
              <a:t>EDA - Football</a:t>
            </a:r>
            <a:endParaRPr spc="-10" dirty="0"/>
          </a:p>
        </p:txBody>
      </p:sp>
      <p:sp>
        <p:nvSpPr>
          <p:cNvPr id="2" name="Slide Number Placeholder 1">
            <a:extLst>
              <a:ext uri="{FF2B5EF4-FFF2-40B4-BE49-F238E27FC236}">
                <a16:creationId xmlns:a16="http://schemas.microsoft.com/office/drawing/2014/main" id="{15749EEE-7285-74E0-BC62-F71E746278C0}"/>
              </a:ext>
            </a:extLst>
          </p:cNvPr>
          <p:cNvSpPr>
            <a:spLocks noGrp="1"/>
          </p:cNvSpPr>
          <p:nvPr>
            <p:ph type="sldNum" sz="quarter" idx="12"/>
          </p:nvPr>
        </p:nvSpPr>
        <p:spPr/>
        <p:txBody>
          <a:bodyPr/>
          <a:lstStyle/>
          <a:p>
            <a:fld id="{1AE971F0-0CD2-4C47-8087-EBCE9716EA84}" type="slidenum">
              <a:rPr lang="en-GB" smtClean="0">
                <a:solidFill>
                  <a:schemeClr val="tx1"/>
                </a:solidFill>
              </a:rPr>
              <a:pPr/>
              <a:t>3</a:t>
            </a:fld>
            <a:endParaRPr lang="en-GB" dirty="0">
              <a:solidFill>
                <a:schemeClr val="tx1"/>
              </a:solidFill>
            </a:endParaRPr>
          </a:p>
        </p:txBody>
      </p:sp>
      <p:pic>
        <p:nvPicPr>
          <p:cNvPr id="7" name="Picture 6">
            <a:extLst>
              <a:ext uri="{FF2B5EF4-FFF2-40B4-BE49-F238E27FC236}">
                <a16:creationId xmlns:a16="http://schemas.microsoft.com/office/drawing/2014/main" id="{73464A66-5087-5A14-08CB-FE9D11A20958}"/>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397859" y="1437370"/>
            <a:ext cx="10215042" cy="5641442"/>
          </a:xfrm>
          <a:prstGeom prst="rect">
            <a:avLst/>
          </a:prstGeom>
        </p:spPr>
      </p:pic>
    </p:spTree>
    <p:extLst>
      <p:ext uri="{BB962C8B-B14F-4D97-AF65-F5344CB8AC3E}">
        <p14:creationId xmlns:p14="http://schemas.microsoft.com/office/powerpoint/2010/main" val="3154864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graphicFrame>
        <p:nvGraphicFramePr>
          <p:cNvPr id="3" name="Table 2">
            <a:extLst>
              <a:ext uri="{FF2B5EF4-FFF2-40B4-BE49-F238E27FC236}">
                <a16:creationId xmlns:a16="http://schemas.microsoft.com/office/drawing/2014/main" id="{8DD7EDEE-A125-B090-0675-021500A9DBB8}"/>
              </a:ext>
            </a:extLst>
          </p:cNvPr>
          <p:cNvGraphicFramePr>
            <a:graphicFrameLocks noGrp="1"/>
          </p:cNvGraphicFramePr>
          <p:nvPr>
            <p:extLst>
              <p:ext uri="{D42A27DB-BD31-4B8C-83A1-F6EECF244321}">
                <p14:modId xmlns:p14="http://schemas.microsoft.com/office/powerpoint/2010/main" val="67303622"/>
              </p:ext>
            </p:extLst>
          </p:nvPr>
        </p:nvGraphicFramePr>
        <p:xfrm>
          <a:off x="622300" y="1720850"/>
          <a:ext cx="9223374" cy="2396872"/>
        </p:xfrm>
        <a:graphic>
          <a:graphicData uri="http://schemas.openxmlformats.org/drawingml/2006/table">
            <a:tbl>
              <a:tblPr>
                <a:tableStyleId>{5940675A-B579-460E-94D1-54222C63F5DA}</a:tableStyleId>
              </a:tblPr>
              <a:tblGrid>
                <a:gridCol w="2133600">
                  <a:extLst>
                    <a:ext uri="{9D8B030D-6E8A-4147-A177-3AD203B41FA5}">
                      <a16:colId xmlns:a16="http://schemas.microsoft.com/office/drawing/2014/main" val="2303168140"/>
                    </a:ext>
                  </a:extLst>
                </a:gridCol>
                <a:gridCol w="4015316">
                  <a:extLst>
                    <a:ext uri="{9D8B030D-6E8A-4147-A177-3AD203B41FA5}">
                      <a16:colId xmlns:a16="http://schemas.microsoft.com/office/drawing/2014/main" val="2291656377"/>
                    </a:ext>
                  </a:extLst>
                </a:gridCol>
                <a:gridCol w="3074458">
                  <a:extLst>
                    <a:ext uri="{9D8B030D-6E8A-4147-A177-3AD203B41FA5}">
                      <a16:colId xmlns:a16="http://schemas.microsoft.com/office/drawing/2014/main" val="574928560"/>
                    </a:ext>
                  </a:extLst>
                </a:gridCol>
              </a:tblGrid>
              <a:tr h="466509">
                <a:tc>
                  <a:txBody>
                    <a:bodyPr/>
                    <a:lstStyle/>
                    <a:p>
                      <a:pPr algn="ctr">
                        <a:buNone/>
                      </a:pPr>
                      <a:r>
                        <a:rPr lang="en-IE" sz="2000" dirty="0"/>
                        <a:t>Type</a:t>
                      </a:r>
                    </a:p>
                  </a:txBody>
                  <a:tcPr anchor="ctr"/>
                </a:tc>
                <a:tc>
                  <a:txBody>
                    <a:bodyPr/>
                    <a:lstStyle/>
                    <a:p>
                      <a:pPr algn="ctr">
                        <a:buNone/>
                      </a:pPr>
                      <a:r>
                        <a:rPr lang="en-IE" sz="2000"/>
                        <a:t>Description</a:t>
                      </a:r>
                    </a:p>
                  </a:txBody>
                  <a:tcPr anchor="ctr"/>
                </a:tc>
                <a:tc>
                  <a:txBody>
                    <a:bodyPr/>
                    <a:lstStyle/>
                    <a:p>
                      <a:pPr algn="ctr">
                        <a:buNone/>
                      </a:pPr>
                      <a:r>
                        <a:rPr lang="en-IE" sz="2000"/>
                        <a:t>Example</a:t>
                      </a:r>
                    </a:p>
                  </a:txBody>
                  <a:tcPr anchor="ctr"/>
                </a:tc>
                <a:extLst>
                  <a:ext uri="{0D108BD9-81ED-4DB2-BD59-A6C34878D82A}">
                    <a16:rowId xmlns:a16="http://schemas.microsoft.com/office/drawing/2014/main" val="150938978"/>
                  </a:ext>
                </a:extLst>
              </a:tr>
              <a:tr h="1131406">
                <a:tc>
                  <a:txBody>
                    <a:bodyPr/>
                    <a:lstStyle/>
                    <a:p>
                      <a:pPr algn="l">
                        <a:buNone/>
                      </a:pPr>
                      <a:r>
                        <a:rPr lang="en-IE" sz="2000" b="1" dirty="0"/>
                        <a:t>Single-row</a:t>
                      </a:r>
                      <a:endParaRPr lang="en-IE" sz="2000" dirty="0"/>
                    </a:p>
                  </a:txBody>
                  <a:tcPr anchor="ctr"/>
                </a:tc>
                <a:tc>
                  <a:txBody>
                    <a:bodyPr/>
                    <a:lstStyle/>
                    <a:p>
                      <a:pPr algn="l">
                        <a:buNone/>
                      </a:pPr>
                      <a:r>
                        <a:rPr lang="en-IE" sz="2000"/>
                        <a:t>Act on individual rows and return one value per row.</a:t>
                      </a:r>
                    </a:p>
                  </a:txBody>
                  <a:tcPr anchor="ctr"/>
                </a:tc>
                <a:tc>
                  <a:txBody>
                    <a:bodyPr/>
                    <a:lstStyle/>
                    <a:p>
                      <a:pPr algn="ctr">
                        <a:buNone/>
                      </a:pPr>
                      <a:r>
                        <a:rPr lang="en-IE" sz="2000"/>
                        <a:t>ROUND(wage), LENGTH(player_name), UPPER(club_name)</a:t>
                      </a:r>
                    </a:p>
                  </a:txBody>
                  <a:tcPr anchor="ctr"/>
                </a:tc>
                <a:extLst>
                  <a:ext uri="{0D108BD9-81ED-4DB2-BD59-A6C34878D82A}">
                    <a16:rowId xmlns:a16="http://schemas.microsoft.com/office/drawing/2014/main" val="4239726221"/>
                  </a:ext>
                </a:extLst>
              </a:tr>
              <a:tr h="798957">
                <a:tc>
                  <a:txBody>
                    <a:bodyPr/>
                    <a:lstStyle/>
                    <a:p>
                      <a:pPr algn="l">
                        <a:buNone/>
                      </a:pPr>
                      <a:r>
                        <a:rPr lang="en-IE" sz="2000" b="1" dirty="0"/>
                        <a:t>Multiple-row</a:t>
                      </a:r>
                      <a:endParaRPr lang="en-IE" sz="2000" dirty="0"/>
                    </a:p>
                  </a:txBody>
                  <a:tcPr anchor="ctr"/>
                </a:tc>
                <a:tc>
                  <a:txBody>
                    <a:bodyPr/>
                    <a:lstStyle/>
                    <a:p>
                      <a:pPr algn="l">
                        <a:buNone/>
                      </a:pPr>
                      <a:r>
                        <a:rPr lang="en-IE" sz="2000" dirty="0"/>
                        <a:t>Combine multiple rows and return a single summary value.</a:t>
                      </a:r>
                    </a:p>
                  </a:txBody>
                  <a:tcPr anchor="ctr"/>
                </a:tc>
                <a:tc>
                  <a:txBody>
                    <a:bodyPr/>
                    <a:lstStyle/>
                    <a:p>
                      <a:pPr algn="ctr">
                        <a:buNone/>
                      </a:pPr>
                      <a:r>
                        <a:rPr lang="en-IE" sz="2000" dirty="0"/>
                        <a:t>AVG(wage), SUM(wage), COUNT(*)</a:t>
                      </a:r>
                    </a:p>
                  </a:txBody>
                  <a:tcPr anchor="ctr"/>
                </a:tc>
                <a:extLst>
                  <a:ext uri="{0D108BD9-81ED-4DB2-BD59-A6C34878D82A}">
                    <a16:rowId xmlns:a16="http://schemas.microsoft.com/office/drawing/2014/main" val="1924409458"/>
                  </a:ext>
                </a:extLst>
              </a:tr>
            </a:tbl>
          </a:graphicData>
        </a:graphic>
      </p:graphicFrame>
      <p:sp>
        <p:nvSpPr>
          <p:cNvPr id="5" name="TextBox 4">
            <a:extLst>
              <a:ext uri="{FF2B5EF4-FFF2-40B4-BE49-F238E27FC236}">
                <a16:creationId xmlns:a16="http://schemas.microsoft.com/office/drawing/2014/main" id="{1984708F-A659-470C-ED00-04579619EE8C}"/>
              </a:ext>
            </a:extLst>
          </p:cNvPr>
          <p:cNvSpPr txBox="1"/>
          <p:nvPr/>
        </p:nvSpPr>
        <p:spPr>
          <a:xfrm>
            <a:off x="622300" y="4768850"/>
            <a:ext cx="9572649" cy="1200329"/>
          </a:xfrm>
          <a:prstGeom prst="rect">
            <a:avLst/>
          </a:prstGeom>
          <a:noFill/>
        </p:spPr>
        <p:txBody>
          <a:bodyPr wrap="square">
            <a:spAutoFit/>
          </a:bodyPr>
          <a:lstStyle/>
          <a:p>
            <a:r>
              <a:rPr lang="en-IE" sz="2400" dirty="0">
                <a:latin typeface="Helvetica" pitchFamily="2" charset="0"/>
              </a:rPr>
              <a:t>Aggregates collapse many rows into one. If you mix aggregated and non-aggregated columns, you must use a GROUP BY clause (we will see an example).</a:t>
            </a:r>
          </a:p>
        </p:txBody>
      </p:sp>
      <p:sp>
        <p:nvSpPr>
          <p:cNvPr id="7" name="Title 6">
            <a:extLst>
              <a:ext uri="{FF2B5EF4-FFF2-40B4-BE49-F238E27FC236}">
                <a16:creationId xmlns:a16="http://schemas.microsoft.com/office/drawing/2014/main" id="{4EBF5408-7547-139D-82D8-2878448E9832}"/>
              </a:ext>
            </a:extLst>
          </p:cNvPr>
          <p:cNvSpPr>
            <a:spLocks noGrp="1"/>
          </p:cNvSpPr>
          <p:nvPr>
            <p:ph type="title"/>
          </p:nvPr>
        </p:nvSpPr>
        <p:spPr/>
        <p:txBody>
          <a:bodyPr/>
          <a:lstStyle/>
          <a:p>
            <a:r>
              <a:rPr lang="en-IE" dirty="0"/>
              <a:t>Remember: SQL has single and multiple row functions</a:t>
            </a:r>
          </a:p>
        </p:txBody>
      </p:sp>
    </p:spTree>
    <p:extLst>
      <p:ext uri="{BB962C8B-B14F-4D97-AF65-F5344CB8AC3E}">
        <p14:creationId xmlns:p14="http://schemas.microsoft.com/office/powerpoint/2010/main" val="3846842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42233-9A17-79C2-C1F0-AC0B17AA2A66}"/>
            </a:ext>
          </a:extLst>
        </p:cNvPr>
        <p:cNvGrpSpPr/>
        <p:nvPr/>
      </p:nvGrpSpPr>
      <p:grpSpPr>
        <a:xfrm>
          <a:off x="0" y="0"/>
          <a:ext cx="0" cy="0"/>
          <a:chOff x="0" y="0"/>
          <a:chExt cx="0" cy="0"/>
        </a:xfrm>
      </p:grpSpPr>
      <p:sp>
        <p:nvSpPr>
          <p:cNvPr id="21" name="object 6">
            <a:extLst>
              <a:ext uri="{FF2B5EF4-FFF2-40B4-BE49-F238E27FC236}">
                <a16:creationId xmlns:a16="http://schemas.microsoft.com/office/drawing/2014/main" id="{2F6A770C-0164-F8AF-DE81-2E803C561801}"/>
              </a:ext>
            </a:extLst>
          </p:cNvPr>
          <p:cNvSpPr txBox="1"/>
          <p:nvPr/>
        </p:nvSpPr>
        <p:spPr>
          <a:xfrm>
            <a:off x="469900" y="1588964"/>
            <a:ext cx="10108164" cy="3274230"/>
          </a:xfrm>
          <a:prstGeom prst="rect">
            <a:avLst/>
          </a:prstGeom>
        </p:spPr>
        <p:txBody>
          <a:bodyPr vert="horz" wrap="square" lIns="0" tIns="3810" rIns="0" bIns="0" rtlCol="0">
            <a:spAutoFit/>
          </a:bodyPr>
          <a:lstStyle/>
          <a:p>
            <a:pPr marL="354965" marR="1116965" indent="-342900">
              <a:lnSpc>
                <a:spcPct val="150000"/>
              </a:lnSpc>
              <a:spcBef>
                <a:spcPts val="30"/>
              </a:spcBef>
              <a:buClr>
                <a:srgbClr val="727CA3"/>
              </a:buClr>
              <a:buSzPct val="77777"/>
              <a:buFont typeface="Arial" panose="020B0604020202020204" pitchFamily="34" charset="0"/>
              <a:buChar char="•"/>
              <a:tabLst>
                <a:tab pos="302260" algn="l"/>
                <a:tab pos="302895" algn="l"/>
              </a:tabLst>
            </a:pPr>
            <a:r>
              <a:rPr lang="en-IE" sz="2400" dirty="0"/>
              <a:t>The count( ) function counts how many rows are available in a table.</a:t>
            </a:r>
          </a:p>
          <a:p>
            <a:pPr marL="354965" marR="1116965" indent="-342900">
              <a:lnSpc>
                <a:spcPct val="150000"/>
              </a:lnSpc>
              <a:spcBef>
                <a:spcPts val="30"/>
              </a:spcBef>
              <a:buClr>
                <a:srgbClr val="727CA3"/>
              </a:buClr>
              <a:buSzPct val="77777"/>
              <a:buFont typeface="Arial" panose="020B0604020202020204" pitchFamily="34" charset="0"/>
              <a:buChar char="•"/>
              <a:tabLst>
                <a:tab pos="302260" algn="l"/>
                <a:tab pos="302895" algn="l"/>
              </a:tabLst>
            </a:pPr>
            <a:r>
              <a:rPr lang="en-IE" sz="2400" dirty="0"/>
              <a:t>The * symbol means all, so we are counting all rows without setting up a specific condition. That results in a single row with the number of table rows.</a:t>
            </a:r>
          </a:p>
          <a:p>
            <a:pPr marL="12065" marR="1116965">
              <a:lnSpc>
                <a:spcPct val="150000"/>
              </a:lnSpc>
              <a:spcBef>
                <a:spcPts val="30"/>
              </a:spcBef>
              <a:buClr>
                <a:srgbClr val="727CA3"/>
              </a:buClr>
              <a:buSzPct val="77777"/>
              <a:tabLst>
                <a:tab pos="302260" algn="l"/>
                <a:tab pos="302895" algn="l"/>
              </a:tabLst>
            </a:pPr>
            <a:endParaRPr lang="en-IE" sz="2400" dirty="0"/>
          </a:p>
        </p:txBody>
      </p:sp>
      <p:sp>
        <p:nvSpPr>
          <p:cNvPr id="23" name="TextBox 22">
            <a:extLst>
              <a:ext uri="{FF2B5EF4-FFF2-40B4-BE49-F238E27FC236}">
                <a16:creationId xmlns:a16="http://schemas.microsoft.com/office/drawing/2014/main" id="{FE5591F7-427B-39C1-683B-8B26CD764108}"/>
              </a:ext>
            </a:extLst>
          </p:cNvPr>
          <p:cNvSpPr txBox="1"/>
          <p:nvPr/>
        </p:nvSpPr>
        <p:spPr>
          <a:xfrm>
            <a:off x="698500" y="4856844"/>
            <a:ext cx="5181600" cy="369332"/>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SELECT</a:t>
            </a:r>
            <a:r>
              <a:rPr lang="en-GB" b="0" dirty="0">
                <a:solidFill>
                  <a:srgbClr val="D4D4D4"/>
                </a:solidFill>
                <a:effectLst/>
                <a:latin typeface="Menlo" panose="020B0609030804020204" pitchFamily="49" charset="0"/>
              </a:rPr>
              <a:t> COUNT(*) </a:t>
            </a:r>
            <a:r>
              <a:rPr lang="en-GB" b="0" dirty="0">
                <a:solidFill>
                  <a:srgbClr val="569CD6"/>
                </a:solidFill>
                <a:effectLst/>
                <a:latin typeface="Menlo" panose="020B0609030804020204" pitchFamily="49" charset="0"/>
              </a:rPr>
              <a:t>FROM</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table_name</a:t>
            </a:r>
            <a:r>
              <a:rPr lang="en-GB" b="0" dirty="0">
                <a:solidFill>
                  <a:srgbClr val="D4D4D4"/>
                </a:solidFill>
                <a:effectLst/>
                <a:latin typeface="Menlo" panose="020B0609030804020204" pitchFamily="49" charset="0"/>
              </a:rPr>
              <a:t>;</a:t>
            </a:r>
          </a:p>
        </p:txBody>
      </p:sp>
      <p:sp>
        <p:nvSpPr>
          <p:cNvPr id="4" name="Title 3">
            <a:extLst>
              <a:ext uri="{FF2B5EF4-FFF2-40B4-BE49-F238E27FC236}">
                <a16:creationId xmlns:a16="http://schemas.microsoft.com/office/drawing/2014/main" id="{98803703-E203-EA9C-F2CF-53345B97BCD3}"/>
              </a:ext>
            </a:extLst>
          </p:cNvPr>
          <p:cNvSpPr>
            <a:spLocks noGrp="1"/>
          </p:cNvSpPr>
          <p:nvPr>
            <p:ph type="title"/>
          </p:nvPr>
        </p:nvSpPr>
        <p:spPr/>
        <p:txBody>
          <a:bodyPr/>
          <a:lstStyle/>
          <a:p>
            <a:r>
              <a:rPr lang="en-IE" dirty="0"/>
              <a:t>The count( ) function</a:t>
            </a:r>
          </a:p>
        </p:txBody>
      </p:sp>
    </p:spTree>
    <p:extLst>
      <p:ext uri="{BB962C8B-B14F-4D97-AF65-F5344CB8AC3E}">
        <p14:creationId xmlns:p14="http://schemas.microsoft.com/office/powerpoint/2010/main" val="1285736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4967F-0C2C-EC53-BB90-48BF38F0A407}"/>
            </a:ext>
          </a:extLst>
        </p:cNvPr>
        <p:cNvGrpSpPr/>
        <p:nvPr/>
      </p:nvGrpSpPr>
      <p:grpSpPr>
        <a:xfrm>
          <a:off x="0" y="0"/>
          <a:ext cx="0" cy="0"/>
          <a:chOff x="0" y="0"/>
          <a:chExt cx="0" cy="0"/>
        </a:xfrm>
      </p:grpSpPr>
      <p:sp>
        <p:nvSpPr>
          <p:cNvPr id="21" name="object 6">
            <a:extLst>
              <a:ext uri="{FF2B5EF4-FFF2-40B4-BE49-F238E27FC236}">
                <a16:creationId xmlns:a16="http://schemas.microsoft.com/office/drawing/2014/main" id="{7BCEB4F9-4FFF-443D-CC60-56BA6C5E1BBF}"/>
              </a:ext>
            </a:extLst>
          </p:cNvPr>
          <p:cNvSpPr txBox="1"/>
          <p:nvPr/>
        </p:nvSpPr>
        <p:spPr>
          <a:xfrm>
            <a:off x="469900" y="1588964"/>
            <a:ext cx="10108164" cy="2720232"/>
          </a:xfrm>
          <a:prstGeom prst="rect">
            <a:avLst/>
          </a:prstGeom>
        </p:spPr>
        <p:txBody>
          <a:bodyPr vert="horz" wrap="square" lIns="0" tIns="3810" rIns="0" bIns="0" rtlCol="0">
            <a:spAutoFit/>
          </a:bodyPr>
          <a:lstStyle/>
          <a:p>
            <a:pPr marL="354965" marR="1116965" indent="-342900">
              <a:lnSpc>
                <a:spcPct val="150000"/>
              </a:lnSpc>
              <a:spcBef>
                <a:spcPts val="30"/>
              </a:spcBef>
              <a:buClr>
                <a:srgbClr val="727CA3"/>
              </a:buClr>
              <a:buSzPct val="77777"/>
              <a:buFont typeface="Arial" panose="020B0604020202020204" pitchFamily="34" charset="0"/>
              <a:buChar char="•"/>
              <a:tabLst>
                <a:tab pos="302260" algn="l"/>
                <a:tab pos="302895" algn="l"/>
              </a:tabLst>
            </a:pPr>
            <a:r>
              <a:rPr lang="en-IE" sz="2400" dirty="0"/>
              <a:t>In general, NULL functions will </a:t>
            </a:r>
            <a:r>
              <a:rPr lang="en-IE" sz="2400" b="1" dirty="0"/>
              <a:t>ignore</a:t>
            </a:r>
            <a:r>
              <a:rPr lang="en-IE" sz="2400" dirty="0"/>
              <a:t> NULL values by default.</a:t>
            </a:r>
          </a:p>
          <a:p>
            <a:pPr marL="354965" marR="1116965" indent="-342900">
              <a:lnSpc>
                <a:spcPct val="150000"/>
              </a:lnSpc>
              <a:spcBef>
                <a:spcPts val="30"/>
              </a:spcBef>
              <a:buClr>
                <a:srgbClr val="727CA3"/>
              </a:buClr>
              <a:buSzPct val="77777"/>
              <a:buFont typeface="Arial" panose="020B0604020202020204" pitchFamily="34" charset="0"/>
              <a:buChar char="•"/>
              <a:tabLst>
                <a:tab pos="302260" algn="l"/>
                <a:tab pos="302895" algn="l"/>
              </a:tabLst>
            </a:pPr>
            <a:r>
              <a:rPr lang="en-IE" sz="2400" dirty="0"/>
              <a:t>However, when we use </a:t>
            </a:r>
            <a:r>
              <a:rPr lang="en-IE" sz="2400" b="1" dirty="0"/>
              <a:t>count(*)</a:t>
            </a:r>
            <a:r>
              <a:rPr lang="en-IE" sz="2400" dirty="0"/>
              <a:t>, NULL values are included as we want to count all rows in a table whether they have a value or not.</a:t>
            </a:r>
          </a:p>
          <a:p>
            <a:pPr marL="12065" marR="1116965">
              <a:lnSpc>
                <a:spcPct val="150000"/>
              </a:lnSpc>
              <a:spcBef>
                <a:spcPts val="30"/>
              </a:spcBef>
              <a:buClr>
                <a:srgbClr val="727CA3"/>
              </a:buClr>
              <a:buSzPct val="77777"/>
              <a:tabLst>
                <a:tab pos="302260" algn="l"/>
                <a:tab pos="302895" algn="l"/>
              </a:tabLst>
            </a:pPr>
            <a:endParaRPr lang="en-IE" sz="2400" dirty="0"/>
          </a:p>
        </p:txBody>
      </p:sp>
      <p:sp>
        <p:nvSpPr>
          <p:cNvPr id="5" name="TextBox 4">
            <a:extLst>
              <a:ext uri="{FF2B5EF4-FFF2-40B4-BE49-F238E27FC236}">
                <a16:creationId xmlns:a16="http://schemas.microsoft.com/office/drawing/2014/main" id="{245941B4-E409-076B-6508-312DED76A1D8}"/>
              </a:ext>
            </a:extLst>
          </p:cNvPr>
          <p:cNvSpPr txBox="1"/>
          <p:nvPr/>
        </p:nvSpPr>
        <p:spPr>
          <a:xfrm>
            <a:off x="681215" y="4086322"/>
            <a:ext cx="9330969" cy="1323439"/>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COUNT</a:t>
            </a:r>
            <a:r>
              <a:rPr lang="en-IE" sz="2000" dirty="0">
                <a:solidFill>
                  <a:srgbClr val="000000"/>
                </a:solidFill>
                <a:effectLst/>
                <a:latin typeface="Menlo" panose="020B0609030804020204" pitchFamily="49" charset="0"/>
              </a:rPr>
              <a:t>(*) </a:t>
            </a:r>
            <a:r>
              <a:rPr lang="en-IE" sz="2000" i="1" dirty="0">
                <a:solidFill>
                  <a:srgbClr val="006464"/>
                </a:solidFill>
                <a:effectLst/>
                <a:latin typeface="Menlo" panose="020B0609030804020204" pitchFamily="49" charset="0"/>
              </a:rPr>
              <a:t>"Total players"</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a:solidFill>
                  <a:srgbClr val="8E00C6"/>
                </a:solidFill>
                <a:effectLst/>
                <a:latin typeface="Menlo" panose="020B0609030804020204" pitchFamily="49" charset="0"/>
              </a:rPr>
              <a:t>players</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COUNT</a:t>
            </a:r>
            <a:r>
              <a:rPr lang="en-IE" sz="2000" dirty="0">
                <a:solidFill>
                  <a:srgbClr val="000000"/>
                </a:solidFill>
                <a:effectLst/>
                <a:latin typeface="Menlo" panose="020B0609030804020204" pitchFamily="49" charset="0"/>
              </a:rPr>
              <a:t>(*) </a:t>
            </a:r>
            <a:r>
              <a:rPr lang="en-IE" sz="2000" i="1" dirty="0">
                <a:solidFill>
                  <a:srgbClr val="006464"/>
                </a:solidFill>
                <a:effectLst/>
                <a:latin typeface="Menlo" panose="020B0609030804020204" pitchFamily="49" charset="0"/>
              </a:rPr>
              <a:t>"Total clubs"</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a:solidFill>
                  <a:srgbClr val="8E00C6"/>
                </a:solidFill>
                <a:effectLst/>
                <a:latin typeface="Menlo" panose="020B0609030804020204" pitchFamily="49" charset="0"/>
              </a:rPr>
              <a:t>clubs</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COUNT</a:t>
            </a:r>
            <a:r>
              <a:rPr lang="en-IE" sz="2000" dirty="0">
                <a:solidFill>
                  <a:srgbClr val="000000"/>
                </a:solidFill>
                <a:effectLst/>
                <a:latin typeface="Menlo" panose="020B0609030804020204" pitchFamily="49" charset="0"/>
              </a:rPr>
              <a:t>(*) </a:t>
            </a:r>
            <a:r>
              <a:rPr lang="en-IE" sz="2000" i="1" dirty="0">
                <a:solidFill>
                  <a:srgbClr val="006464"/>
                </a:solidFill>
                <a:effectLst/>
                <a:latin typeface="Menlo" panose="020B0609030804020204" pitchFamily="49" charset="0"/>
              </a:rPr>
              <a:t>"Total contracts"</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err="1">
                <a:solidFill>
                  <a:srgbClr val="8E00C6"/>
                </a:solidFill>
                <a:effectLst/>
                <a:latin typeface="Menlo" panose="020B0609030804020204" pitchFamily="49" charset="0"/>
              </a:rPr>
              <a:t>player_contracts</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COUNT</a:t>
            </a:r>
            <a:r>
              <a:rPr lang="en-IE" sz="2000" dirty="0">
                <a:solidFill>
                  <a:srgbClr val="000000"/>
                </a:solidFill>
                <a:effectLst/>
                <a:latin typeface="Menlo" panose="020B0609030804020204" pitchFamily="49" charset="0"/>
              </a:rPr>
              <a:t>(*) </a:t>
            </a:r>
            <a:r>
              <a:rPr lang="en-IE" sz="2000" i="1" dirty="0">
                <a:solidFill>
                  <a:srgbClr val="006464"/>
                </a:solidFill>
                <a:effectLst/>
                <a:latin typeface="Menlo" panose="020B0609030804020204" pitchFamily="49" charset="0"/>
              </a:rPr>
              <a:t>"Total attributes"</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err="1">
                <a:solidFill>
                  <a:srgbClr val="8E00C6"/>
                </a:solidFill>
                <a:effectLst/>
                <a:latin typeface="Menlo" panose="020B0609030804020204" pitchFamily="49" charset="0"/>
              </a:rPr>
              <a:t>player_attributes</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
        <p:nvSpPr>
          <p:cNvPr id="7" name="Title 6">
            <a:extLst>
              <a:ext uri="{FF2B5EF4-FFF2-40B4-BE49-F238E27FC236}">
                <a16:creationId xmlns:a16="http://schemas.microsoft.com/office/drawing/2014/main" id="{208966D8-92EC-BD58-379C-84FB277E5037}"/>
              </a:ext>
            </a:extLst>
          </p:cNvPr>
          <p:cNvSpPr>
            <a:spLocks noGrp="1"/>
          </p:cNvSpPr>
          <p:nvPr>
            <p:ph type="title"/>
          </p:nvPr>
        </p:nvSpPr>
        <p:spPr/>
        <p:txBody>
          <a:bodyPr/>
          <a:lstStyle/>
          <a:p>
            <a:r>
              <a:rPr lang="en-IE" dirty="0"/>
              <a:t>Group functions and NULL values</a:t>
            </a:r>
          </a:p>
        </p:txBody>
      </p:sp>
    </p:spTree>
    <p:extLst>
      <p:ext uri="{BB962C8B-B14F-4D97-AF65-F5344CB8AC3E}">
        <p14:creationId xmlns:p14="http://schemas.microsoft.com/office/powerpoint/2010/main" val="1027119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729BB-4A42-3D5B-AEA6-4DDEB536B94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8442B68-846D-6E1F-6D15-E7C60A704259}"/>
              </a:ext>
            </a:extLst>
          </p:cNvPr>
          <p:cNvSpPr txBox="1">
            <a:spLocks noGrp="1"/>
          </p:cNvSpPr>
          <p:nvPr>
            <p:ph type="title"/>
          </p:nvPr>
        </p:nvSpPr>
        <p:spPr>
          <a:xfrm>
            <a:off x="739043" y="831437"/>
            <a:ext cx="9556498" cy="602326"/>
          </a:xfrm>
          <a:prstGeom prst="rect">
            <a:avLst/>
          </a:prstGeom>
        </p:spPr>
        <p:txBody>
          <a:bodyPr vert="horz" wrap="square" lIns="0" tIns="95041" rIns="0" bIns="0" rtlCol="0" anchor="ctr">
            <a:spAutoFit/>
          </a:bodyPr>
          <a:lstStyle/>
          <a:p>
            <a:r>
              <a:rPr lang="en-IE" dirty="0"/>
              <a:t>Cross-table coverage</a:t>
            </a:r>
          </a:p>
        </p:txBody>
      </p:sp>
      <p:sp>
        <p:nvSpPr>
          <p:cNvPr id="5" name="Content Placeholder 4">
            <a:extLst>
              <a:ext uri="{FF2B5EF4-FFF2-40B4-BE49-F238E27FC236}">
                <a16:creationId xmlns:a16="http://schemas.microsoft.com/office/drawing/2014/main" id="{ECB96848-8840-C342-AA33-5E12BA8991C5}"/>
              </a:ext>
            </a:extLst>
          </p:cNvPr>
          <p:cNvSpPr>
            <a:spLocks noGrp="1"/>
          </p:cNvSpPr>
          <p:nvPr>
            <p:ph idx="1"/>
          </p:nvPr>
        </p:nvSpPr>
        <p:spPr>
          <a:xfrm>
            <a:off x="739043" y="2011569"/>
            <a:ext cx="9215314" cy="1842816"/>
          </a:xfrm>
        </p:spPr>
        <p:txBody>
          <a:bodyPr>
            <a:normAutofit/>
          </a:bodyPr>
          <a:lstStyle/>
          <a:p>
            <a:r>
              <a:rPr lang="en-IE" dirty="0"/>
              <a:t>The command below uses subqueries to count the number of rows in each table for comparison.</a:t>
            </a:r>
          </a:p>
          <a:p>
            <a:endParaRPr lang="en-IE" dirty="0"/>
          </a:p>
          <a:p>
            <a:pPr marL="0" indent="0">
              <a:buNone/>
            </a:pPr>
            <a:endParaRPr lang="en-IE" dirty="0"/>
          </a:p>
          <a:p>
            <a:endParaRPr lang="en-IE" dirty="0"/>
          </a:p>
        </p:txBody>
      </p:sp>
      <p:sp>
        <p:nvSpPr>
          <p:cNvPr id="2" name="Slide Number Placeholder 1">
            <a:extLst>
              <a:ext uri="{FF2B5EF4-FFF2-40B4-BE49-F238E27FC236}">
                <a16:creationId xmlns:a16="http://schemas.microsoft.com/office/drawing/2014/main" id="{1443851A-12C4-EC3F-EB06-C723D0B8F793}"/>
              </a:ext>
            </a:extLst>
          </p:cNvPr>
          <p:cNvSpPr>
            <a:spLocks noGrp="1"/>
          </p:cNvSpPr>
          <p:nvPr>
            <p:ph type="sldNum" sz="quarter" idx="12"/>
          </p:nvPr>
        </p:nvSpPr>
        <p:spPr/>
        <p:txBody>
          <a:bodyPr/>
          <a:lstStyle/>
          <a:p>
            <a:fld id="{1AE971F0-0CD2-4C47-8087-EBCE9716EA84}" type="slidenum">
              <a:rPr lang="en-GB" smtClean="0">
                <a:solidFill>
                  <a:schemeClr val="tx1"/>
                </a:solidFill>
              </a:rPr>
              <a:pPr/>
              <a:t>7</a:t>
            </a:fld>
            <a:endParaRPr lang="en-GB" dirty="0">
              <a:solidFill>
                <a:schemeClr val="tx1"/>
              </a:solidFill>
            </a:endParaRPr>
          </a:p>
        </p:txBody>
      </p:sp>
      <p:sp>
        <p:nvSpPr>
          <p:cNvPr id="8" name="TextBox 7">
            <a:extLst>
              <a:ext uri="{FF2B5EF4-FFF2-40B4-BE49-F238E27FC236}">
                <a16:creationId xmlns:a16="http://schemas.microsoft.com/office/drawing/2014/main" id="{1DEA7FC8-7B3C-D178-F8D3-02E122620EFA}"/>
              </a:ext>
            </a:extLst>
          </p:cNvPr>
          <p:cNvSpPr txBox="1"/>
          <p:nvPr/>
        </p:nvSpPr>
        <p:spPr>
          <a:xfrm>
            <a:off x="1006947" y="3397570"/>
            <a:ext cx="9060186" cy="2306386"/>
          </a:xfrm>
          <a:prstGeom prst="rect">
            <a:avLst/>
          </a:prstGeom>
          <a:noFill/>
        </p:spPr>
        <p:txBody>
          <a:bodyPr wrap="square">
            <a:spAutoFit/>
          </a:bodyPr>
          <a:lstStyle/>
          <a:p>
            <a:r>
              <a:rPr lang="en-IE" sz="1799" b="1" dirty="0">
                <a:solidFill>
                  <a:srgbClr val="800000"/>
                </a:solidFill>
                <a:latin typeface="Menlo" panose="020B0609030804020204" pitchFamily="49" charset="0"/>
              </a:rPr>
              <a:t>SELECT</a:t>
            </a:r>
            <a:endParaRPr lang="en-IE" sz="1799" dirty="0">
              <a:solidFill>
                <a:srgbClr val="000000"/>
              </a:solidFill>
              <a:latin typeface="Menlo" panose="020B0609030804020204" pitchFamily="49" charset="0"/>
            </a:endParaRPr>
          </a:p>
          <a:p>
            <a:r>
              <a:rPr lang="en-IE" sz="1799" dirty="0">
                <a:solidFill>
                  <a:srgbClr val="000000"/>
                </a:solidFill>
                <a:latin typeface="Menlo" panose="020B0609030804020204" pitchFamily="49" charset="0"/>
              </a:rPr>
              <a:t>(</a:t>
            </a:r>
            <a:r>
              <a:rPr lang="en-IE" sz="1799" b="1" dirty="0">
                <a:solidFill>
                  <a:srgbClr val="800000"/>
                </a:solidFill>
                <a:latin typeface="Menlo" panose="020B0609030804020204" pitchFamily="49" charset="0"/>
              </a:rPr>
              <a:t>SELECT</a:t>
            </a:r>
            <a:r>
              <a:rPr lang="en-IE" sz="1799" dirty="0">
                <a:solidFill>
                  <a:srgbClr val="000000"/>
                </a:solidFill>
                <a:latin typeface="Menlo" panose="020B0609030804020204" pitchFamily="49" charset="0"/>
              </a:rPr>
              <a:t> </a:t>
            </a:r>
            <a:r>
              <a:rPr lang="en-IE" sz="1799" b="1" dirty="0">
                <a:solidFill>
                  <a:srgbClr val="000080"/>
                </a:solidFill>
                <a:latin typeface="Menlo" panose="020B0609030804020204" pitchFamily="49" charset="0"/>
              </a:rPr>
              <a:t>COUNT</a:t>
            </a:r>
            <a:r>
              <a:rPr lang="en-IE" sz="1799" dirty="0">
                <a:solidFill>
                  <a:srgbClr val="000000"/>
                </a:solidFill>
                <a:latin typeface="Menlo" panose="020B0609030804020204" pitchFamily="49" charset="0"/>
              </a:rPr>
              <a:t>(</a:t>
            </a:r>
            <a:r>
              <a:rPr lang="en-IE" sz="1799" dirty="0" err="1">
                <a:solidFill>
                  <a:srgbClr val="000000"/>
                </a:solidFill>
                <a:latin typeface="Menlo" panose="020B0609030804020204" pitchFamily="49" charset="0"/>
              </a:rPr>
              <a:t>player_id</a:t>
            </a:r>
            <a:r>
              <a:rPr lang="en-IE" sz="1799" dirty="0">
                <a:solidFill>
                  <a:srgbClr val="000000"/>
                </a:solidFill>
                <a:latin typeface="Menlo" panose="020B0609030804020204" pitchFamily="49" charset="0"/>
              </a:rPr>
              <a:t>) </a:t>
            </a:r>
            <a:r>
              <a:rPr lang="en-IE" sz="1799" b="1" dirty="0">
                <a:solidFill>
                  <a:srgbClr val="800000"/>
                </a:solidFill>
                <a:latin typeface="Menlo" panose="020B0609030804020204" pitchFamily="49" charset="0"/>
              </a:rPr>
              <a:t>FROM</a:t>
            </a:r>
            <a:r>
              <a:rPr lang="en-IE" sz="1799" dirty="0">
                <a:solidFill>
                  <a:srgbClr val="000000"/>
                </a:solidFill>
                <a:latin typeface="Menlo" panose="020B0609030804020204" pitchFamily="49" charset="0"/>
              </a:rPr>
              <a:t> players) </a:t>
            </a:r>
            <a:r>
              <a:rPr lang="en-IE" sz="1799" b="1" dirty="0">
                <a:solidFill>
                  <a:srgbClr val="000080"/>
                </a:solidFill>
                <a:latin typeface="Menlo" panose="020B0609030804020204" pitchFamily="49" charset="0"/>
              </a:rPr>
              <a:t>"Total number of players"</a:t>
            </a:r>
            <a:r>
              <a:rPr lang="en-IE" sz="1799" dirty="0">
                <a:solidFill>
                  <a:srgbClr val="000000"/>
                </a:solidFill>
                <a:latin typeface="Menlo" panose="020B0609030804020204" pitchFamily="49" charset="0"/>
              </a:rPr>
              <a:t>,</a:t>
            </a:r>
          </a:p>
          <a:p>
            <a:r>
              <a:rPr lang="en-IE" sz="1799" dirty="0">
                <a:solidFill>
                  <a:srgbClr val="000000"/>
                </a:solidFill>
                <a:latin typeface="Menlo" panose="020B0609030804020204" pitchFamily="49" charset="0"/>
              </a:rPr>
              <a:t>(</a:t>
            </a:r>
            <a:r>
              <a:rPr lang="en-IE" sz="1799" b="1" dirty="0">
                <a:solidFill>
                  <a:srgbClr val="800000"/>
                </a:solidFill>
                <a:latin typeface="Menlo" panose="020B0609030804020204" pitchFamily="49" charset="0"/>
              </a:rPr>
              <a:t>SELECT</a:t>
            </a:r>
            <a:r>
              <a:rPr lang="en-IE" sz="1799" dirty="0">
                <a:solidFill>
                  <a:srgbClr val="000000"/>
                </a:solidFill>
                <a:latin typeface="Menlo" panose="020B0609030804020204" pitchFamily="49" charset="0"/>
              </a:rPr>
              <a:t> </a:t>
            </a:r>
            <a:r>
              <a:rPr lang="en-IE" sz="1799" b="1" dirty="0">
                <a:solidFill>
                  <a:srgbClr val="000080"/>
                </a:solidFill>
                <a:latin typeface="Menlo" panose="020B0609030804020204" pitchFamily="49" charset="0"/>
              </a:rPr>
              <a:t>COUNT</a:t>
            </a:r>
            <a:r>
              <a:rPr lang="en-IE" sz="1799" dirty="0">
                <a:solidFill>
                  <a:srgbClr val="000000"/>
                </a:solidFill>
                <a:latin typeface="Menlo" panose="020B0609030804020204" pitchFamily="49" charset="0"/>
              </a:rPr>
              <a:t>(</a:t>
            </a:r>
            <a:r>
              <a:rPr lang="en-IE" sz="1799" dirty="0" err="1">
                <a:solidFill>
                  <a:srgbClr val="000000"/>
                </a:solidFill>
                <a:latin typeface="Menlo" panose="020B0609030804020204" pitchFamily="49" charset="0"/>
              </a:rPr>
              <a:t>club_id</a:t>
            </a:r>
            <a:r>
              <a:rPr lang="en-IE" sz="1799" dirty="0">
                <a:solidFill>
                  <a:srgbClr val="000000"/>
                </a:solidFill>
                <a:latin typeface="Menlo" panose="020B0609030804020204" pitchFamily="49" charset="0"/>
              </a:rPr>
              <a:t>) </a:t>
            </a:r>
            <a:r>
              <a:rPr lang="en-IE" sz="1799" b="1" dirty="0">
                <a:solidFill>
                  <a:srgbClr val="800000"/>
                </a:solidFill>
                <a:latin typeface="Menlo" panose="020B0609030804020204" pitchFamily="49" charset="0"/>
              </a:rPr>
              <a:t>FROM</a:t>
            </a:r>
            <a:r>
              <a:rPr lang="en-IE" sz="1799" dirty="0">
                <a:solidFill>
                  <a:srgbClr val="000000"/>
                </a:solidFill>
                <a:latin typeface="Menlo" panose="020B0609030804020204" pitchFamily="49" charset="0"/>
              </a:rPr>
              <a:t> clubs) </a:t>
            </a:r>
            <a:r>
              <a:rPr lang="en-IE" sz="1799" b="1" dirty="0">
                <a:solidFill>
                  <a:srgbClr val="000080"/>
                </a:solidFill>
                <a:latin typeface="Menlo" panose="020B0609030804020204" pitchFamily="49" charset="0"/>
              </a:rPr>
              <a:t>"Number of clubs"</a:t>
            </a:r>
            <a:r>
              <a:rPr lang="en-IE" sz="1799" dirty="0">
                <a:solidFill>
                  <a:srgbClr val="000000"/>
                </a:solidFill>
                <a:latin typeface="Menlo" panose="020B0609030804020204" pitchFamily="49" charset="0"/>
              </a:rPr>
              <a:t>,</a:t>
            </a:r>
          </a:p>
          <a:p>
            <a:r>
              <a:rPr lang="en-IE" sz="1799" dirty="0">
                <a:solidFill>
                  <a:srgbClr val="000000"/>
                </a:solidFill>
                <a:latin typeface="Menlo" panose="020B0609030804020204" pitchFamily="49" charset="0"/>
              </a:rPr>
              <a:t>(</a:t>
            </a:r>
            <a:r>
              <a:rPr lang="en-IE" sz="1799" b="1" dirty="0">
                <a:solidFill>
                  <a:srgbClr val="800000"/>
                </a:solidFill>
                <a:latin typeface="Menlo" panose="020B0609030804020204" pitchFamily="49" charset="0"/>
              </a:rPr>
              <a:t>SELECT</a:t>
            </a:r>
            <a:r>
              <a:rPr lang="en-IE" sz="1799" dirty="0">
                <a:solidFill>
                  <a:srgbClr val="000000"/>
                </a:solidFill>
                <a:latin typeface="Menlo" panose="020B0609030804020204" pitchFamily="49" charset="0"/>
              </a:rPr>
              <a:t> </a:t>
            </a:r>
            <a:r>
              <a:rPr lang="en-IE" sz="1799" b="1" dirty="0">
                <a:solidFill>
                  <a:srgbClr val="000080"/>
                </a:solidFill>
                <a:latin typeface="Menlo" panose="020B0609030804020204" pitchFamily="49" charset="0"/>
              </a:rPr>
              <a:t>COUNT</a:t>
            </a:r>
            <a:r>
              <a:rPr lang="en-IE" sz="1799" dirty="0">
                <a:solidFill>
                  <a:srgbClr val="000000"/>
                </a:solidFill>
                <a:latin typeface="Menlo" panose="020B0609030804020204" pitchFamily="49" charset="0"/>
              </a:rPr>
              <a:t>(</a:t>
            </a:r>
            <a:r>
              <a:rPr lang="en-IE" sz="1799" b="1" dirty="0">
                <a:solidFill>
                  <a:srgbClr val="800000"/>
                </a:solidFill>
                <a:latin typeface="Menlo" panose="020B0609030804020204" pitchFamily="49" charset="0"/>
              </a:rPr>
              <a:t>DISTINCT</a:t>
            </a:r>
            <a:r>
              <a:rPr lang="en-IE" sz="1799" dirty="0">
                <a:solidFill>
                  <a:srgbClr val="000000"/>
                </a:solidFill>
                <a:latin typeface="Menlo" panose="020B0609030804020204" pitchFamily="49" charset="0"/>
              </a:rPr>
              <a:t> </a:t>
            </a:r>
            <a:r>
              <a:rPr lang="en-IE" sz="1799" dirty="0" err="1">
                <a:solidFill>
                  <a:srgbClr val="000000"/>
                </a:solidFill>
                <a:latin typeface="Menlo" panose="020B0609030804020204" pitchFamily="49" charset="0"/>
              </a:rPr>
              <a:t>player_id</a:t>
            </a:r>
            <a:r>
              <a:rPr lang="en-IE" sz="1799" dirty="0">
                <a:solidFill>
                  <a:srgbClr val="000000"/>
                </a:solidFill>
                <a:latin typeface="Menlo" panose="020B0609030804020204" pitchFamily="49" charset="0"/>
              </a:rPr>
              <a:t>) </a:t>
            </a:r>
            <a:r>
              <a:rPr lang="en-IE" sz="1799" b="1" dirty="0">
                <a:solidFill>
                  <a:srgbClr val="800000"/>
                </a:solidFill>
                <a:latin typeface="Menlo" panose="020B0609030804020204" pitchFamily="49" charset="0"/>
              </a:rPr>
              <a:t>FROM</a:t>
            </a:r>
            <a:r>
              <a:rPr lang="en-IE" sz="1799" dirty="0">
                <a:solidFill>
                  <a:srgbClr val="000000"/>
                </a:solidFill>
                <a:latin typeface="Menlo" panose="020B0609030804020204" pitchFamily="49" charset="0"/>
              </a:rPr>
              <a:t> </a:t>
            </a:r>
            <a:r>
              <a:rPr lang="en-IE" sz="1799" dirty="0" err="1">
                <a:solidFill>
                  <a:srgbClr val="000000"/>
                </a:solidFill>
                <a:latin typeface="Menlo" panose="020B0609030804020204" pitchFamily="49" charset="0"/>
              </a:rPr>
              <a:t>player_attributes</a:t>
            </a:r>
            <a:r>
              <a:rPr lang="en-IE" sz="1799" dirty="0">
                <a:solidFill>
                  <a:srgbClr val="000000"/>
                </a:solidFill>
                <a:latin typeface="Menlo" panose="020B0609030804020204" pitchFamily="49" charset="0"/>
              </a:rPr>
              <a:t>) </a:t>
            </a:r>
            <a:r>
              <a:rPr lang="en-IE" sz="1799" b="1" dirty="0">
                <a:solidFill>
                  <a:srgbClr val="000080"/>
                </a:solidFill>
                <a:latin typeface="Menlo" panose="020B0609030804020204" pitchFamily="49" charset="0"/>
              </a:rPr>
              <a:t>"Number of players with attributes"</a:t>
            </a:r>
            <a:r>
              <a:rPr lang="en-IE" sz="1799" dirty="0">
                <a:solidFill>
                  <a:srgbClr val="000000"/>
                </a:solidFill>
                <a:latin typeface="Menlo" panose="020B0609030804020204" pitchFamily="49" charset="0"/>
              </a:rPr>
              <a:t>,</a:t>
            </a:r>
          </a:p>
          <a:p>
            <a:r>
              <a:rPr lang="en-IE" sz="1799" dirty="0">
                <a:solidFill>
                  <a:srgbClr val="000000"/>
                </a:solidFill>
                <a:latin typeface="Menlo" panose="020B0609030804020204" pitchFamily="49" charset="0"/>
              </a:rPr>
              <a:t>(</a:t>
            </a:r>
            <a:r>
              <a:rPr lang="en-IE" sz="1799" b="1" dirty="0">
                <a:solidFill>
                  <a:srgbClr val="800000"/>
                </a:solidFill>
                <a:latin typeface="Menlo" panose="020B0609030804020204" pitchFamily="49" charset="0"/>
              </a:rPr>
              <a:t>SELECT</a:t>
            </a:r>
            <a:r>
              <a:rPr lang="en-IE" sz="1799" dirty="0">
                <a:solidFill>
                  <a:srgbClr val="000000"/>
                </a:solidFill>
                <a:latin typeface="Menlo" panose="020B0609030804020204" pitchFamily="49" charset="0"/>
              </a:rPr>
              <a:t> </a:t>
            </a:r>
            <a:r>
              <a:rPr lang="en-IE" sz="1799" b="1" dirty="0">
                <a:solidFill>
                  <a:srgbClr val="000080"/>
                </a:solidFill>
                <a:latin typeface="Menlo" panose="020B0609030804020204" pitchFamily="49" charset="0"/>
              </a:rPr>
              <a:t>COUNT</a:t>
            </a:r>
            <a:r>
              <a:rPr lang="en-IE" sz="1799" dirty="0">
                <a:solidFill>
                  <a:srgbClr val="000000"/>
                </a:solidFill>
                <a:latin typeface="Menlo" panose="020B0609030804020204" pitchFamily="49" charset="0"/>
              </a:rPr>
              <a:t>(</a:t>
            </a:r>
            <a:r>
              <a:rPr lang="en-IE" sz="1799" b="1" dirty="0">
                <a:solidFill>
                  <a:srgbClr val="800000"/>
                </a:solidFill>
                <a:latin typeface="Menlo" panose="020B0609030804020204" pitchFamily="49" charset="0"/>
              </a:rPr>
              <a:t>DISTINCT</a:t>
            </a:r>
            <a:r>
              <a:rPr lang="en-IE" sz="1799" dirty="0">
                <a:solidFill>
                  <a:srgbClr val="000000"/>
                </a:solidFill>
                <a:latin typeface="Menlo" panose="020B0609030804020204" pitchFamily="49" charset="0"/>
              </a:rPr>
              <a:t> </a:t>
            </a:r>
            <a:r>
              <a:rPr lang="en-IE" sz="1799" dirty="0" err="1">
                <a:solidFill>
                  <a:srgbClr val="000000"/>
                </a:solidFill>
                <a:latin typeface="Menlo" panose="020B0609030804020204" pitchFamily="49" charset="0"/>
              </a:rPr>
              <a:t>player_id</a:t>
            </a:r>
            <a:r>
              <a:rPr lang="en-IE" sz="1799" dirty="0">
                <a:solidFill>
                  <a:srgbClr val="000000"/>
                </a:solidFill>
                <a:latin typeface="Menlo" panose="020B0609030804020204" pitchFamily="49" charset="0"/>
              </a:rPr>
              <a:t>) </a:t>
            </a:r>
            <a:r>
              <a:rPr lang="en-IE" sz="1799" b="1" dirty="0">
                <a:solidFill>
                  <a:srgbClr val="800000"/>
                </a:solidFill>
                <a:latin typeface="Menlo" panose="020B0609030804020204" pitchFamily="49" charset="0"/>
              </a:rPr>
              <a:t>FROM</a:t>
            </a:r>
            <a:r>
              <a:rPr lang="en-IE" sz="1799" dirty="0">
                <a:solidFill>
                  <a:srgbClr val="000000"/>
                </a:solidFill>
                <a:latin typeface="Menlo" panose="020B0609030804020204" pitchFamily="49" charset="0"/>
              </a:rPr>
              <a:t> </a:t>
            </a:r>
            <a:r>
              <a:rPr lang="en-IE" sz="1799" dirty="0" err="1">
                <a:solidFill>
                  <a:srgbClr val="000000"/>
                </a:solidFill>
                <a:latin typeface="Menlo" panose="020B0609030804020204" pitchFamily="49" charset="0"/>
              </a:rPr>
              <a:t>player_contracts</a:t>
            </a:r>
            <a:r>
              <a:rPr lang="en-IE" sz="1799" dirty="0">
                <a:solidFill>
                  <a:srgbClr val="000000"/>
                </a:solidFill>
                <a:latin typeface="Menlo" panose="020B0609030804020204" pitchFamily="49" charset="0"/>
              </a:rPr>
              <a:t>) </a:t>
            </a:r>
            <a:r>
              <a:rPr lang="en-IE" sz="1799" b="1" dirty="0">
                <a:solidFill>
                  <a:srgbClr val="000080"/>
                </a:solidFill>
                <a:latin typeface="Menlo" panose="020B0609030804020204" pitchFamily="49" charset="0"/>
              </a:rPr>
              <a:t>"Number of players with contracts"</a:t>
            </a:r>
            <a:r>
              <a:rPr lang="en-IE" sz="1799" dirty="0">
                <a:solidFill>
                  <a:srgbClr val="FF0000"/>
                </a:solidFill>
                <a:latin typeface="Menlo" panose="020B0609030804020204" pitchFamily="49" charset="0"/>
              </a:rPr>
              <a:t>;</a:t>
            </a:r>
            <a:endParaRPr lang="en-IE" sz="1799" dirty="0">
              <a:solidFill>
                <a:srgbClr val="000000"/>
              </a:solidFill>
              <a:latin typeface="Menlo" panose="020B0609030804020204" pitchFamily="49" charset="0"/>
            </a:endParaRPr>
          </a:p>
        </p:txBody>
      </p:sp>
    </p:spTree>
    <p:extLst>
      <p:ext uri="{BB962C8B-B14F-4D97-AF65-F5344CB8AC3E}">
        <p14:creationId xmlns:p14="http://schemas.microsoft.com/office/powerpoint/2010/main" val="1892941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806C5-1E41-1814-CF25-40DD77DD27B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2A36DE2-50E5-BEB9-D727-35027B9017E9}"/>
              </a:ext>
            </a:extLst>
          </p:cNvPr>
          <p:cNvSpPr txBox="1">
            <a:spLocks noGrp="1"/>
          </p:cNvSpPr>
          <p:nvPr>
            <p:ph type="title"/>
          </p:nvPr>
        </p:nvSpPr>
        <p:spPr>
          <a:xfrm>
            <a:off x="739043" y="831437"/>
            <a:ext cx="9556498" cy="602326"/>
          </a:xfrm>
          <a:prstGeom prst="rect">
            <a:avLst/>
          </a:prstGeom>
        </p:spPr>
        <p:txBody>
          <a:bodyPr vert="horz" wrap="square" lIns="0" tIns="95041" rIns="0" bIns="0" rtlCol="0" anchor="ctr">
            <a:spAutoFit/>
          </a:bodyPr>
          <a:lstStyle/>
          <a:p>
            <a:r>
              <a:rPr lang="en-IE" dirty="0"/>
              <a:t>Cross-table coverage</a:t>
            </a:r>
          </a:p>
        </p:txBody>
      </p:sp>
      <p:sp>
        <p:nvSpPr>
          <p:cNvPr id="5" name="Content Placeholder 4">
            <a:extLst>
              <a:ext uri="{FF2B5EF4-FFF2-40B4-BE49-F238E27FC236}">
                <a16:creationId xmlns:a16="http://schemas.microsoft.com/office/drawing/2014/main" id="{50977883-01B3-F33A-1D92-EEF8BDCAFA1F}"/>
              </a:ext>
            </a:extLst>
          </p:cNvPr>
          <p:cNvSpPr>
            <a:spLocks noGrp="1"/>
          </p:cNvSpPr>
          <p:nvPr>
            <p:ph idx="1"/>
          </p:nvPr>
        </p:nvSpPr>
        <p:spPr>
          <a:xfrm>
            <a:off x="739043" y="2011569"/>
            <a:ext cx="9215314" cy="1842816"/>
          </a:xfrm>
        </p:spPr>
        <p:txBody>
          <a:bodyPr>
            <a:normAutofit/>
          </a:bodyPr>
          <a:lstStyle/>
          <a:p>
            <a:r>
              <a:rPr lang="en-IE" dirty="0"/>
              <a:t>Using distinct, we can gather unique values for a specific attribute.</a:t>
            </a:r>
          </a:p>
          <a:p>
            <a:endParaRPr lang="en-IE" dirty="0"/>
          </a:p>
          <a:p>
            <a:pPr marL="0" indent="0">
              <a:buNone/>
            </a:pPr>
            <a:endParaRPr lang="en-IE" dirty="0"/>
          </a:p>
          <a:p>
            <a:endParaRPr lang="en-IE" dirty="0"/>
          </a:p>
        </p:txBody>
      </p:sp>
      <p:sp>
        <p:nvSpPr>
          <p:cNvPr id="2" name="Slide Number Placeholder 1">
            <a:extLst>
              <a:ext uri="{FF2B5EF4-FFF2-40B4-BE49-F238E27FC236}">
                <a16:creationId xmlns:a16="http://schemas.microsoft.com/office/drawing/2014/main" id="{194D3AFA-45AA-16D9-71C5-6164BC1CA6A7}"/>
              </a:ext>
            </a:extLst>
          </p:cNvPr>
          <p:cNvSpPr>
            <a:spLocks noGrp="1"/>
          </p:cNvSpPr>
          <p:nvPr>
            <p:ph type="sldNum" sz="quarter" idx="12"/>
          </p:nvPr>
        </p:nvSpPr>
        <p:spPr/>
        <p:txBody>
          <a:bodyPr/>
          <a:lstStyle/>
          <a:p>
            <a:fld id="{1AE971F0-0CD2-4C47-8087-EBCE9716EA84}" type="slidenum">
              <a:rPr lang="en-GB" smtClean="0">
                <a:solidFill>
                  <a:schemeClr val="tx1"/>
                </a:solidFill>
              </a:rPr>
              <a:pPr/>
              <a:t>8</a:t>
            </a:fld>
            <a:endParaRPr lang="en-GB" dirty="0">
              <a:solidFill>
                <a:schemeClr val="tx1"/>
              </a:solidFill>
            </a:endParaRPr>
          </a:p>
        </p:txBody>
      </p:sp>
      <p:sp>
        <p:nvSpPr>
          <p:cNvPr id="6" name="TextBox 5">
            <a:extLst>
              <a:ext uri="{FF2B5EF4-FFF2-40B4-BE49-F238E27FC236}">
                <a16:creationId xmlns:a16="http://schemas.microsoft.com/office/drawing/2014/main" id="{BD539109-9605-005A-594D-E97F80C2FA48}"/>
              </a:ext>
            </a:extLst>
          </p:cNvPr>
          <p:cNvSpPr txBox="1"/>
          <p:nvPr/>
        </p:nvSpPr>
        <p:spPr>
          <a:xfrm>
            <a:off x="850900" y="3092450"/>
            <a:ext cx="8991600" cy="2031325"/>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 Count only contracts that have a non-null 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(wage) </a:t>
            </a:r>
            <a:r>
              <a:rPr lang="en-IE" sz="1800" b="1" dirty="0">
                <a:solidFill>
                  <a:srgbClr val="000080"/>
                </a:solidFill>
                <a:effectLst/>
                <a:latin typeface="Menlo" panose="020B0609030804020204" pitchFamily="49" charset="0"/>
              </a:rPr>
              <a:t>"Contracts with wage"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br>
              <a:rPr lang="en-IE" sz="1800" dirty="0">
                <a:solidFill>
                  <a:srgbClr val="000000"/>
                </a:solidFill>
                <a:effectLst/>
                <a:latin typeface="Menlo" panose="020B0609030804020204" pitchFamily="49" charset="0"/>
              </a:rPr>
            </a:b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 How many distinct clubs appear in the contracts table?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b="1" dirty="0">
                <a:solidFill>
                  <a:srgbClr val="800000"/>
                </a:solidFill>
                <a:effectLst/>
                <a:latin typeface="Menlo" panose="020B0609030804020204" pitchFamily="49" charset="0"/>
              </a:rPr>
              <a:t>DISTINCT</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club_id</a:t>
            </a:r>
            <a:r>
              <a:rPr lang="en-IE" sz="1800" dirty="0">
                <a:solidFill>
                  <a:srgbClr val="000000"/>
                </a:solidFill>
                <a:effectLst/>
                <a:latin typeface="Menlo" panose="020B0609030804020204" pitchFamily="49" charset="0"/>
              </a:rPr>
              <a:t>) </a:t>
            </a:r>
            <a:r>
              <a:rPr lang="en-IE" sz="1800" i="1" dirty="0">
                <a:solidFill>
                  <a:srgbClr val="006464"/>
                </a:solidFill>
                <a:effectLst/>
                <a:latin typeface="Menlo" panose="020B0609030804020204" pitchFamily="49" charset="0"/>
              </a:rPr>
              <a:t>"Unique wage values"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player_contracts</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578353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3" name="object 3"/>
          <p:cNvSpPr txBox="1">
            <a:spLocks noGrp="1"/>
          </p:cNvSpPr>
          <p:nvPr>
            <p:ph type="title"/>
          </p:nvPr>
        </p:nvSpPr>
        <p:spPr>
          <a:xfrm>
            <a:off x="924305" y="643578"/>
            <a:ext cx="8844789" cy="519116"/>
          </a:xfrm>
          <a:prstGeom prst="rect">
            <a:avLst/>
          </a:prstGeom>
        </p:spPr>
        <p:txBody>
          <a:bodyPr vert="horz" wrap="square" lIns="0" tIns="12700" rIns="0" bIns="0" rtlCol="0">
            <a:spAutoFit/>
          </a:bodyPr>
          <a:lstStyle/>
          <a:p>
            <a:pPr marL="12700"/>
            <a:r>
              <a:rPr dirty="0"/>
              <a:t>Creating Groups of Data:</a:t>
            </a:r>
            <a:r>
              <a:rPr lang="pt-BR" dirty="0"/>
              <a:t> </a:t>
            </a:r>
            <a:r>
              <a:rPr dirty="0"/>
              <a:t>GROUP BY</a:t>
            </a:r>
          </a:p>
        </p:txBody>
      </p:sp>
      <p:sp>
        <p:nvSpPr>
          <p:cNvPr id="17" name="TextBox 16">
            <a:extLst>
              <a:ext uri="{FF2B5EF4-FFF2-40B4-BE49-F238E27FC236}">
                <a16:creationId xmlns:a16="http://schemas.microsoft.com/office/drawing/2014/main" id="{EF08102F-5855-719C-361F-E683957B5A32}"/>
              </a:ext>
            </a:extLst>
          </p:cNvPr>
          <p:cNvSpPr txBox="1"/>
          <p:nvPr/>
        </p:nvSpPr>
        <p:spPr>
          <a:xfrm>
            <a:off x="546100" y="1627580"/>
            <a:ext cx="9465129" cy="1938992"/>
          </a:xfrm>
          <a:prstGeom prst="rect">
            <a:avLst/>
          </a:prstGeom>
          <a:noFill/>
        </p:spPr>
        <p:txBody>
          <a:bodyPr wrap="square" rtlCol="0">
            <a:spAutoFit/>
          </a:bodyPr>
          <a:lstStyle/>
          <a:p>
            <a:pPr marL="342900" indent="-342900">
              <a:buFont typeface="Arial" panose="020B0604020202020204" pitchFamily="34" charset="0"/>
              <a:buChar char="•"/>
            </a:pPr>
            <a:r>
              <a:rPr lang="en-IE" sz="2314" dirty="0"/>
              <a:t>When our select query mixes single row values with aggregate results, we must use GROUP BY, a statement used to aggregate specific values of an attribute according to a certain group.</a:t>
            </a:r>
          </a:p>
          <a:p>
            <a:pPr marL="342900" indent="-342900">
              <a:buFont typeface="Arial" panose="020B0604020202020204" pitchFamily="34" charset="0"/>
              <a:buChar char="•"/>
            </a:pPr>
            <a:r>
              <a:rPr lang="en-IE" sz="2314" dirty="0"/>
              <a:t>For example: if I want to count how many players each club has, I need to group the count values according to the </a:t>
            </a:r>
            <a:r>
              <a:rPr lang="en-IE" sz="2314" dirty="0" err="1"/>
              <a:t>club_name</a:t>
            </a:r>
            <a:r>
              <a:rPr lang="en-IE" sz="2314" dirty="0"/>
              <a:t>.</a:t>
            </a:r>
          </a:p>
        </p:txBody>
      </p:sp>
      <p:sp>
        <p:nvSpPr>
          <p:cNvPr id="5" name="TextBox 4">
            <a:extLst>
              <a:ext uri="{FF2B5EF4-FFF2-40B4-BE49-F238E27FC236}">
                <a16:creationId xmlns:a16="http://schemas.microsoft.com/office/drawing/2014/main" id="{4FA8A80F-6B9B-70EB-F4B9-9AC369E80C71}"/>
              </a:ext>
            </a:extLst>
          </p:cNvPr>
          <p:cNvSpPr txBox="1"/>
          <p:nvPr/>
        </p:nvSpPr>
        <p:spPr>
          <a:xfrm>
            <a:off x="986971" y="3930650"/>
            <a:ext cx="8534400" cy="1754326"/>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player_contracts.player_id</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"Players with contract"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clubs</a:t>
            </a:r>
          </a:p>
          <a:p>
            <a:pPr marL="0" marR="0">
              <a:buNone/>
            </a:pPr>
            <a:r>
              <a:rPr lang="en-IE" sz="1800" b="1" dirty="0">
                <a:solidFill>
                  <a:srgbClr val="800000"/>
                </a:solidFill>
                <a:effectLst/>
                <a:latin typeface="Menlo" panose="020B0609030804020204" pitchFamily="49" charset="0"/>
              </a:rPr>
              <a:t>LEFT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064482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45041-9E12-9198-54C2-31DE6C2E0E5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4E57DC2-53DC-3499-6652-047C5F90803F}"/>
              </a:ext>
            </a:extLst>
          </p:cNvPr>
          <p:cNvSpPr txBox="1">
            <a:spLocks noGrp="1"/>
          </p:cNvSpPr>
          <p:nvPr>
            <p:ph type="title"/>
          </p:nvPr>
        </p:nvSpPr>
        <p:spPr>
          <a:xfrm>
            <a:off x="924305" y="643578"/>
            <a:ext cx="8844789" cy="519116"/>
          </a:xfrm>
          <a:prstGeom prst="rect">
            <a:avLst/>
          </a:prstGeom>
        </p:spPr>
        <p:txBody>
          <a:bodyPr vert="horz" wrap="square" lIns="0" tIns="12700" rIns="0" bIns="0" rtlCol="0">
            <a:spAutoFit/>
          </a:bodyPr>
          <a:lstStyle/>
          <a:p>
            <a:pPr marL="12700"/>
            <a:r>
              <a:rPr lang="pt-BR" dirty="0" err="1"/>
              <a:t>Grouping</a:t>
            </a:r>
            <a:r>
              <a:rPr lang="pt-BR" dirty="0"/>
              <a:t> </a:t>
            </a:r>
            <a:r>
              <a:rPr lang="pt-BR" dirty="0" err="1"/>
              <a:t>by</a:t>
            </a:r>
            <a:r>
              <a:rPr lang="pt-BR" dirty="0"/>
              <a:t> </a:t>
            </a:r>
            <a:r>
              <a:rPr lang="pt-BR" dirty="0" err="1"/>
              <a:t>multiple</a:t>
            </a:r>
            <a:r>
              <a:rPr lang="pt-BR" dirty="0"/>
              <a:t> </a:t>
            </a:r>
            <a:r>
              <a:rPr lang="pt-BR" dirty="0" err="1"/>
              <a:t>groups</a:t>
            </a:r>
            <a:endParaRPr dirty="0"/>
          </a:p>
        </p:txBody>
      </p:sp>
      <p:sp>
        <p:nvSpPr>
          <p:cNvPr id="17" name="TextBox 16">
            <a:extLst>
              <a:ext uri="{FF2B5EF4-FFF2-40B4-BE49-F238E27FC236}">
                <a16:creationId xmlns:a16="http://schemas.microsoft.com/office/drawing/2014/main" id="{B549C3B4-5762-3AB8-875C-73C424891BDF}"/>
              </a:ext>
            </a:extLst>
          </p:cNvPr>
          <p:cNvSpPr txBox="1"/>
          <p:nvPr/>
        </p:nvSpPr>
        <p:spPr>
          <a:xfrm>
            <a:off x="614134" y="1376087"/>
            <a:ext cx="9465129" cy="2941318"/>
          </a:xfrm>
          <a:prstGeom prst="rect">
            <a:avLst/>
          </a:prstGeom>
          <a:noFill/>
        </p:spPr>
        <p:txBody>
          <a:bodyPr wrap="square" rtlCol="0">
            <a:spAutoFit/>
          </a:bodyPr>
          <a:lstStyle/>
          <a:p>
            <a:pPr marL="342900" indent="-342900">
              <a:buFont typeface="Arial" panose="020B0604020202020204" pitchFamily="34" charset="0"/>
              <a:buChar char="•"/>
            </a:pPr>
            <a:r>
              <a:rPr lang="en-IE" sz="2314" dirty="0"/>
              <a:t>You can group by more than one attribute to get summaries at different levels.</a:t>
            </a:r>
          </a:p>
          <a:p>
            <a:pPr marL="342900" indent="-342900">
              <a:buFont typeface="Arial" panose="020B0604020202020204" pitchFamily="34" charset="0"/>
              <a:buChar char="•"/>
            </a:pPr>
            <a:r>
              <a:rPr lang="en-IE" sz="2314" dirty="0"/>
              <a:t>In this example, we are calculating the average wage of players based on their club name and nationality. You will have duplicates on the nationality, as players from the same nationality can be in different clubs.</a:t>
            </a:r>
          </a:p>
          <a:p>
            <a:pPr marL="342900" indent="-342900">
              <a:buFont typeface="Arial" panose="020B0604020202020204" pitchFamily="34" charset="0"/>
              <a:buChar char="•"/>
            </a:pPr>
            <a:r>
              <a:rPr lang="en-IE" sz="2314" dirty="0"/>
              <a:t>We then order the data by two attributes: first, by nationality, then by average wage.</a:t>
            </a:r>
          </a:p>
        </p:txBody>
      </p:sp>
      <p:sp>
        <p:nvSpPr>
          <p:cNvPr id="6" name="TextBox 5">
            <a:extLst>
              <a:ext uri="{FF2B5EF4-FFF2-40B4-BE49-F238E27FC236}">
                <a16:creationId xmlns:a16="http://schemas.microsoft.com/office/drawing/2014/main" id="{4496C7F3-36ED-E052-1F80-86FEA8EC11EB}"/>
              </a:ext>
            </a:extLst>
          </p:cNvPr>
          <p:cNvSpPr txBox="1"/>
          <p:nvPr/>
        </p:nvSpPr>
        <p:spPr>
          <a:xfrm>
            <a:off x="952300" y="4327599"/>
            <a:ext cx="8791394" cy="2585323"/>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a:t>
            </a:r>
          </a:p>
          <a:p>
            <a:pPr marL="0" marR="0">
              <a:buNone/>
            </a:pPr>
            <a:r>
              <a:rPr lang="en-IE" sz="1800" dirty="0">
                <a:solidFill>
                  <a:srgbClr val="000000"/>
                </a:solidFill>
                <a:effectLst/>
                <a:latin typeface="Menlo" panose="020B0609030804020204" pitchFamily="49" charset="0"/>
              </a:rPr>
              <a:t>nationality,</a:t>
            </a:r>
          </a:p>
          <a:p>
            <a:pPr marL="0" marR="0">
              <a:buNone/>
            </a:pP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(wage),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"Average 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players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clubs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 nationality</a:t>
            </a: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3</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244546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1" name="object 11"/>
          <p:cNvSpPr txBox="1">
            <a:spLocks noGrp="1"/>
          </p:cNvSpPr>
          <p:nvPr>
            <p:ph type="title"/>
          </p:nvPr>
        </p:nvSpPr>
        <p:spPr>
          <a:xfrm>
            <a:off x="1073911" y="720818"/>
            <a:ext cx="7050405" cy="572336"/>
          </a:xfrm>
          <a:prstGeom prst="rect">
            <a:avLst/>
          </a:prstGeom>
        </p:spPr>
        <p:txBody>
          <a:bodyPr vert="horz" wrap="square" lIns="0" tIns="12700" rIns="0" bIns="0" rtlCol="0">
            <a:spAutoFit/>
          </a:bodyPr>
          <a:lstStyle/>
          <a:p>
            <a:pPr marL="12700">
              <a:lnSpc>
                <a:spcPct val="100000"/>
              </a:lnSpc>
              <a:spcBef>
                <a:spcPts val="100"/>
              </a:spcBef>
            </a:pPr>
            <a:r>
              <a:rPr lang="pt-BR" dirty="0"/>
              <a:t>The </a:t>
            </a:r>
            <a:r>
              <a:rPr lang="pt-BR" dirty="0" err="1"/>
              <a:t>avg</a:t>
            </a:r>
            <a:r>
              <a:rPr lang="pt-BR" dirty="0"/>
              <a:t>( ) </a:t>
            </a:r>
            <a:r>
              <a:rPr lang="pt-BR" dirty="0" err="1"/>
              <a:t>function</a:t>
            </a:r>
            <a:endParaRPr dirty="0"/>
          </a:p>
        </p:txBody>
      </p:sp>
      <p:sp>
        <p:nvSpPr>
          <p:cNvPr id="13" name="object 13"/>
          <p:cNvSpPr txBox="1"/>
          <p:nvPr/>
        </p:nvSpPr>
        <p:spPr>
          <a:xfrm>
            <a:off x="12700" y="1539927"/>
            <a:ext cx="9541329" cy="1188595"/>
          </a:xfrm>
          <a:prstGeom prst="rect">
            <a:avLst/>
          </a:prstGeom>
        </p:spPr>
        <p:txBody>
          <a:bodyPr vert="horz" wrap="square" lIns="0" tIns="13335" rIns="0" bIns="0" rtlCol="0">
            <a:spAutoFit/>
          </a:bodyPr>
          <a:lstStyle/>
          <a:p>
            <a:pPr marL="894715" marR="594995" indent="-342900">
              <a:lnSpc>
                <a:spcPts val="3120"/>
              </a:lnSpc>
              <a:spcBef>
                <a:spcPts val="105"/>
              </a:spcBef>
              <a:buFont typeface="Arial" panose="020B0604020202020204" pitchFamily="34" charset="0"/>
              <a:buChar char="•"/>
            </a:pPr>
            <a:r>
              <a:rPr lang="en-IE" sz="2314" dirty="0"/>
              <a:t>The average functions will present numeric values. Suppose we want to know the average wage for players according to the club they play for:</a:t>
            </a:r>
          </a:p>
        </p:txBody>
      </p:sp>
      <p:sp>
        <p:nvSpPr>
          <p:cNvPr id="7" name="TextBox 6">
            <a:extLst>
              <a:ext uri="{FF2B5EF4-FFF2-40B4-BE49-F238E27FC236}">
                <a16:creationId xmlns:a16="http://schemas.microsoft.com/office/drawing/2014/main" id="{7DE7192D-AC14-A8E5-F18A-F923422AE6D4}"/>
              </a:ext>
            </a:extLst>
          </p:cNvPr>
          <p:cNvSpPr txBox="1"/>
          <p:nvPr/>
        </p:nvSpPr>
        <p:spPr>
          <a:xfrm>
            <a:off x="840866" y="2975295"/>
            <a:ext cx="8751263" cy="2031325"/>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player_contracts.wage</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"Average 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clubs</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234486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8DB69-6467-63B8-4D4A-F487195979D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C0BF345-F6CA-9485-8371-3363536CCA5D}"/>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1" name="object 11">
            <a:extLst>
              <a:ext uri="{FF2B5EF4-FFF2-40B4-BE49-F238E27FC236}">
                <a16:creationId xmlns:a16="http://schemas.microsoft.com/office/drawing/2014/main" id="{23C0BB1D-A160-219E-F395-B64FE96D2983}"/>
              </a:ext>
            </a:extLst>
          </p:cNvPr>
          <p:cNvSpPr txBox="1">
            <a:spLocks noGrp="1"/>
          </p:cNvSpPr>
          <p:nvPr>
            <p:ph type="title"/>
          </p:nvPr>
        </p:nvSpPr>
        <p:spPr>
          <a:xfrm>
            <a:off x="1073911" y="720818"/>
            <a:ext cx="7050405" cy="572336"/>
          </a:xfrm>
          <a:prstGeom prst="rect">
            <a:avLst/>
          </a:prstGeom>
        </p:spPr>
        <p:txBody>
          <a:bodyPr vert="horz" wrap="square" lIns="0" tIns="12700" rIns="0" bIns="0" rtlCol="0">
            <a:spAutoFit/>
          </a:bodyPr>
          <a:lstStyle/>
          <a:p>
            <a:pPr marL="12700">
              <a:lnSpc>
                <a:spcPct val="100000"/>
              </a:lnSpc>
              <a:spcBef>
                <a:spcPts val="100"/>
              </a:spcBef>
            </a:pPr>
            <a:r>
              <a:rPr lang="pt-BR" dirty="0"/>
              <a:t>The </a:t>
            </a:r>
            <a:r>
              <a:rPr lang="pt-BR" dirty="0" err="1"/>
              <a:t>avg</a:t>
            </a:r>
            <a:r>
              <a:rPr lang="pt-BR" dirty="0"/>
              <a:t>( ) </a:t>
            </a:r>
            <a:r>
              <a:rPr lang="pt-BR" dirty="0" err="1"/>
              <a:t>function</a:t>
            </a:r>
            <a:endParaRPr dirty="0"/>
          </a:p>
        </p:txBody>
      </p:sp>
      <p:sp>
        <p:nvSpPr>
          <p:cNvPr id="13" name="object 13">
            <a:extLst>
              <a:ext uri="{FF2B5EF4-FFF2-40B4-BE49-F238E27FC236}">
                <a16:creationId xmlns:a16="http://schemas.microsoft.com/office/drawing/2014/main" id="{7967A2D3-7E22-31BE-3198-9F7412F18188}"/>
              </a:ext>
            </a:extLst>
          </p:cNvPr>
          <p:cNvSpPr txBox="1"/>
          <p:nvPr/>
        </p:nvSpPr>
        <p:spPr>
          <a:xfrm>
            <a:off x="12700" y="1539927"/>
            <a:ext cx="9541329" cy="791050"/>
          </a:xfrm>
          <a:prstGeom prst="rect">
            <a:avLst/>
          </a:prstGeom>
        </p:spPr>
        <p:txBody>
          <a:bodyPr vert="horz" wrap="square" lIns="0" tIns="13335" rIns="0" bIns="0" rtlCol="0">
            <a:spAutoFit/>
          </a:bodyPr>
          <a:lstStyle/>
          <a:p>
            <a:pPr marL="894715" marR="594995" indent="-342900">
              <a:lnSpc>
                <a:spcPts val="3120"/>
              </a:lnSpc>
              <a:spcBef>
                <a:spcPts val="105"/>
              </a:spcBef>
              <a:buFont typeface="Arial" panose="020B0604020202020204" pitchFamily="34" charset="0"/>
              <a:buChar char="•"/>
            </a:pPr>
            <a:r>
              <a:rPr lang="en-IE" sz="2314" dirty="0"/>
              <a:t>I can also check the average for the overall rating according to the nationality:</a:t>
            </a:r>
          </a:p>
        </p:txBody>
      </p:sp>
      <p:sp>
        <p:nvSpPr>
          <p:cNvPr id="4" name="TextBox 3">
            <a:extLst>
              <a:ext uri="{FF2B5EF4-FFF2-40B4-BE49-F238E27FC236}">
                <a16:creationId xmlns:a16="http://schemas.microsoft.com/office/drawing/2014/main" id="{F3AAD277-1B3F-5BC6-FC9E-A77A7A90B147}"/>
              </a:ext>
            </a:extLst>
          </p:cNvPr>
          <p:cNvSpPr txBox="1"/>
          <p:nvPr/>
        </p:nvSpPr>
        <p:spPr>
          <a:xfrm>
            <a:off x="948870" y="2711450"/>
            <a:ext cx="8893629" cy="2031325"/>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a:solidFill>
                  <a:srgbClr val="000000"/>
                </a:solidFill>
                <a:effectLst/>
                <a:latin typeface="Menlo" panose="020B0609030804020204" pitchFamily="49" charset="0"/>
              </a:rPr>
              <a:t>nationality,</a:t>
            </a:r>
          </a:p>
          <a:p>
            <a:pPr marL="0" marR="0">
              <a:buNone/>
            </a:pP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(overall) </a:t>
            </a:r>
            <a:r>
              <a:rPr lang="en-IE" sz="1800" b="1" dirty="0">
                <a:solidFill>
                  <a:srgbClr val="000080"/>
                </a:solidFill>
                <a:effectLst/>
                <a:latin typeface="Menlo" panose="020B0609030804020204" pitchFamily="49" charset="0"/>
              </a:rPr>
              <a:t>"Average overall"</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players</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player_attributes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nationality</a:t>
            </a: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89363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11300-978F-9D47-897D-433FD56CF78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B91478A-AB79-2C43-0E15-A9BC81F0CFB5}"/>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1" name="object 11">
            <a:extLst>
              <a:ext uri="{FF2B5EF4-FFF2-40B4-BE49-F238E27FC236}">
                <a16:creationId xmlns:a16="http://schemas.microsoft.com/office/drawing/2014/main" id="{89E57736-54AF-B4F2-4276-5965AD29350A}"/>
              </a:ext>
            </a:extLst>
          </p:cNvPr>
          <p:cNvSpPr txBox="1">
            <a:spLocks noGrp="1"/>
          </p:cNvSpPr>
          <p:nvPr>
            <p:ph type="title"/>
          </p:nvPr>
        </p:nvSpPr>
        <p:spPr>
          <a:xfrm>
            <a:off x="1073911" y="720818"/>
            <a:ext cx="7050405" cy="572336"/>
          </a:xfrm>
          <a:prstGeom prst="rect">
            <a:avLst/>
          </a:prstGeom>
        </p:spPr>
        <p:txBody>
          <a:bodyPr vert="horz" wrap="square" lIns="0" tIns="12700" rIns="0" bIns="0" rtlCol="0">
            <a:spAutoFit/>
          </a:bodyPr>
          <a:lstStyle/>
          <a:p>
            <a:pPr marL="12700">
              <a:lnSpc>
                <a:spcPct val="100000"/>
              </a:lnSpc>
              <a:spcBef>
                <a:spcPts val="100"/>
              </a:spcBef>
            </a:pPr>
            <a:r>
              <a:rPr lang="pt-BR" dirty="0" err="1"/>
              <a:t>Combining</a:t>
            </a:r>
            <a:r>
              <a:rPr lang="pt-BR" dirty="0"/>
              <a:t> </a:t>
            </a:r>
            <a:r>
              <a:rPr lang="pt-BR" dirty="0" err="1"/>
              <a:t>avg</a:t>
            </a:r>
            <a:r>
              <a:rPr lang="pt-BR" dirty="0"/>
              <a:t>( ) </a:t>
            </a:r>
            <a:r>
              <a:rPr lang="pt-BR" dirty="0" err="1"/>
              <a:t>and</a:t>
            </a:r>
            <a:r>
              <a:rPr lang="pt-BR" dirty="0"/>
              <a:t> </a:t>
            </a:r>
            <a:r>
              <a:rPr lang="pt-BR" dirty="0" err="1"/>
              <a:t>count</a:t>
            </a:r>
            <a:r>
              <a:rPr lang="pt-BR" dirty="0"/>
              <a:t>( )</a:t>
            </a:r>
            <a:endParaRPr dirty="0"/>
          </a:p>
        </p:txBody>
      </p:sp>
      <p:sp>
        <p:nvSpPr>
          <p:cNvPr id="13" name="object 13">
            <a:extLst>
              <a:ext uri="{FF2B5EF4-FFF2-40B4-BE49-F238E27FC236}">
                <a16:creationId xmlns:a16="http://schemas.microsoft.com/office/drawing/2014/main" id="{983DB3BA-ED8A-6C87-F48E-7392BD03722A}"/>
              </a:ext>
            </a:extLst>
          </p:cNvPr>
          <p:cNvSpPr txBox="1"/>
          <p:nvPr/>
        </p:nvSpPr>
        <p:spPr>
          <a:xfrm>
            <a:off x="622301" y="1899397"/>
            <a:ext cx="8153400" cy="1996509"/>
          </a:xfrm>
          <a:prstGeom prst="rect">
            <a:avLst/>
          </a:prstGeom>
        </p:spPr>
        <p:txBody>
          <a:bodyPr vert="horz" wrap="square" lIns="0" tIns="13335" rIns="0" bIns="0" rtlCol="0">
            <a:spAutoFit/>
          </a:bodyPr>
          <a:lstStyle/>
          <a:p>
            <a:pPr marL="894715" marR="594995" indent="-342900">
              <a:lnSpc>
                <a:spcPts val="3120"/>
              </a:lnSpc>
              <a:spcBef>
                <a:spcPts val="105"/>
              </a:spcBef>
              <a:buFont typeface="Arial" panose="020B0604020202020204" pitchFamily="34" charset="0"/>
              <a:buChar char="•"/>
            </a:pPr>
            <a:r>
              <a:rPr lang="en-IE" sz="2314" dirty="0"/>
              <a:t>We can also combine functions for more complex queries. </a:t>
            </a:r>
          </a:p>
          <a:p>
            <a:pPr marL="894715" marR="594995" indent="-342900">
              <a:lnSpc>
                <a:spcPts val="3120"/>
              </a:lnSpc>
              <a:spcBef>
                <a:spcPts val="105"/>
              </a:spcBef>
              <a:buFont typeface="Arial" panose="020B0604020202020204" pitchFamily="34" charset="0"/>
              <a:buChar char="•"/>
            </a:pPr>
            <a:r>
              <a:rPr lang="en-IE" sz="2314" dirty="0"/>
              <a:t>Suppose I want to get the average age of each player considering their nationality and how many players I have for each nationality:</a:t>
            </a:r>
          </a:p>
        </p:txBody>
      </p:sp>
      <p:sp>
        <p:nvSpPr>
          <p:cNvPr id="5" name="TextBox 4">
            <a:extLst>
              <a:ext uri="{FF2B5EF4-FFF2-40B4-BE49-F238E27FC236}">
                <a16:creationId xmlns:a16="http://schemas.microsoft.com/office/drawing/2014/main" id="{FFCD1CE4-08AE-A0B7-B952-BFE586A228D6}"/>
              </a:ext>
            </a:extLst>
          </p:cNvPr>
          <p:cNvSpPr txBox="1"/>
          <p:nvPr/>
        </p:nvSpPr>
        <p:spPr>
          <a:xfrm>
            <a:off x="1140006" y="4540250"/>
            <a:ext cx="5346700" cy="1754326"/>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nationality </a:t>
            </a:r>
            <a:r>
              <a:rPr lang="en-IE" sz="1800" b="1" dirty="0">
                <a:solidFill>
                  <a:srgbClr val="000080"/>
                </a:solidFill>
                <a:effectLst/>
                <a:latin typeface="Menlo" panose="020B0609030804020204" pitchFamily="49" charset="0"/>
              </a:rPr>
              <a:t>"Nationality"</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"Number of players"</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age</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1</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"Average 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players</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nationality</a:t>
            </a: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972794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3" name="object 13"/>
          <p:cNvSpPr txBox="1"/>
          <p:nvPr/>
        </p:nvSpPr>
        <p:spPr>
          <a:xfrm>
            <a:off x="393700" y="1785420"/>
            <a:ext cx="9688194" cy="1192506"/>
          </a:xfrm>
          <a:prstGeom prst="rect">
            <a:avLst/>
          </a:prstGeom>
        </p:spPr>
        <p:txBody>
          <a:bodyPr vert="horz" wrap="square" lIns="0" tIns="13335" rIns="0" bIns="0" rtlCol="0">
            <a:spAutoFit/>
          </a:bodyPr>
          <a:lstStyle/>
          <a:p>
            <a:pPr marL="894715" marR="594995" indent="-342900">
              <a:lnSpc>
                <a:spcPts val="3120"/>
              </a:lnSpc>
              <a:spcBef>
                <a:spcPts val="105"/>
              </a:spcBef>
              <a:buFont typeface="Arial" panose="020B0604020202020204" pitchFamily="34" charset="0"/>
              <a:buChar char="•"/>
            </a:pPr>
            <a:r>
              <a:rPr lang="en-IE" sz="2500" dirty="0">
                <a:latin typeface="Arial"/>
                <a:cs typeface="Arial"/>
              </a:rPr>
              <a:t>The sum function will present numeric values.</a:t>
            </a:r>
          </a:p>
          <a:p>
            <a:pPr marL="894715" marR="594995" indent="-342900">
              <a:lnSpc>
                <a:spcPts val="3120"/>
              </a:lnSpc>
              <a:spcBef>
                <a:spcPts val="105"/>
              </a:spcBef>
              <a:buFont typeface="Arial" panose="020B0604020202020204" pitchFamily="34" charset="0"/>
              <a:buChar char="•"/>
            </a:pPr>
            <a:r>
              <a:rPr lang="en-IE" sz="2500" dirty="0">
                <a:latin typeface="Arial"/>
                <a:cs typeface="Arial"/>
              </a:rPr>
              <a:t>Suppose you want to know how much each club spends on their players’ wages:</a:t>
            </a:r>
          </a:p>
        </p:txBody>
      </p:sp>
      <p:sp>
        <p:nvSpPr>
          <p:cNvPr id="6" name="Title 5">
            <a:extLst>
              <a:ext uri="{FF2B5EF4-FFF2-40B4-BE49-F238E27FC236}">
                <a16:creationId xmlns:a16="http://schemas.microsoft.com/office/drawing/2014/main" id="{72C0CF9B-C866-29E4-8425-876F9659EDCB}"/>
              </a:ext>
            </a:extLst>
          </p:cNvPr>
          <p:cNvSpPr>
            <a:spLocks noGrp="1"/>
          </p:cNvSpPr>
          <p:nvPr>
            <p:ph type="title"/>
          </p:nvPr>
        </p:nvSpPr>
        <p:spPr/>
        <p:txBody>
          <a:bodyPr/>
          <a:lstStyle/>
          <a:p>
            <a:r>
              <a:rPr lang="en-IE" dirty="0"/>
              <a:t>The sum( ) function</a:t>
            </a:r>
          </a:p>
        </p:txBody>
      </p:sp>
      <p:sp>
        <p:nvSpPr>
          <p:cNvPr id="8" name="TextBox 7">
            <a:extLst>
              <a:ext uri="{FF2B5EF4-FFF2-40B4-BE49-F238E27FC236}">
                <a16:creationId xmlns:a16="http://schemas.microsoft.com/office/drawing/2014/main" id="{845797D9-2593-D6D8-B81E-B019C963C260}"/>
              </a:ext>
            </a:extLst>
          </p:cNvPr>
          <p:cNvSpPr txBox="1"/>
          <p:nvPr/>
        </p:nvSpPr>
        <p:spPr>
          <a:xfrm>
            <a:off x="1127306" y="3473450"/>
            <a:ext cx="7114994" cy="2246769"/>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endParaRPr lang="en-IE" sz="2000" dirty="0">
              <a:solidFill>
                <a:srgbClr val="000000"/>
              </a:solidFill>
              <a:effectLst/>
              <a:latin typeface="Menlo" panose="020B0609030804020204" pitchFamily="49" charset="0"/>
            </a:endParaRPr>
          </a:p>
          <a:p>
            <a:pPr marL="0" marR="0">
              <a:buNone/>
            </a:pPr>
            <a:r>
              <a:rPr lang="en-IE" sz="2000" dirty="0" err="1">
                <a:solidFill>
                  <a:srgbClr val="000000"/>
                </a:solidFill>
                <a:effectLst/>
                <a:latin typeface="Menlo" panose="020B0609030804020204" pitchFamily="49" charset="0"/>
              </a:rPr>
              <a:t>clubs.club_name</a:t>
            </a:r>
            <a:r>
              <a:rPr lang="en-IE" sz="2000" dirty="0">
                <a:solidFill>
                  <a:srgbClr val="000000"/>
                </a:solidFill>
                <a:effectLst/>
                <a:latin typeface="Menlo" panose="020B0609030804020204" pitchFamily="49" charset="0"/>
              </a:rPr>
              <a:t>,</a:t>
            </a:r>
          </a:p>
          <a:p>
            <a:pPr marL="0" marR="0">
              <a:buNone/>
            </a:pPr>
            <a:r>
              <a:rPr lang="en-IE" sz="2000" b="1" dirty="0">
                <a:solidFill>
                  <a:srgbClr val="000080"/>
                </a:solidFill>
                <a:effectLst/>
                <a:latin typeface="Menlo" panose="020B0609030804020204" pitchFamily="49" charset="0"/>
              </a:rPr>
              <a:t>SUM</a:t>
            </a:r>
            <a:r>
              <a:rPr lang="en-IE" sz="2000" dirty="0">
                <a:solidFill>
                  <a:srgbClr val="000000"/>
                </a:solidFill>
                <a:effectLst/>
                <a:latin typeface="Menlo" panose="020B0609030804020204" pitchFamily="49" charset="0"/>
              </a:rPr>
              <a:t>(wage) </a:t>
            </a:r>
            <a:r>
              <a:rPr lang="en-IE" sz="2000" b="1" dirty="0">
                <a:solidFill>
                  <a:srgbClr val="000080"/>
                </a:solidFill>
                <a:effectLst/>
                <a:latin typeface="Menlo" panose="020B0609030804020204" pitchFamily="49" charset="0"/>
              </a:rPr>
              <a:t>"Wage bill"</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clubs</a:t>
            </a:r>
          </a:p>
          <a:p>
            <a:pPr marL="0" marR="0">
              <a:buNone/>
            </a:pPr>
            <a:r>
              <a:rPr lang="en-IE" sz="2000" b="1" dirty="0">
                <a:solidFill>
                  <a:srgbClr val="800000"/>
                </a:solidFill>
                <a:effectLst/>
                <a:latin typeface="Menlo" panose="020B0609030804020204" pitchFamily="49" charset="0"/>
              </a:rPr>
              <a:t>JOIN</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player_contracts</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USING</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club_id</a:t>
            </a:r>
            <a:r>
              <a:rPr lang="en-IE" sz="2000" dirty="0">
                <a:solidFill>
                  <a:srgbClr val="000000"/>
                </a:solidFill>
                <a:effectLst/>
                <a:latin typeface="Menlo" panose="020B0609030804020204" pitchFamily="49" charset="0"/>
              </a:rPr>
              <a:t>)</a:t>
            </a:r>
          </a:p>
          <a:p>
            <a:pPr marL="0" marR="0">
              <a:buNone/>
            </a:pPr>
            <a:r>
              <a:rPr lang="en-IE" sz="2000" b="1" dirty="0">
                <a:solidFill>
                  <a:srgbClr val="800000"/>
                </a:solidFill>
                <a:effectLst/>
                <a:latin typeface="Menlo" panose="020B0609030804020204" pitchFamily="49" charset="0"/>
              </a:rPr>
              <a:t>GROUP</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BY</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club_name</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ORDER</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BY</a:t>
            </a:r>
            <a:r>
              <a:rPr lang="en-IE" sz="2000" dirty="0">
                <a:solidFill>
                  <a:srgbClr val="000000"/>
                </a:solidFill>
                <a:effectLst/>
                <a:latin typeface="Menlo" panose="020B0609030804020204" pitchFamily="49" charset="0"/>
              </a:rPr>
              <a:t> </a:t>
            </a:r>
            <a:r>
              <a:rPr lang="en-IE" sz="2000" dirty="0">
                <a:solidFill>
                  <a:srgbClr val="0000FF"/>
                </a:solidFill>
                <a:effectLst/>
                <a:latin typeface="Menlo" panose="020B0609030804020204" pitchFamily="49" charset="0"/>
              </a:rPr>
              <a:t>2</a:t>
            </a:r>
            <a:r>
              <a:rPr lang="en-IE" sz="2000" dirty="0">
                <a:solidFill>
                  <a:srgbClr val="000000"/>
                </a:solidFill>
                <a:effectLst/>
                <a:latin typeface="Menlo" panose="020B0609030804020204" pitchFamily="49" charset="0"/>
              </a:rPr>
              <a:t> </a:t>
            </a:r>
            <a:r>
              <a:rPr lang="en-IE" sz="2000" b="1" dirty="0">
                <a:solidFill>
                  <a:srgbClr val="800000"/>
                </a:solidFill>
                <a:effectLst/>
                <a:latin typeface="Menlo" panose="020B0609030804020204" pitchFamily="49" charset="0"/>
              </a:rPr>
              <a:t>DESC</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4185350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ABF91-4640-60DA-66F4-CA6A32833F3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A429241-33A7-A5AB-8908-B6E6060A385C}"/>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3" name="object 13">
            <a:extLst>
              <a:ext uri="{FF2B5EF4-FFF2-40B4-BE49-F238E27FC236}">
                <a16:creationId xmlns:a16="http://schemas.microsoft.com/office/drawing/2014/main" id="{87E2A4C7-1FFD-961F-EFCB-09AFE4C39733}"/>
              </a:ext>
            </a:extLst>
          </p:cNvPr>
          <p:cNvSpPr txBox="1"/>
          <p:nvPr/>
        </p:nvSpPr>
        <p:spPr>
          <a:xfrm>
            <a:off x="393700" y="1785420"/>
            <a:ext cx="9688194" cy="1590051"/>
          </a:xfrm>
          <a:prstGeom prst="rect">
            <a:avLst/>
          </a:prstGeom>
        </p:spPr>
        <p:txBody>
          <a:bodyPr vert="horz" wrap="square" lIns="0" tIns="13335" rIns="0" bIns="0" rtlCol="0">
            <a:spAutoFit/>
          </a:bodyPr>
          <a:lstStyle/>
          <a:p>
            <a:pPr marL="894715" marR="594995" indent="-342900">
              <a:lnSpc>
                <a:spcPts val="3120"/>
              </a:lnSpc>
              <a:spcBef>
                <a:spcPts val="105"/>
              </a:spcBef>
              <a:buFont typeface="Arial" panose="020B0604020202020204" pitchFamily="34" charset="0"/>
              <a:buChar char="•"/>
            </a:pPr>
            <a:r>
              <a:rPr lang="en-IE" sz="2500" dirty="0">
                <a:latin typeface="Arial"/>
                <a:cs typeface="Arial"/>
              </a:rPr>
              <a:t>These functions will give you the extreme values for an attribute.</a:t>
            </a:r>
          </a:p>
          <a:p>
            <a:pPr marL="894715" marR="594995" indent="-342900">
              <a:lnSpc>
                <a:spcPts val="3120"/>
              </a:lnSpc>
              <a:spcBef>
                <a:spcPts val="105"/>
              </a:spcBef>
              <a:buFont typeface="Arial" panose="020B0604020202020204" pitchFamily="34" charset="0"/>
              <a:buChar char="•"/>
            </a:pPr>
            <a:r>
              <a:rPr lang="en-IE" sz="2500" dirty="0">
                <a:latin typeface="Arial"/>
                <a:cs typeface="Arial"/>
              </a:rPr>
              <a:t>For example, we can retrieve the minimum and maximum wage a player can get.</a:t>
            </a:r>
          </a:p>
        </p:txBody>
      </p:sp>
      <p:sp>
        <p:nvSpPr>
          <p:cNvPr id="6" name="Title 5">
            <a:extLst>
              <a:ext uri="{FF2B5EF4-FFF2-40B4-BE49-F238E27FC236}">
                <a16:creationId xmlns:a16="http://schemas.microsoft.com/office/drawing/2014/main" id="{D76774A4-543C-AC55-E740-F41B24B1491E}"/>
              </a:ext>
            </a:extLst>
          </p:cNvPr>
          <p:cNvSpPr>
            <a:spLocks noGrp="1"/>
          </p:cNvSpPr>
          <p:nvPr>
            <p:ph type="title"/>
          </p:nvPr>
        </p:nvSpPr>
        <p:spPr/>
        <p:txBody>
          <a:bodyPr/>
          <a:lstStyle/>
          <a:p>
            <a:r>
              <a:rPr lang="en-IE" dirty="0"/>
              <a:t>min( ) and max( )</a:t>
            </a:r>
          </a:p>
        </p:txBody>
      </p:sp>
      <p:sp>
        <p:nvSpPr>
          <p:cNvPr id="4" name="TextBox 3">
            <a:extLst>
              <a:ext uri="{FF2B5EF4-FFF2-40B4-BE49-F238E27FC236}">
                <a16:creationId xmlns:a16="http://schemas.microsoft.com/office/drawing/2014/main" id="{54F7C869-8A33-41C3-C12C-BC9551B918F3}"/>
              </a:ext>
            </a:extLst>
          </p:cNvPr>
          <p:cNvSpPr txBox="1"/>
          <p:nvPr/>
        </p:nvSpPr>
        <p:spPr>
          <a:xfrm>
            <a:off x="1114606" y="3964337"/>
            <a:ext cx="5346700" cy="1569660"/>
          </a:xfrm>
          <a:prstGeom prst="rect">
            <a:avLst/>
          </a:prstGeom>
          <a:noFill/>
        </p:spPr>
        <p:txBody>
          <a:bodyPr wrap="square">
            <a:spAutoFit/>
          </a:bodyPr>
          <a:lstStyle/>
          <a:p>
            <a:pPr marL="0" marR="0">
              <a:buNone/>
            </a:pPr>
            <a:r>
              <a:rPr lang="en-IE" sz="2400" b="1" dirty="0">
                <a:solidFill>
                  <a:srgbClr val="800000"/>
                </a:solidFill>
                <a:effectLst/>
                <a:latin typeface="Menlo" panose="020B0609030804020204" pitchFamily="49" charset="0"/>
              </a:rPr>
              <a:t>SELECT</a:t>
            </a:r>
            <a:endParaRPr lang="en-IE" sz="2400" dirty="0">
              <a:solidFill>
                <a:srgbClr val="000000"/>
              </a:solidFill>
              <a:effectLst/>
              <a:latin typeface="Menlo" panose="020B0609030804020204" pitchFamily="49" charset="0"/>
            </a:endParaRPr>
          </a:p>
          <a:p>
            <a:pPr marL="0" marR="0">
              <a:buNone/>
            </a:pPr>
            <a:r>
              <a:rPr lang="en-IE" sz="2400" b="1" dirty="0">
                <a:solidFill>
                  <a:srgbClr val="000080"/>
                </a:solidFill>
                <a:effectLst/>
                <a:latin typeface="Menlo" panose="020B0609030804020204" pitchFamily="49" charset="0"/>
              </a:rPr>
              <a:t>MIN</a:t>
            </a:r>
            <a:r>
              <a:rPr lang="en-IE" sz="2400" dirty="0">
                <a:solidFill>
                  <a:srgbClr val="000000"/>
                </a:solidFill>
                <a:effectLst/>
                <a:latin typeface="Menlo" panose="020B0609030804020204" pitchFamily="49" charset="0"/>
              </a:rPr>
              <a:t>(wage) </a:t>
            </a:r>
            <a:r>
              <a:rPr lang="en-IE" sz="2400" b="1" dirty="0">
                <a:solidFill>
                  <a:srgbClr val="000080"/>
                </a:solidFill>
                <a:effectLst/>
                <a:latin typeface="Menlo" panose="020B0609030804020204" pitchFamily="49" charset="0"/>
              </a:rPr>
              <a:t>"Minimum wage"</a:t>
            </a:r>
            <a:r>
              <a:rPr lang="en-IE" sz="2400" dirty="0">
                <a:solidFill>
                  <a:srgbClr val="000000"/>
                </a:solidFill>
                <a:effectLst/>
                <a:latin typeface="Menlo" panose="020B0609030804020204" pitchFamily="49" charset="0"/>
              </a:rPr>
              <a:t>,</a:t>
            </a:r>
          </a:p>
          <a:p>
            <a:pPr marL="0" marR="0">
              <a:buNone/>
            </a:pPr>
            <a:r>
              <a:rPr lang="en-IE" sz="2400" b="1" dirty="0">
                <a:solidFill>
                  <a:srgbClr val="000080"/>
                </a:solidFill>
                <a:effectLst/>
                <a:latin typeface="Menlo" panose="020B0609030804020204" pitchFamily="49" charset="0"/>
              </a:rPr>
              <a:t>MAX</a:t>
            </a:r>
            <a:r>
              <a:rPr lang="en-IE" sz="2400" dirty="0">
                <a:solidFill>
                  <a:srgbClr val="000000"/>
                </a:solidFill>
                <a:effectLst/>
                <a:latin typeface="Menlo" panose="020B0609030804020204" pitchFamily="49" charset="0"/>
              </a:rPr>
              <a:t>(wage) </a:t>
            </a:r>
            <a:r>
              <a:rPr lang="en-IE" sz="2400" b="1" dirty="0">
                <a:solidFill>
                  <a:srgbClr val="000080"/>
                </a:solidFill>
                <a:effectLst/>
                <a:latin typeface="Menlo" panose="020B0609030804020204" pitchFamily="49" charset="0"/>
              </a:rPr>
              <a:t>"Maximum wage"</a:t>
            </a:r>
            <a:endParaRPr lang="en-IE" sz="2400" dirty="0">
              <a:solidFill>
                <a:srgbClr val="000000"/>
              </a:solidFill>
              <a:effectLst/>
              <a:latin typeface="Menlo" panose="020B0609030804020204" pitchFamily="49" charset="0"/>
            </a:endParaRPr>
          </a:p>
          <a:p>
            <a:pPr marL="0" marR="0">
              <a:buNone/>
            </a:pPr>
            <a:r>
              <a:rPr lang="en-IE" sz="2400" b="1" dirty="0">
                <a:solidFill>
                  <a:srgbClr val="800000"/>
                </a:solidFill>
                <a:effectLst/>
                <a:latin typeface="Menlo" panose="020B0609030804020204" pitchFamily="49" charset="0"/>
              </a:rPr>
              <a:t>FROM</a:t>
            </a:r>
            <a:r>
              <a:rPr lang="en-IE" sz="2400" dirty="0">
                <a:solidFill>
                  <a:srgbClr val="000000"/>
                </a:solidFill>
                <a:effectLst/>
                <a:latin typeface="Menlo" panose="020B0609030804020204" pitchFamily="49" charset="0"/>
              </a:rPr>
              <a:t> </a:t>
            </a:r>
            <a:r>
              <a:rPr lang="en-IE" sz="2400" dirty="0" err="1">
                <a:solidFill>
                  <a:srgbClr val="000000"/>
                </a:solidFill>
                <a:effectLst/>
                <a:latin typeface="Menlo" panose="020B0609030804020204" pitchFamily="49" charset="0"/>
              </a:rPr>
              <a:t>player_contracts</a:t>
            </a:r>
            <a:r>
              <a:rPr lang="en-IE" sz="2400" dirty="0">
                <a:solidFill>
                  <a:srgbClr val="FF0000"/>
                </a:solidFill>
                <a:effectLst/>
                <a:latin typeface="Menlo" panose="020B0609030804020204" pitchFamily="49" charset="0"/>
              </a:rPr>
              <a:t>;</a:t>
            </a:r>
            <a:endParaRPr lang="en-IE"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86356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07D45-886A-7105-EDF4-7DF30DFFC5A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5E4CD9B-3169-D2F8-7C1C-6D2BAA5CBB74}"/>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3" name="object 13">
            <a:extLst>
              <a:ext uri="{FF2B5EF4-FFF2-40B4-BE49-F238E27FC236}">
                <a16:creationId xmlns:a16="http://schemas.microsoft.com/office/drawing/2014/main" id="{796AB693-F7A0-F70D-9CBD-FE4AFEAE97A2}"/>
              </a:ext>
            </a:extLst>
          </p:cNvPr>
          <p:cNvSpPr txBox="1"/>
          <p:nvPr/>
        </p:nvSpPr>
        <p:spPr>
          <a:xfrm>
            <a:off x="393700" y="1785420"/>
            <a:ext cx="9688194" cy="782137"/>
          </a:xfrm>
          <a:prstGeom prst="rect">
            <a:avLst/>
          </a:prstGeom>
        </p:spPr>
        <p:txBody>
          <a:bodyPr vert="horz" wrap="square" lIns="0" tIns="13335" rIns="0" bIns="0" rtlCol="0">
            <a:spAutoFit/>
          </a:bodyPr>
          <a:lstStyle/>
          <a:p>
            <a:pPr marL="894715" marR="594995" indent="-342900">
              <a:lnSpc>
                <a:spcPts val="3120"/>
              </a:lnSpc>
              <a:spcBef>
                <a:spcPts val="105"/>
              </a:spcBef>
              <a:buFont typeface="Arial" panose="020B0604020202020204" pitchFamily="34" charset="0"/>
              <a:buChar char="•"/>
            </a:pPr>
            <a:r>
              <a:rPr lang="en-IE" sz="2500" dirty="0">
                <a:latin typeface="Arial"/>
                <a:cs typeface="Arial"/>
              </a:rPr>
              <a:t>We can use min( ) and max( ) with date data type arguments.</a:t>
            </a:r>
          </a:p>
        </p:txBody>
      </p:sp>
      <p:sp>
        <p:nvSpPr>
          <p:cNvPr id="6" name="Title 5">
            <a:extLst>
              <a:ext uri="{FF2B5EF4-FFF2-40B4-BE49-F238E27FC236}">
                <a16:creationId xmlns:a16="http://schemas.microsoft.com/office/drawing/2014/main" id="{0ACDBC52-E8CA-52CB-BDE1-BC154D850387}"/>
              </a:ext>
            </a:extLst>
          </p:cNvPr>
          <p:cNvSpPr>
            <a:spLocks noGrp="1"/>
          </p:cNvSpPr>
          <p:nvPr>
            <p:ph type="title"/>
          </p:nvPr>
        </p:nvSpPr>
        <p:spPr/>
        <p:txBody>
          <a:bodyPr/>
          <a:lstStyle/>
          <a:p>
            <a:r>
              <a:rPr lang="en-IE" dirty="0"/>
              <a:t>min( ) and max( ) with dates</a:t>
            </a:r>
          </a:p>
        </p:txBody>
      </p:sp>
      <p:sp>
        <p:nvSpPr>
          <p:cNvPr id="5" name="TextBox 4">
            <a:extLst>
              <a:ext uri="{FF2B5EF4-FFF2-40B4-BE49-F238E27FC236}">
                <a16:creationId xmlns:a16="http://schemas.microsoft.com/office/drawing/2014/main" id="{C788F3FC-E668-FC5D-C9E0-A2991D99E58A}"/>
              </a:ext>
            </a:extLst>
          </p:cNvPr>
          <p:cNvSpPr txBox="1"/>
          <p:nvPr/>
        </p:nvSpPr>
        <p:spPr>
          <a:xfrm>
            <a:off x="1267232" y="3116530"/>
            <a:ext cx="7941129" cy="1323439"/>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endParaRPr lang="en-IE" sz="2000" dirty="0">
              <a:solidFill>
                <a:srgbClr val="000000"/>
              </a:solidFill>
              <a:effectLst/>
              <a:latin typeface="Menlo" panose="020B0609030804020204" pitchFamily="49" charset="0"/>
            </a:endParaRPr>
          </a:p>
          <a:p>
            <a:pPr marL="0" marR="0">
              <a:buNone/>
            </a:pPr>
            <a:r>
              <a:rPr lang="en-IE" sz="2000" b="1" dirty="0">
                <a:solidFill>
                  <a:srgbClr val="000080"/>
                </a:solidFill>
                <a:effectLst/>
                <a:latin typeface="Menlo" panose="020B0609030804020204" pitchFamily="49" charset="0"/>
              </a:rPr>
              <a:t>MIN</a:t>
            </a:r>
            <a:r>
              <a:rPr lang="en-IE" sz="2000" dirty="0">
                <a:solidFill>
                  <a:srgbClr val="000000"/>
                </a:solidFill>
                <a:effectLst/>
                <a:latin typeface="Menlo" panose="020B0609030804020204" pitchFamily="49" charset="0"/>
              </a:rPr>
              <a:t>(joined) </a:t>
            </a:r>
            <a:r>
              <a:rPr lang="en-IE" sz="2000" b="1" dirty="0">
                <a:solidFill>
                  <a:srgbClr val="000080"/>
                </a:solidFill>
                <a:effectLst/>
                <a:latin typeface="Menlo" panose="020B0609030804020204" pitchFamily="49" charset="0"/>
              </a:rPr>
              <a:t>"Earliest contract"</a:t>
            </a:r>
            <a:r>
              <a:rPr lang="en-IE" sz="2000" dirty="0">
                <a:solidFill>
                  <a:srgbClr val="000000"/>
                </a:solidFill>
                <a:effectLst/>
                <a:latin typeface="Menlo" panose="020B0609030804020204" pitchFamily="49" charset="0"/>
              </a:rPr>
              <a:t>,</a:t>
            </a:r>
          </a:p>
          <a:p>
            <a:pPr marL="0" marR="0">
              <a:buNone/>
            </a:pPr>
            <a:r>
              <a:rPr lang="en-IE" sz="2000" b="1" dirty="0">
                <a:solidFill>
                  <a:srgbClr val="000080"/>
                </a:solidFill>
                <a:effectLst/>
                <a:latin typeface="Menlo" panose="020B0609030804020204" pitchFamily="49" charset="0"/>
              </a:rPr>
              <a:t>MAX</a:t>
            </a:r>
            <a:r>
              <a:rPr lang="en-IE" sz="2000" dirty="0">
                <a:solidFill>
                  <a:srgbClr val="000000"/>
                </a:solidFill>
                <a:effectLst/>
                <a:latin typeface="Menlo" panose="020B0609030804020204" pitchFamily="49" charset="0"/>
              </a:rPr>
              <a:t>(</a:t>
            </a:r>
            <a:r>
              <a:rPr lang="en-IE" sz="2000" dirty="0" err="1">
                <a:solidFill>
                  <a:srgbClr val="000000"/>
                </a:solidFill>
                <a:effectLst/>
                <a:latin typeface="Menlo" panose="020B0609030804020204" pitchFamily="49" charset="0"/>
              </a:rPr>
              <a:t>contract_valid_until</a:t>
            </a:r>
            <a:r>
              <a:rPr lang="en-IE" sz="2000" dirty="0">
                <a:solidFill>
                  <a:srgbClr val="000000"/>
                </a:solidFill>
                <a:effectLst/>
                <a:latin typeface="Menlo" panose="020B0609030804020204" pitchFamily="49" charset="0"/>
              </a:rPr>
              <a:t>) </a:t>
            </a:r>
            <a:r>
              <a:rPr lang="en-IE" sz="2000" b="1" dirty="0">
                <a:solidFill>
                  <a:srgbClr val="000080"/>
                </a:solidFill>
                <a:effectLst/>
                <a:latin typeface="Menlo" panose="020B0609030804020204" pitchFamily="49" charset="0"/>
              </a:rPr>
              <a:t>"Latest contract"</a:t>
            </a:r>
            <a:endParaRPr lang="en-IE" sz="2000" dirty="0">
              <a:solidFill>
                <a:srgbClr val="000000"/>
              </a:solidFill>
              <a:effectLst/>
              <a:latin typeface="Menlo" panose="020B0609030804020204" pitchFamily="49" charset="0"/>
            </a:endParaRPr>
          </a:p>
          <a:p>
            <a:pPr marL="0" marR="0">
              <a:buNone/>
            </a:pP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player_contracts</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4218486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0454C-0D37-410E-8973-3AA3B657CD6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8DBC470-83A1-59E5-85B7-6A7482EC4EA9}"/>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3" name="object 13">
            <a:extLst>
              <a:ext uri="{FF2B5EF4-FFF2-40B4-BE49-F238E27FC236}">
                <a16:creationId xmlns:a16="http://schemas.microsoft.com/office/drawing/2014/main" id="{F4939B64-44C3-6607-702A-034482DF28D5}"/>
              </a:ext>
            </a:extLst>
          </p:cNvPr>
          <p:cNvSpPr txBox="1"/>
          <p:nvPr/>
        </p:nvSpPr>
        <p:spPr>
          <a:xfrm>
            <a:off x="393700" y="1785420"/>
            <a:ext cx="9688194" cy="782137"/>
          </a:xfrm>
          <a:prstGeom prst="rect">
            <a:avLst/>
          </a:prstGeom>
        </p:spPr>
        <p:txBody>
          <a:bodyPr vert="horz" wrap="square" lIns="0" tIns="13335" rIns="0" bIns="0" rtlCol="0">
            <a:spAutoFit/>
          </a:bodyPr>
          <a:lstStyle/>
          <a:p>
            <a:pPr marL="894715" marR="594995" indent="-342900">
              <a:lnSpc>
                <a:spcPts val="3120"/>
              </a:lnSpc>
              <a:spcBef>
                <a:spcPts val="105"/>
              </a:spcBef>
              <a:buFont typeface="Arial" panose="020B0604020202020204" pitchFamily="34" charset="0"/>
              <a:buChar char="•"/>
            </a:pPr>
            <a:r>
              <a:rPr lang="en-IE" sz="2500" dirty="0">
                <a:latin typeface="Arial"/>
                <a:cs typeface="Arial"/>
              </a:rPr>
              <a:t>When dealing with text, min and max consider the order of the alphabet.</a:t>
            </a:r>
          </a:p>
        </p:txBody>
      </p:sp>
      <p:sp>
        <p:nvSpPr>
          <p:cNvPr id="6" name="Title 5">
            <a:extLst>
              <a:ext uri="{FF2B5EF4-FFF2-40B4-BE49-F238E27FC236}">
                <a16:creationId xmlns:a16="http://schemas.microsoft.com/office/drawing/2014/main" id="{776F67BD-5AC6-A1E0-916A-B3A2CFE32D5A}"/>
              </a:ext>
            </a:extLst>
          </p:cNvPr>
          <p:cNvSpPr>
            <a:spLocks noGrp="1"/>
          </p:cNvSpPr>
          <p:nvPr>
            <p:ph type="title"/>
          </p:nvPr>
        </p:nvSpPr>
        <p:spPr/>
        <p:txBody>
          <a:bodyPr/>
          <a:lstStyle/>
          <a:p>
            <a:r>
              <a:rPr lang="en-IE" dirty="0"/>
              <a:t>min( ) and max( ) with string</a:t>
            </a:r>
          </a:p>
        </p:txBody>
      </p:sp>
      <p:sp>
        <p:nvSpPr>
          <p:cNvPr id="4" name="TextBox 3">
            <a:extLst>
              <a:ext uri="{FF2B5EF4-FFF2-40B4-BE49-F238E27FC236}">
                <a16:creationId xmlns:a16="http://schemas.microsoft.com/office/drawing/2014/main" id="{33FF7FC1-52B9-0C98-F271-F53FBC83E72F}"/>
              </a:ext>
            </a:extLst>
          </p:cNvPr>
          <p:cNvSpPr txBox="1"/>
          <p:nvPr/>
        </p:nvSpPr>
        <p:spPr>
          <a:xfrm>
            <a:off x="1308100" y="3178085"/>
            <a:ext cx="5346700" cy="1323439"/>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p>
          <a:p>
            <a:pPr marL="0" marR="0">
              <a:buNone/>
            </a:pPr>
            <a:r>
              <a:rPr lang="en-IE" sz="2000" b="1" dirty="0">
                <a:solidFill>
                  <a:srgbClr val="000080"/>
                </a:solidFill>
                <a:effectLst/>
                <a:latin typeface="Menlo" panose="020B0609030804020204" pitchFamily="49" charset="0"/>
              </a:rPr>
              <a:t>MIN</a:t>
            </a:r>
            <a:r>
              <a:rPr lang="en-IE" sz="2000" dirty="0">
                <a:solidFill>
                  <a:srgbClr val="000000"/>
                </a:solidFill>
                <a:effectLst/>
                <a:latin typeface="Menlo" panose="020B0609030804020204" pitchFamily="49" charset="0"/>
              </a:rPr>
              <a:t>(</a:t>
            </a:r>
            <a:r>
              <a:rPr lang="en-IE" sz="2000" dirty="0" err="1">
                <a:solidFill>
                  <a:srgbClr val="000000"/>
                </a:solidFill>
                <a:effectLst/>
                <a:latin typeface="Menlo" panose="020B0609030804020204" pitchFamily="49" charset="0"/>
              </a:rPr>
              <a:t>player_name</a:t>
            </a:r>
            <a:r>
              <a:rPr lang="en-IE" sz="2000" dirty="0">
                <a:solidFill>
                  <a:srgbClr val="000000"/>
                </a:solidFill>
                <a:effectLst/>
                <a:latin typeface="Menlo" panose="020B0609030804020204" pitchFamily="49" charset="0"/>
              </a:rPr>
              <a:t>),</a:t>
            </a:r>
          </a:p>
          <a:p>
            <a:pPr marL="0" marR="0">
              <a:buNone/>
            </a:pPr>
            <a:r>
              <a:rPr lang="en-IE" sz="2000" b="1" dirty="0">
                <a:solidFill>
                  <a:srgbClr val="000080"/>
                </a:solidFill>
                <a:effectLst/>
                <a:latin typeface="Menlo" panose="020B0609030804020204" pitchFamily="49" charset="0"/>
              </a:rPr>
              <a:t>MAX</a:t>
            </a:r>
            <a:r>
              <a:rPr lang="en-IE" sz="2000" dirty="0">
                <a:solidFill>
                  <a:srgbClr val="000000"/>
                </a:solidFill>
                <a:effectLst/>
                <a:latin typeface="Menlo" panose="020B0609030804020204" pitchFamily="49" charset="0"/>
              </a:rPr>
              <a:t>(</a:t>
            </a:r>
            <a:r>
              <a:rPr lang="en-IE" sz="2000" dirty="0" err="1">
                <a:solidFill>
                  <a:srgbClr val="000000"/>
                </a:solidFill>
                <a:effectLst/>
                <a:latin typeface="Menlo" panose="020B0609030804020204" pitchFamily="49" charset="0"/>
              </a:rPr>
              <a:t>player_name</a:t>
            </a:r>
            <a:r>
              <a:rPr lang="en-IE" sz="2000" dirty="0">
                <a:solidFill>
                  <a:srgbClr val="000000"/>
                </a:solidFill>
                <a:effectLst/>
                <a:latin typeface="Menlo" panose="020B0609030804020204" pitchFamily="49" charset="0"/>
              </a:rPr>
              <a:t>)</a:t>
            </a:r>
          </a:p>
          <a:p>
            <a:pPr marL="0" marR="0">
              <a:buNone/>
            </a:pP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players</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492873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6" name="Title 5">
            <a:extLst>
              <a:ext uri="{FF2B5EF4-FFF2-40B4-BE49-F238E27FC236}">
                <a16:creationId xmlns:a16="http://schemas.microsoft.com/office/drawing/2014/main" id="{D3935F3D-7846-D764-89A1-DDBA85791B5D}"/>
              </a:ext>
            </a:extLst>
          </p:cNvPr>
          <p:cNvSpPr>
            <a:spLocks noGrp="1"/>
          </p:cNvSpPr>
          <p:nvPr>
            <p:ph type="title"/>
          </p:nvPr>
        </p:nvSpPr>
        <p:spPr/>
        <p:txBody>
          <a:bodyPr/>
          <a:lstStyle/>
          <a:p>
            <a:r>
              <a:rPr lang="en-IE" dirty="0"/>
              <a:t>HAVING</a:t>
            </a:r>
          </a:p>
        </p:txBody>
      </p:sp>
      <p:sp>
        <p:nvSpPr>
          <p:cNvPr id="8" name="object 13">
            <a:extLst>
              <a:ext uri="{FF2B5EF4-FFF2-40B4-BE49-F238E27FC236}">
                <a16:creationId xmlns:a16="http://schemas.microsoft.com/office/drawing/2014/main" id="{E303AFEA-7F67-BA69-F78D-C0DC3507AE0F}"/>
              </a:ext>
            </a:extLst>
          </p:cNvPr>
          <p:cNvSpPr txBox="1"/>
          <p:nvPr/>
        </p:nvSpPr>
        <p:spPr>
          <a:xfrm>
            <a:off x="393700" y="1785420"/>
            <a:ext cx="9688194" cy="1590051"/>
          </a:xfrm>
          <a:prstGeom prst="rect">
            <a:avLst/>
          </a:prstGeom>
        </p:spPr>
        <p:txBody>
          <a:bodyPr vert="horz" wrap="square" lIns="0" tIns="13335" rIns="0" bIns="0" rtlCol="0">
            <a:spAutoFit/>
          </a:bodyPr>
          <a:lstStyle/>
          <a:p>
            <a:pPr marL="766763" marR="594995" indent="-215900">
              <a:lnSpc>
                <a:spcPts val="3120"/>
              </a:lnSpc>
              <a:spcBef>
                <a:spcPts val="105"/>
              </a:spcBef>
              <a:buFont typeface="Arial" panose="020B0604020202020204" pitchFamily="34" charset="0"/>
              <a:buChar char="•"/>
            </a:pPr>
            <a:r>
              <a:rPr lang="en-IE" sz="2500" dirty="0">
                <a:latin typeface="Arial"/>
                <a:cs typeface="Arial"/>
              </a:rPr>
              <a:t>So far, we have been using the command WHERE when applying a specific condition for data retrieval.</a:t>
            </a:r>
          </a:p>
          <a:p>
            <a:pPr marL="766763" marR="594995" indent="-215900">
              <a:lnSpc>
                <a:spcPts val="3120"/>
              </a:lnSpc>
              <a:spcBef>
                <a:spcPts val="105"/>
              </a:spcBef>
              <a:buFont typeface="Arial" panose="020B0604020202020204" pitchFamily="34" charset="0"/>
              <a:buChar char="•"/>
            </a:pPr>
            <a:r>
              <a:rPr lang="en-IE" sz="2500" dirty="0">
                <a:latin typeface="Arial"/>
                <a:cs typeface="Arial"/>
              </a:rPr>
              <a:t>However, that will not work when this condition includes an aggregate function. Let’s try the example below:</a:t>
            </a:r>
          </a:p>
        </p:txBody>
      </p:sp>
      <p:sp>
        <p:nvSpPr>
          <p:cNvPr id="11" name="TextBox 10">
            <a:extLst>
              <a:ext uri="{FF2B5EF4-FFF2-40B4-BE49-F238E27FC236}">
                <a16:creationId xmlns:a16="http://schemas.microsoft.com/office/drawing/2014/main" id="{B274BD18-99F0-87D3-ACE7-69C0954D64B7}"/>
              </a:ext>
            </a:extLst>
          </p:cNvPr>
          <p:cNvSpPr txBox="1"/>
          <p:nvPr/>
        </p:nvSpPr>
        <p:spPr>
          <a:xfrm>
            <a:off x="1114606" y="4016754"/>
            <a:ext cx="7826830" cy="1477328"/>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 Clubs with average wage higher than 50,000</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(wage),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"Average 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(wage) &gt; </a:t>
            </a:r>
            <a:r>
              <a:rPr lang="en-IE" sz="1800" dirty="0">
                <a:solidFill>
                  <a:srgbClr val="0000FF"/>
                </a:solidFill>
                <a:effectLst/>
                <a:latin typeface="Menlo" panose="020B0609030804020204" pitchFamily="49" charset="0"/>
              </a:rPr>
              <a:t>50000</a:t>
            </a:r>
            <a:r>
              <a:rPr lang="en-IE" sz="1800" dirty="0">
                <a:solidFill>
                  <a:srgbClr val="FF0000"/>
                </a:solidFill>
                <a:effectLst/>
                <a:latin typeface="Menlo" panose="020B0609030804020204" pitchFamily="49" charset="0"/>
              </a:rPr>
              <a:t>;</a:t>
            </a:r>
            <a:r>
              <a:rPr lang="en-IE" sz="1800" dirty="0">
                <a:solidFill>
                  <a:srgbClr val="000000"/>
                </a:solidFill>
                <a:effectLst/>
                <a:latin typeface="Menlo" panose="020B0609030804020204" pitchFamily="49" charset="0"/>
              </a:rPr>
              <a:t> </a:t>
            </a:r>
          </a:p>
        </p:txBody>
      </p:sp>
    </p:spTree>
    <p:extLst>
      <p:ext uri="{BB962C8B-B14F-4D97-AF65-F5344CB8AC3E}">
        <p14:creationId xmlns:p14="http://schemas.microsoft.com/office/powerpoint/2010/main" val="2647492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9C9ACE-2F30-8FA8-4427-BBCF088427A9}"/>
              </a:ext>
            </a:extLst>
          </p:cNvPr>
          <p:cNvSpPr>
            <a:spLocks noGrp="1"/>
          </p:cNvSpPr>
          <p:nvPr>
            <p:ph type="title"/>
          </p:nvPr>
        </p:nvSpPr>
        <p:spPr>
          <a:xfrm>
            <a:off x="735171" y="120650"/>
            <a:ext cx="9223058" cy="1460574"/>
          </a:xfrm>
        </p:spPr>
        <p:txBody>
          <a:bodyPr/>
          <a:lstStyle/>
          <a:p>
            <a:r>
              <a:rPr lang="en-IE" dirty="0"/>
              <a:t>WHERE and HAVING</a:t>
            </a:r>
          </a:p>
        </p:txBody>
      </p:sp>
      <p:sp>
        <p:nvSpPr>
          <p:cNvPr id="7" name="object 13">
            <a:extLst>
              <a:ext uri="{FF2B5EF4-FFF2-40B4-BE49-F238E27FC236}">
                <a16:creationId xmlns:a16="http://schemas.microsoft.com/office/drawing/2014/main" id="{834E016D-B3B7-70B9-B5CE-4BB5E95CA8A3}"/>
              </a:ext>
            </a:extLst>
          </p:cNvPr>
          <p:cNvSpPr txBox="1"/>
          <p:nvPr/>
        </p:nvSpPr>
        <p:spPr>
          <a:xfrm>
            <a:off x="393700" y="1187450"/>
            <a:ext cx="9564529" cy="5223289"/>
          </a:xfrm>
          <a:prstGeom prst="rect">
            <a:avLst/>
          </a:prstGeom>
        </p:spPr>
        <p:txBody>
          <a:bodyPr vert="horz" wrap="square" lIns="0" tIns="13335" rIns="0" bIns="0" rtlCol="0">
            <a:spAutoFit/>
          </a:bodyPr>
          <a:lstStyle/>
          <a:p>
            <a:pPr marL="766763" marR="594995" indent="-215900">
              <a:lnSpc>
                <a:spcPts val="3120"/>
              </a:lnSpc>
              <a:spcBef>
                <a:spcPts val="105"/>
              </a:spcBef>
              <a:buFont typeface="Arial" panose="020B0604020202020204" pitchFamily="34" charset="0"/>
              <a:buChar char="•"/>
            </a:pPr>
            <a:r>
              <a:rPr lang="en-IE" sz="2200" dirty="0">
                <a:latin typeface="Arial"/>
                <a:cs typeface="Arial"/>
              </a:rPr>
              <a:t>An SQL query is executed in this order:</a:t>
            </a:r>
          </a:p>
          <a:p>
            <a:pPr marL="550863" marR="594995">
              <a:lnSpc>
                <a:spcPts val="3120"/>
              </a:lnSpc>
              <a:spcBef>
                <a:spcPts val="105"/>
              </a:spcBef>
            </a:pPr>
            <a:endParaRPr lang="en-IE" sz="2200" dirty="0">
              <a:latin typeface="Arial"/>
              <a:cs typeface="Arial"/>
            </a:endParaRPr>
          </a:p>
          <a:p>
            <a:pPr marL="550863" marR="594995">
              <a:lnSpc>
                <a:spcPts val="3120"/>
              </a:lnSpc>
              <a:spcBef>
                <a:spcPts val="105"/>
              </a:spcBef>
            </a:pPr>
            <a:r>
              <a:rPr lang="en-IE" sz="2200" b="1" dirty="0">
                <a:latin typeface="Arial"/>
                <a:cs typeface="Arial"/>
              </a:rPr>
              <a:t>FROM → WHERE → GROUP BY → HAVING → SELECT → ORDER BY</a:t>
            </a:r>
          </a:p>
          <a:p>
            <a:pPr marL="550863" marR="594995">
              <a:lnSpc>
                <a:spcPts val="3120"/>
              </a:lnSpc>
              <a:spcBef>
                <a:spcPts val="105"/>
              </a:spcBef>
            </a:pPr>
            <a:endParaRPr lang="en-IE" sz="2200" dirty="0">
              <a:latin typeface="Arial"/>
              <a:cs typeface="Arial"/>
            </a:endParaRPr>
          </a:p>
          <a:p>
            <a:pPr marL="893763" marR="594995" indent="-342900">
              <a:lnSpc>
                <a:spcPts val="3120"/>
              </a:lnSpc>
              <a:spcBef>
                <a:spcPts val="105"/>
              </a:spcBef>
              <a:buFont typeface="Arial" panose="020B0604020202020204" pitchFamily="34" charset="0"/>
              <a:buChar char="•"/>
            </a:pPr>
            <a:r>
              <a:rPr lang="en-IE" sz="2200" dirty="0">
                <a:latin typeface="Arial"/>
                <a:cs typeface="Arial"/>
              </a:rPr>
              <a:t>WHERE applies the specific condition BEFORE the data is grouped. In the previous example, it tried to filter the </a:t>
            </a:r>
            <a:r>
              <a:rPr lang="en-IE" sz="2200" dirty="0" err="1">
                <a:latin typeface="Arial"/>
                <a:cs typeface="Arial"/>
              </a:rPr>
              <a:t>avg</a:t>
            </a:r>
            <a:r>
              <a:rPr lang="en-IE" sz="2200" dirty="0">
                <a:latin typeface="Arial"/>
                <a:cs typeface="Arial"/>
              </a:rPr>
              <a:t>(wage) before the values were grouped according to the </a:t>
            </a:r>
            <a:r>
              <a:rPr lang="en-IE" sz="2200" dirty="0" err="1">
                <a:latin typeface="Arial"/>
                <a:cs typeface="Arial"/>
              </a:rPr>
              <a:t>club_id</a:t>
            </a:r>
            <a:r>
              <a:rPr lang="en-IE" sz="2200" dirty="0">
                <a:latin typeface="Arial"/>
                <a:cs typeface="Arial"/>
              </a:rPr>
              <a:t>. </a:t>
            </a:r>
          </a:p>
          <a:p>
            <a:pPr marL="893763" marR="594995" indent="-342900">
              <a:lnSpc>
                <a:spcPts val="3120"/>
              </a:lnSpc>
              <a:spcBef>
                <a:spcPts val="105"/>
              </a:spcBef>
              <a:buFont typeface="Arial" panose="020B0604020202020204" pitchFamily="34" charset="0"/>
              <a:buChar char="•"/>
            </a:pPr>
            <a:r>
              <a:rPr lang="en-IE" sz="2200" dirty="0">
                <a:latin typeface="Arial"/>
                <a:cs typeface="Arial"/>
              </a:rPr>
              <a:t>HAVING selects group rows after groups and aggregates are computed.</a:t>
            </a:r>
          </a:p>
          <a:p>
            <a:pPr marL="893763" marR="594995" indent="-342900">
              <a:lnSpc>
                <a:spcPts val="3120"/>
              </a:lnSpc>
              <a:spcBef>
                <a:spcPts val="105"/>
              </a:spcBef>
              <a:buFont typeface="Arial" panose="020B0604020202020204" pitchFamily="34" charset="0"/>
              <a:buChar char="•"/>
            </a:pPr>
            <a:r>
              <a:rPr lang="en-IE" sz="2200" dirty="0">
                <a:latin typeface="Arial"/>
                <a:cs typeface="Arial"/>
              </a:rPr>
              <a:t>The WHERE clause must not contain aggregate functions, as it makes no sense to use an aggregate to determine which rows will be inputs to the aggregates. </a:t>
            </a:r>
          </a:p>
        </p:txBody>
      </p:sp>
    </p:spTree>
    <p:extLst>
      <p:ext uri="{BB962C8B-B14F-4D97-AF65-F5344CB8AC3E}">
        <p14:creationId xmlns:p14="http://schemas.microsoft.com/office/powerpoint/2010/main" val="2656647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698500" y="2101850"/>
            <a:ext cx="9067800" cy="2171748"/>
          </a:xfrm>
          <a:prstGeom prst="rect">
            <a:avLst/>
          </a:prstGeom>
        </p:spPr>
        <p:txBody>
          <a:bodyPr vert="horz" wrap="square" lIns="0" tIns="12065" rIns="0" bIns="0" rtlCol="0">
            <a:spAutoFit/>
          </a:bodyPr>
          <a:lstStyle/>
          <a:p>
            <a:pPr marL="469265" marR="254000" indent="-457200">
              <a:lnSpc>
                <a:spcPts val="3379"/>
              </a:lnSpc>
              <a:spcBef>
                <a:spcPts val="95"/>
              </a:spcBef>
              <a:buClr>
                <a:srgbClr val="727CA3"/>
              </a:buClr>
              <a:buSzPct val="77777"/>
              <a:buFont typeface="Arial" panose="020B0604020202020204" pitchFamily="34" charset="0"/>
              <a:buChar char="•"/>
              <a:tabLst>
                <a:tab pos="302260" algn="l"/>
                <a:tab pos="302895" algn="l"/>
              </a:tabLst>
            </a:pPr>
            <a:r>
              <a:rPr lang="en-IE" sz="2400" dirty="0">
                <a:latin typeface="Helvetica" pitchFamily="2" charset="0"/>
                <a:cs typeface="Arial"/>
              </a:rPr>
              <a:t>When you use the </a:t>
            </a:r>
            <a:r>
              <a:rPr lang="en-IE" sz="2400" dirty="0">
                <a:latin typeface="Helvetica" pitchFamily="2" charset="0"/>
                <a:cs typeface="Courier New"/>
              </a:rPr>
              <a:t>HAVING </a:t>
            </a:r>
            <a:r>
              <a:rPr lang="en-IE" sz="2400" dirty="0">
                <a:latin typeface="Helvetica" pitchFamily="2" charset="0"/>
                <a:cs typeface="Arial"/>
              </a:rPr>
              <a:t>clause, the PostgreSQL server restricts groups as follows:</a:t>
            </a:r>
          </a:p>
          <a:p>
            <a:pPr marL="815975" lvl="1" indent="-514350">
              <a:lnSpc>
                <a:spcPct val="100000"/>
              </a:lnSpc>
              <a:spcBef>
                <a:spcPts val="434"/>
              </a:spcBef>
              <a:buFont typeface="+mj-lt"/>
              <a:buAutoNum type="arabicPeriod"/>
              <a:tabLst>
                <a:tab pos="593090" algn="l"/>
              </a:tabLst>
            </a:pPr>
            <a:r>
              <a:rPr lang="en-IE" sz="2400" dirty="0">
                <a:solidFill>
                  <a:srgbClr val="464653"/>
                </a:solidFill>
                <a:latin typeface="Helvetica" pitchFamily="2" charset="0"/>
                <a:cs typeface="Arial"/>
              </a:rPr>
              <a:t>Rows are grouped by the expression you have given.</a:t>
            </a:r>
            <a:endParaRPr lang="en-IE" sz="2400" dirty="0">
              <a:latin typeface="Helvetica" pitchFamily="2" charset="0"/>
              <a:cs typeface="Arial"/>
            </a:endParaRPr>
          </a:p>
          <a:p>
            <a:pPr marL="815975" lvl="1" indent="-514350">
              <a:lnSpc>
                <a:spcPct val="100000"/>
              </a:lnSpc>
              <a:spcBef>
                <a:spcPts val="620"/>
              </a:spcBef>
              <a:buFont typeface="+mj-lt"/>
              <a:buAutoNum type="arabicPeriod"/>
              <a:tabLst>
                <a:tab pos="593090" algn="l"/>
              </a:tabLst>
            </a:pPr>
            <a:r>
              <a:rPr lang="en-IE" sz="2400" dirty="0">
                <a:solidFill>
                  <a:srgbClr val="464653"/>
                </a:solidFill>
                <a:latin typeface="Helvetica" pitchFamily="2" charset="0"/>
                <a:cs typeface="Arial"/>
              </a:rPr>
              <a:t>The group function is applied.</a:t>
            </a:r>
            <a:endParaRPr lang="en-IE" sz="2400" dirty="0">
              <a:latin typeface="Helvetica" pitchFamily="2" charset="0"/>
              <a:cs typeface="Arial"/>
            </a:endParaRPr>
          </a:p>
          <a:p>
            <a:pPr marL="815975" lvl="1" indent="-514350">
              <a:lnSpc>
                <a:spcPct val="100000"/>
              </a:lnSpc>
              <a:spcBef>
                <a:spcPts val="434"/>
              </a:spcBef>
              <a:buFont typeface="+mj-lt"/>
              <a:buAutoNum type="arabicPeriod"/>
              <a:tabLst>
                <a:tab pos="593090" algn="l"/>
              </a:tabLst>
            </a:pPr>
            <a:r>
              <a:rPr lang="en-IE" sz="2400" dirty="0">
                <a:solidFill>
                  <a:srgbClr val="464653"/>
                </a:solidFill>
                <a:latin typeface="Helvetica" pitchFamily="2" charset="0"/>
                <a:cs typeface="Arial"/>
              </a:rPr>
              <a:t>Groups matching the </a:t>
            </a:r>
            <a:r>
              <a:rPr lang="en-IE" sz="2400" dirty="0">
                <a:solidFill>
                  <a:srgbClr val="464653"/>
                </a:solidFill>
                <a:latin typeface="Helvetica" pitchFamily="2" charset="0"/>
                <a:cs typeface="Courier New"/>
              </a:rPr>
              <a:t>HAVING </a:t>
            </a:r>
            <a:r>
              <a:rPr lang="en-IE" sz="2400" dirty="0">
                <a:solidFill>
                  <a:srgbClr val="464653"/>
                </a:solidFill>
                <a:latin typeface="Helvetica" pitchFamily="2" charset="0"/>
                <a:cs typeface="Arial"/>
              </a:rPr>
              <a:t>clause are displayed.</a:t>
            </a:r>
            <a:endParaRPr lang="en-IE" sz="2400" dirty="0">
              <a:latin typeface="Helvetica" pitchFamily="2" charset="0"/>
              <a:cs typeface="Arial"/>
            </a:endParaRPr>
          </a:p>
        </p:txBody>
      </p:sp>
      <p:sp>
        <p:nvSpPr>
          <p:cNvPr id="3" name="Title 2">
            <a:extLst>
              <a:ext uri="{FF2B5EF4-FFF2-40B4-BE49-F238E27FC236}">
                <a16:creationId xmlns:a16="http://schemas.microsoft.com/office/drawing/2014/main" id="{DF8E4652-467B-DE69-0949-008FBD3BF126}"/>
              </a:ext>
            </a:extLst>
          </p:cNvPr>
          <p:cNvSpPr>
            <a:spLocks noGrp="1"/>
          </p:cNvSpPr>
          <p:nvPr>
            <p:ph type="title"/>
          </p:nvPr>
        </p:nvSpPr>
        <p:spPr/>
        <p:txBody>
          <a:bodyPr/>
          <a:lstStyle/>
          <a:p>
            <a:r>
              <a:rPr lang="en-IE" dirty="0"/>
              <a:t>Restricting group results with HAVING</a:t>
            </a:r>
          </a:p>
        </p:txBody>
      </p:sp>
    </p:spTree>
    <p:extLst>
      <p:ext uri="{BB962C8B-B14F-4D97-AF65-F5344CB8AC3E}">
        <p14:creationId xmlns:p14="http://schemas.microsoft.com/office/powerpoint/2010/main" val="3347086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3D7E-F862-1D39-2B18-5F88BFFEB4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8E76B3-FA51-C2A9-8AA2-A7FAE80C36AD}"/>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16" name="TextBox 15">
            <a:extLst>
              <a:ext uri="{FF2B5EF4-FFF2-40B4-BE49-F238E27FC236}">
                <a16:creationId xmlns:a16="http://schemas.microsoft.com/office/drawing/2014/main" id="{54513004-4D0F-DB81-86B8-ADB8FCAB4D6E}"/>
              </a:ext>
            </a:extLst>
          </p:cNvPr>
          <p:cNvSpPr txBox="1"/>
          <p:nvPr/>
        </p:nvSpPr>
        <p:spPr>
          <a:xfrm>
            <a:off x="850900" y="1949450"/>
            <a:ext cx="8855530" cy="2677656"/>
          </a:xfrm>
          <a:prstGeom prst="rect">
            <a:avLst/>
          </a:prstGeom>
          <a:noFill/>
        </p:spPr>
        <p:txBody>
          <a:bodyPr wrap="square">
            <a:spAutoFit/>
          </a:bodyPr>
          <a:lstStyle/>
          <a:p>
            <a:pPr marL="457200" indent="-457200">
              <a:buFont typeface="Arial" panose="020B0604020202020204" pitchFamily="34" charset="0"/>
              <a:buChar char="•"/>
            </a:pPr>
            <a:r>
              <a:rPr lang="en-GB" sz="2400" dirty="0">
                <a:latin typeface="Helvetica" pitchFamily="2" charset="0"/>
                <a:cs typeface="Calibri" panose="020F0502020204030204" pitchFamily="34" charset="0"/>
              </a:rPr>
              <a:t>The FILTER clause in SQL is used with aggregate functions to apply conditions to specific rows </a:t>
            </a:r>
            <a:r>
              <a:rPr lang="en-GB" sz="2400" b="1" dirty="0">
                <a:latin typeface="Helvetica" pitchFamily="2" charset="0"/>
                <a:cs typeface="Calibri" panose="020F0502020204030204" pitchFamily="34" charset="0"/>
              </a:rPr>
              <a:t>before performing the aggregation</a:t>
            </a:r>
            <a:r>
              <a:rPr lang="en-GB" sz="2400" dirty="0">
                <a:latin typeface="Helvetica" pitchFamily="2" charset="0"/>
                <a:cs typeface="Calibri" panose="020F0502020204030204" pitchFamily="34" charset="0"/>
              </a:rPr>
              <a:t>. </a:t>
            </a:r>
          </a:p>
          <a:p>
            <a:pPr marL="457200" indent="-457200">
              <a:buFont typeface="Arial" panose="020B0604020202020204" pitchFamily="34" charset="0"/>
              <a:buChar char="•"/>
            </a:pPr>
            <a:endParaRPr lang="en-GB" sz="2400" dirty="0">
              <a:latin typeface="Helvetica" pitchFamily="2" charset="0"/>
              <a:cs typeface="Calibri" panose="020F0502020204030204" pitchFamily="34" charset="0"/>
            </a:endParaRPr>
          </a:p>
          <a:p>
            <a:pPr marL="457200" indent="-457200">
              <a:buFont typeface="Arial" panose="020B0604020202020204" pitchFamily="34" charset="0"/>
              <a:buChar char="•"/>
            </a:pPr>
            <a:r>
              <a:rPr lang="en-GB" sz="2400" dirty="0">
                <a:latin typeface="Helvetica" pitchFamily="2" charset="0"/>
                <a:cs typeface="Calibri" panose="020F0502020204030204" pitchFamily="34" charset="0"/>
              </a:rPr>
              <a:t>The FILTER (WHERE …) clause limits which rows are included in a specific aggregate calculation,</a:t>
            </a:r>
            <a:br>
              <a:rPr lang="en-GB" sz="2400" dirty="0">
                <a:latin typeface="Helvetica" pitchFamily="2" charset="0"/>
                <a:cs typeface="Calibri" panose="020F0502020204030204" pitchFamily="34" charset="0"/>
              </a:rPr>
            </a:br>
            <a:r>
              <a:rPr lang="en-GB" sz="2400" dirty="0">
                <a:latin typeface="Helvetica" pitchFamily="2" charset="0"/>
                <a:cs typeface="Calibri" panose="020F0502020204030204" pitchFamily="34" charset="0"/>
              </a:rPr>
              <a:t>without affecting the rest of the query.</a:t>
            </a:r>
            <a:endParaRPr lang="pt-PT" sz="2400" dirty="0">
              <a:latin typeface="Helvetica" pitchFamily="2" charset="0"/>
              <a:cs typeface="Calibri" panose="020F0502020204030204" pitchFamily="34" charset="0"/>
            </a:endParaRPr>
          </a:p>
        </p:txBody>
      </p:sp>
      <p:sp>
        <p:nvSpPr>
          <p:cNvPr id="4" name="Title 3">
            <a:extLst>
              <a:ext uri="{FF2B5EF4-FFF2-40B4-BE49-F238E27FC236}">
                <a16:creationId xmlns:a16="http://schemas.microsoft.com/office/drawing/2014/main" id="{80E8169E-35F6-3A56-E09B-7D159E1508A3}"/>
              </a:ext>
            </a:extLst>
          </p:cNvPr>
          <p:cNvSpPr>
            <a:spLocks noGrp="1"/>
          </p:cNvSpPr>
          <p:nvPr>
            <p:ph type="title"/>
          </p:nvPr>
        </p:nvSpPr>
        <p:spPr/>
        <p:txBody>
          <a:bodyPr/>
          <a:lstStyle/>
          <a:p>
            <a:r>
              <a:rPr lang="en-IE" dirty="0"/>
              <a:t>FILTER + WHERE</a:t>
            </a:r>
          </a:p>
        </p:txBody>
      </p:sp>
    </p:spTree>
    <p:extLst>
      <p:ext uri="{BB962C8B-B14F-4D97-AF65-F5344CB8AC3E}">
        <p14:creationId xmlns:p14="http://schemas.microsoft.com/office/powerpoint/2010/main" val="3514460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7C56A6-BEF5-72FC-BE6F-975FC185D755}"/>
              </a:ext>
            </a:extLst>
          </p:cNvPr>
          <p:cNvSpPr>
            <a:spLocks noGrp="1"/>
          </p:cNvSpPr>
          <p:nvPr>
            <p:ph type="title"/>
          </p:nvPr>
        </p:nvSpPr>
        <p:spPr/>
        <p:txBody>
          <a:bodyPr/>
          <a:lstStyle/>
          <a:p>
            <a:r>
              <a:rPr lang="en-IE" dirty="0"/>
              <a:t>Filter</a:t>
            </a:r>
          </a:p>
        </p:txBody>
      </p:sp>
      <p:sp>
        <p:nvSpPr>
          <p:cNvPr id="6" name="TextBox 5">
            <a:extLst>
              <a:ext uri="{FF2B5EF4-FFF2-40B4-BE49-F238E27FC236}">
                <a16:creationId xmlns:a16="http://schemas.microsoft.com/office/drawing/2014/main" id="{18EA4C0D-AD6D-975D-63B4-12E9FCAB89BE}"/>
              </a:ext>
            </a:extLst>
          </p:cNvPr>
          <p:cNvSpPr txBox="1"/>
          <p:nvPr/>
        </p:nvSpPr>
        <p:spPr>
          <a:xfrm>
            <a:off x="722471" y="1492250"/>
            <a:ext cx="8855530" cy="1569660"/>
          </a:xfrm>
          <a:prstGeom prst="rect">
            <a:avLst/>
          </a:prstGeom>
          <a:noFill/>
        </p:spPr>
        <p:txBody>
          <a:bodyPr wrap="square">
            <a:spAutoFit/>
          </a:bodyPr>
          <a:lstStyle/>
          <a:p>
            <a:pPr marL="457200" indent="-457200">
              <a:buFont typeface="Arial" panose="020B0604020202020204" pitchFamily="34" charset="0"/>
              <a:buChar char="•"/>
            </a:pPr>
            <a:r>
              <a:rPr lang="en-IE" sz="2400" dirty="0">
                <a:latin typeface="Helvetica" pitchFamily="2" charset="0"/>
                <a:cs typeface="Calibri" panose="020F0502020204030204" pitchFamily="34" charset="0"/>
              </a:rPr>
              <a:t>In the following example, we will retrieve:</a:t>
            </a:r>
          </a:p>
          <a:p>
            <a:pPr marL="914400" lvl="1" indent="-457200">
              <a:buFont typeface="Arial" panose="020B0604020202020204" pitchFamily="34" charset="0"/>
              <a:buChar char="•"/>
            </a:pPr>
            <a:r>
              <a:rPr lang="en-IE" sz="2400" dirty="0">
                <a:latin typeface="Helvetica" pitchFamily="2" charset="0"/>
                <a:cs typeface="Calibri" panose="020F0502020204030204" pitchFamily="34" charset="0"/>
              </a:rPr>
              <a:t>The number of players</a:t>
            </a:r>
          </a:p>
          <a:p>
            <a:pPr marL="914400" lvl="1" indent="-457200">
              <a:buFont typeface="Arial" panose="020B0604020202020204" pitchFamily="34" charset="0"/>
              <a:buChar char="•"/>
            </a:pPr>
            <a:r>
              <a:rPr lang="en-IE" sz="2400" dirty="0">
                <a:latin typeface="Helvetica" pitchFamily="2" charset="0"/>
                <a:cs typeface="Calibri" panose="020F0502020204030204" pitchFamily="34" charset="0"/>
              </a:rPr>
              <a:t>The number of players with wage</a:t>
            </a:r>
          </a:p>
          <a:p>
            <a:pPr marL="914400" lvl="1" indent="-457200">
              <a:buFont typeface="Arial" panose="020B0604020202020204" pitchFamily="34" charset="0"/>
              <a:buChar char="•"/>
            </a:pPr>
            <a:r>
              <a:rPr lang="en-IE" sz="2400" dirty="0">
                <a:latin typeface="Helvetica" pitchFamily="2" charset="0"/>
                <a:cs typeface="Calibri" panose="020F0502020204030204" pitchFamily="34" charset="0"/>
              </a:rPr>
              <a:t>The number of players without the wage</a:t>
            </a:r>
          </a:p>
        </p:txBody>
      </p:sp>
      <p:sp>
        <p:nvSpPr>
          <p:cNvPr id="8" name="TextBox 7">
            <a:extLst>
              <a:ext uri="{FF2B5EF4-FFF2-40B4-BE49-F238E27FC236}">
                <a16:creationId xmlns:a16="http://schemas.microsoft.com/office/drawing/2014/main" id="{60E3129B-DD05-3939-7A58-F4F4A1C421A1}"/>
              </a:ext>
            </a:extLst>
          </p:cNvPr>
          <p:cNvSpPr txBox="1"/>
          <p:nvPr/>
        </p:nvSpPr>
        <p:spPr>
          <a:xfrm>
            <a:off x="922360" y="3478927"/>
            <a:ext cx="8655641" cy="2585323"/>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FILTER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IS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NOT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NULL</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FILTER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wage </a:t>
            </a:r>
            <a:r>
              <a:rPr lang="en-IE" sz="1800" b="1" dirty="0">
                <a:solidFill>
                  <a:srgbClr val="800000"/>
                </a:solidFill>
                <a:effectLst/>
                <a:latin typeface="Menlo" panose="020B0609030804020204" pitchFamily="49" charset="0"/>
              </a:rPr>
              <a:t>IS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NOT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NULL</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"With wage"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FILTER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wage </a:t>
            </a:r>
            <a:r>
              <a:rPr lang="en-IE" sz="1800" b="1" dirty="0">
                <a:solidFill>
                  <a:srgbClr val="800000"/>
                </a:solidFill>
                <a:effectLst/>
                <a:latin typeface="Menlo" panose="020B0609030804020204" pitchFamily="49" charset="0"/>
              </a:rPr>
              <a:t>IS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NULL</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"Without 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clubs</a:t>
            </a:r>
          </a:p>
          <a:p>
            <a:pPr marL="0" marR="0">
              <a:buNone/>
            </a:pPr>
            <a:r>
              <a:rPr lang="en-IE" sz="1800" b="1" dirty="0">
                <a:solidFill>
                  <a:srgbClr val="800000"/>
                </a:solidFill>
                <a:effectLst/>
                <a:latin typeface="Menlo" panose="020B0609030804020204" pitchFamily="49" charset="0"/>
              </a:rPr>
              <a:t>LEFT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949691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09F48-879E-9EA1-EAD4-C0DF84A9645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7FAE67FC-C1B0-A390-F13A-9623D2D28FB8}"/>
              </a:ext>
            </a:extLst>
          </p:cNvPr>
          <p:cNvSpPr txBox="1"/>
          <p:nvPr/>
        </p:nvSpPr>
        <p:spPr>
          <a:xfrm>
            <a:off x="735171" y="2254250"/>
            <a:ext cx="8855530" cy="2308324"/>
          </a:xfrm>
          <a:prstGeom prst="rect">
            <a:avLst/>
          </a:prstGeom>
          <a:noFill/>
        </p:spPr>
        <p:txBody>
          <a:bodyPr wrap="square">
            <a:spAutoFit/>
          </a:bodyPr>
          <a:lstStyle/>
          <a:p>
            <a:pPr marL="457200" indent="-457200">
              <a:buFont typeface="Arial" panose="020B0604020202020204" pitchFamily="34" charset="0"/>
              <a:buChar char="•"/>
            </a:pPr>
            <a:r>
              <a:rPr lang="en-IE" sz="2400" dirty="0">
                <a:latin typeface="Helvetica" pitchFamily="2" charset="0"/>
                <a:cs typeface="Calibri" panose="020F0502020204030204" pitchFamily="34" charset="0"/>
              </a:rPr>
              <a:t>FILTER and HAVING might sound similar, but they are not interchangeable.</a:t>
            </a: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We use FILTER when we want multiple aggregates with different conditions in the same result row.</a:t>
            </a: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Use HAVING when you want to filter out entire groups based on aggregate results.</a:t>
            </a:r>
          </a:p>
        </p:txBody>
      </p:sp>
      <p:sp>
        <p:nvSpPr>
          <p:cNvPr id="4" name="Title 3">
            <a:extLst>
              <a:ext uri="{FF2B5EF4-FFF2-40B4-BE49-F238E27FC236}">
                <a16:creationId xmlns:a16="http://schemas.microsoft.com/office/drawing/2014/main" id="{66D137AE-5751-EC85-88C1-7054CFB7B9B7}"/>
              </a:ext>
            </a:extLst>
          </p:cNvPr>
          <p:cNvSpPr>
            <a:spLocks noGrp="1"/>
          </p:cNvSpPr>
          <p:nvPr>
            <p:ph type="title"/>
          </p:nvPr>
        </p:nvSpPr>
        <p:spPr/>
        <p:txBody>
          <a:bodyPr/>
          <a:lstStyle/>
          <a:p>
            <a:r>
              <a:rPr lang="en-IE" dirty="0"/>
              <a:t>FILTER x HAVING</a:t>
            </a:r>
          </a:p>
        </p:txBody>
      </p:sp>
    </p:spTree>
    <p:extLst>
      <p:ext uri="{BB962C8B-B14F-4D97-AF65-F5344CB8AC3E}">
        <p14:creationId xmlns:p14="http://schemas.microsoft.com/office/powerpoint/2010/main" val="36575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998E5-7D19-B578-BF2D-BFEE7EB2F05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370266-0F86-3F88-FC57-2121AC18636E}"/>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4" name="Title 3">
            <a:extLst>
              <a:ext uri="{FF2B5EF4-FFF2-40B4-BE49-F238E27FC236}">
                <a16:creationId xmlns:a16="http://schemas.microsoft.com/office/drawing/2014/main" id="{E18D9D3A-D0AF-27A1-17EF-CE388D0479A7}"/>
              </a:ext>
            </a:extLst>
          </p:cNvPr>
          <p:cNvSpPr>
            <a:spLocks noGrp="1"/>
          </p:cNvSpPr>
          <p:nvPr>
            <p:ph type="title"/>
          </p:nvPr>
        </p:nvSpPr>
        <p:spPr/>
        <p:txBody>
          <a:bodyPr/>
          <a:lstStyle/>
          <a:p>
            <a:r>
              <a:rPr lang="en-IE" dirty="0"/>
              <a:t>Nesting group functions – not allowed</a:t>
            </a:r>
          </a:p>
        </p:txBody>
      </p:sp>
      <p:sp>
        <p:nvSpPr>
          <p:cNvPr id="5" name="TextBox 4">
            <a:extLst>
              <a:ext uri="{FF2B5EF4-FFF2-40B4-BE49-F238E27FC236}">
                <a16:creationId xmlns:a16="http://schemas.microsoft.com/office/drawing/2014/main" id="{B39B3525-E06A-C94C-10B9-FFC3830586CF}"/>
              </a:ext>
            </a:extLst>
          </p:cNvPr>
          <p:cNvSpPr txBox="1"/>
          <p:nvPr/>
        </p:nvSpPr>
        <p:spPr>
          <a:xfrm>
            <a:off x="735170" y="2254250"/>
            <a:ext cx="9564529" cy="2308324"/>
          </a:xfrm>
          <a:prstGeom prst="rect">
            <a:avLst/>
          </a:prstGeom>
          <a:noFill/>
        </p:spPr>
        <p:txBody>
          <a:bodyPr wrap="square">
            <a:spAutoFit/>
          </a:bodyPr>
          <a:lstStyle/>
          <a:p>
            <a:pPr marL="457200" indent="-457200">
              <a:buFont typeface="Arial" panose="020B0604020202020204" pitchFamily="34" charset="0"/>
              <a:buChar char="•"/>
            </a:pPr>
            <a:r>
              <a:rPr lang="en-IE" sz="2400" dirty="0">
                <a:latin typeface="Helvetica" pitchFamily="2" charset="0"/>
                <a:cs typeface="Calibri" panose="020F0502020204030204" pitchFamily="34" charset="0"/>
              </a:rPr>
              <a:t>SQL does not allow an aggregate function to be nested inside another aggregate function in the same query block.</a:t>
            </a: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This happens because aggregates operate on sets of rows, not on single values.</a:t>
            </a: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SQL needs to know when the aggregation ends before another begins — but nested aggregates blur that boundary.</a:t>
            </a:r>
          </a:p>
        </p:txBody>
      </p:sp>
    </p:spTree>
    <p:extLst>
      <p:ext uri="{BB962C8B-B14F-4D97-AF65-F5344CB8AC3E}">
        <p14:creationId xmlns:p14="http://schemas.microsoft.com/office/powerpoint/2010/main" val="689916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4" name="Title 3">
            <a:extLst>
              <a:ext uri="{FF2B5EF4-FFF2-40B4-BE49-F238E27FC236}">
                <a16:creationId xmlns:a16="http://schemas.microsoft.com/office/drawing/2014/main" id="{8BA0B9CB-8F08-782A-77D9-CC829E39E9B3}"/>
              </a:ext>
            </a:extLst>
          </p:cNvPr>
          <p:cNvSpPr>
            <a:spLocks noGrp="1"/>
          </p:cNvSpPr>
          <p:nvPr>
            <p:ph type="title"/>
          </p:nvPr>
        </p:nvSpPr>
        <p:spPr/>
        <p:txBody>
          <a:bodyPr/>
          <a:lstStyle/>
          <a:p>
            <a:r>
              <a:rPr lang="en-IE" dirty="0"/>
              <a:t>Nesting group functions – not allowed</a:t>
            </a:r>
          </a:p>
        </p:txBody>
      </p:sp>
      <p:sp>
        <p:nvSpPr>
          <p:cNvPr id="5" name="TextBox 4">
            <a:extLst>
              <a:ext uri="{FF2B5EF4-FFF2-40B4-BE49-F238E27FC236}">
                <a16:creationId xmlns:a16="http://schemas.microsoft.com/office/drawing/2014/main" id="{5893CE84-249E-AD19-E872-B78162C0E3DF}"/>
              </a:ext>
            </a:extLst>
          </p:cNvPr>
          <p:cNvSpPr txBox="1"/>
          <p:nvPr/>
        </p:nvSpPr>
        <p:spPr>
          <a:xfrm>
            <a:off x="564435" y="1364789"/>
            <a:ext cx="9564529" cy="4893647"/>
          </a:xfrm>
          <a:prstGeom prst="rect">
            <a:avLst/>
          </a:prstGeom>
          <a:noFill/>
        </p:spPr>
        <p:txBody>
          <a:bodyPr wrap="square">
            <a:spAutoFit/>
          </a:bodyPr>
          <a:lstStyle/>
          <a:p>
            <a:endParaRPr lang="en-IE" sz="2400" dirty="0">
              <a:latin typeface="Helvetica" pitchFamily="2" charset="0"/>
              <a:cs typeface="Calibri" panose="020F0502020204030204" pitchFamily="34" charset="0"/>
            </a:endParaRP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The following returns an error:</a:t>
            </a:r>
          </a:p>
          <a:p>
            <a:pPr marL="457200" indent="-457200">
              <a:buFont typeface="Arial" panose="020B0604020202020204" pitchFamily="34" charset="0"/>
              <a:buChar char="•"/>
            </a:pPr>
            <a:endParaRPr lang="en-IE" sz="2400" dirty="0">
              <a:latin typeface="Helvetica" pitchFamily="2" charset="0"/>
              <a:cs typeface="Calibri" panose="020F0502020204030204" pitchFamily="34" charset="0"/>
            </a:endParaRPr>
          </a:p>
          <a:p>
            <a:pPr marL="457200" indent="-457200">
              <a:buFont typeface="Arial" panose="020B0604020202020204" pitchFamily="34" charset="0"/>
              <a:buChar char="•"/>
            </a:pPr>
            <a:endParaRPr lang="en-IE" sz="2400" dirty="0">
              <a:latin typeface="Helvetica" pitchFamily="2" charset="0"/>
              <a:cs typeface="Calibri" panose="020F0502020204030204" pitchFamily="34" charset="0"/>
            </a:endParaRPr>
          </a:p>
          <a:p>
            <a:pPr marL="457200" indent="-457200">
              <a:buFont typeface="Arial" panose="020B0604020202020204" pitchFamily="34" charset="0"/>
              <a:buChar char="•"/>
            </a:pPr>
            <a:endParaRPr lang="en-IE" sz="2400" dirty="0">
              <a:latin typeface="Helvetica" pitchFamily="2" charset="0"/>
              <a:cs typeface="Calibri" panose="020F0502020204030204" pitchFamily="34" charset="0"/>
            </a:endParaRPr>
          </a:p>
          <a:p>
            <a:pPr marL="457200" indent="-457200">
              <a:buFont typeface="Arial" panose="020B0604020202020204" pitchFamily="34" charset="0"/>
              <a:buChar char="•"/>
            </a:pPr>
            <a:endParaRPr lang="en-IE" sz="2400" dirty="0">
              <a:latin typeface="Helvetica" pitchFamily="2" charset="0"/>
              <a:cs typeface="Calibri" panose="020F0502020204030204" pitchFamily="34" charset="0"/>
            </a:endParaRP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AVG(wage) → wants to compute an average across all rows.</a:t>
            </a: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MAX(...) → also wants to scan across all rows, but now the input would be the averages of groups that don’t exist yet.</a:t>
            </a: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The SQL engine doesn’t have a stage in its pipeline where both can coexist without ambiguity.</a:t>
            </a: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Aggregation happens once per query block, right after GROUP BY is evaluated.</a:t>
            </a:r>
          </a:p>
        </p:txBody>
      </p:sp>
      <p:sp>
        <p:nvSpPr>
          <p:cNvPr id="7" name="TextBox 6">
            <a:extLst>
              <a:ext uri="{FF2B5EF4-FFF2-40B4-BE49-F238E27FC236}">
                <a16:creationId xmlns:a16="http://schemas.microsoft.com/office/drawing/2014/main" id="{E643E27D-99DC-29C7-FEBF-923624D0DF21}"/>
              </a:ext>
            </a:extLst>
          </p:cNvPr>
          <p:cNvSpPr txBox="1"/>
          <p:nvPr/>
        </p:nvSpPr>
        <p:spPr>
          <a:xfrm>
            <a:off x="1114606" y="2256768"/>
            <a:ext cx="5346700" cy="1015663"/>
          </a:xfrm>
          <a:prstGeom prst="rect">
            <a:avLst/>
          </a:prstGeom>
          <a:noFill/>
        </p:spPr>
        <p:txBody>
          <a:bodyPr wrap="square">
            <a:spAutoFit/>
          </a:bodyPr>
          <a:lstStyle/>
          <a:p>
            <a:pPr marL="0" marR="0">
              <a:buNone/>
            </a:pPr>
            <a:r>
              <a:rPr lang="en-IE" sz="2000" b="1" dirty="0">
                <a:solidFill>
                  <a:srgbClr val="800000"/>
                </a:solidFill>
                <a:effectLst/>
                <a:latin typeface="Menlo" panose="020B0609030804020204" pitchFamily="49" charset="0"/>
              </a:rPr>
              <a:t>SELECT</a:t>
            </a:r>
            <a:r>
              <a:rPr lang="en-IE" sz="2000" dirty="0">
                <a:solidFill>
                  <a:srgbClr val="000000"/>
                </a:solidFill>
                <a:effectLst/>
                <a:latin typeface="Menlo" panose="020B0609030804020204" pitchFamily="49" charset="0"/>
              </a:rPr>
              <a:t> </a:t>
            </a:r>
          </a:p>
          <a:p>
            <a:pPr marL="0" marR="0">
              <a:buNone/>
            </a:pPr>
            <a:r>
              <a:rPr lang="en-IE" sz="2000" b="1" dirty="0">
                <a:solidFill>
                  <a:srgbClr val="000080"/>
                </a:solidFill>
                <a:effectLst/>
                <a:latin typeface="Menlo" panose="020B0609030804020204" pitchFamily="49" charset="0"/>
              </a:rPr>
              <a:t>MAX</a:t>
            </a:r>
            <a:r>
              <a:rPr lang="en-IE" sz="2000" dirty="0">
                <a:solidFill>
                  <a:srgbClr val="000000"/>
                </a:solidFill>
                <a:effectLst/>
                <a:latin typeface="Menlo" panose="020B0609030804020204" pitchFamily="49" charset="0"/>
              </a:rPr>
              <a:t>(</a:t>
            </a:r>
            <a:r>
              <a:rPr lang="en-IE" sz="2000" b="1" dirty="0">
                <a:solidFill>
                  <a:srgbClr val="000080"/>
                </a:solidFill>
                <a:effectLst/>
                <a:latin typeface="Menlo" panose="020B0609030804020204" pitchFamily="49" charset="0"/>
              </a:rPr>
              <a:t>AVG</a:t>
            </a:r>
            <a:r>
              <a:rPr lang="en-IE" sz="2000" dirty="0">
                <a:solidFill>
                  <a:srgbClr val="000000"/>
                </a:solidFill>
                <a:effectLst/>
                <a:latin typeface="Menlo" panose="020B0609030804020204" pitchFamily="49" charset="0"/>
              </a:rPr>
              <a:t>(wage)) </a:t>
            </a:r>
          </a:p>
          <a:p>
            <a:pPr marL="0" marR="0">
              <a:buNone/>
            </a:pPr>
            <a:r>
              <a:rPr lang="en-IE" sz="2000" b="1" dirty="0">
                <a:solidFill>
                  <a:srgbClr val="800000"/>
                </a:solidFill>
                <a:effectLst/>
                <a:latin typeface="Menlo" panose="020B0609030804020204" pitchFamily="49" charset="0"/>
              </a:rPr>
              <a:t>FROM</a:t>
            </a:r>
            <a:r>
              <a:rPr lang="en-IE" sz="2000" dirty="0">
                <a:solidFill>
                  <a:srgbClr val="000000"/>
                </a:solidFill>
                <a:effectLst/>
                <a:latin typeface="Menlo" panose="020B0609030804020204" pitchFamily="49" charset="0"/>
              </a:rPr>
              <a:t> </a:t>
            </a:r>
            <a:r>
              <a:rPr lang="en-IE" sz="2000" dirty="0" err="1">
                <a:solidFill>
                  <a:srgbClr val="000000"/>
                </a:solidFill>
                <a:effectLst/>
                <a:latin typeface="Menlo" panose="020B0609030804020204" pitchFamily="49" charset="0"/>
              </a:rPr>
              <a:t>player_contracts</a:t>
            </a:r>
            <a:r>
              <a:rPr lang="en-IE" sz="2000" dirty="0">
                <a:solidFill>
                  <a:srgbClr val="FF0000"/>
                </a:solidFill>
                <a:effectLst/>
                <a:latin typeface="Menlo" panose="020B0609030804020204" pitchFamily="49" charset="0"/>
              </a:rPr>
              <a:t>;</a:t>
            </a:r>
            <a:endParaRPr lang="en-IE" sz="20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447009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43A53-EE4A-E157-9094-CB2339D280A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10932AE-680D-669E-237F-6A6670CC6ACE}"/>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sp>
        <p:nvSpPr>
          <p:cNvPr id="4" name="Title 3">
            <a:extLst>
              <a:ext uri="{FF2B5EF4-FFF2-40B4-BE49-F238E27FC236}">
                <a16:creationId xmlns:a16="http://schemas.microsoft.com/office/drawing/2014/main" id="{5184C6DA-7110-39C4-ED5B-FBD9C1191CC7}"/>
              </a:ext>
            </a:extLst>
          </p:cNvPr>
          <p:cNvSpPr>
            <a:spLocks noGrp="1"/>
          </p:cNvSpPr>
          <p:nvPr>
            <p:ph type="title"/>
          </p:nvPr>
        </p:nvSpPr>
        <p:spPr/>
        <p:txBody>
          <a:bodyPr/>
          <a:lstStyle/>
          <a:p>
            <a:r>
              <a:rPr lang="en-IE" dirty="0"/>
              <a:t>Nesting group functions – not allowed</a:t>
            </a:r>
          </a:p>
        </p:txBody>
      </p:sp>
      <p:sp>
        <p:nvSpPr>
          <p:cNvPr id="5" name="TextBox 4">
            <a:extLst>
              <a:ext uri="{FF2B5EF4-FFF2-40B4-BE49-F238E27FC236}">
                <a16:creationId xmlns:a16="http://schemas.microsoft.com/office/drawing/2014/main" id="{15F9BBAC-2969-CA32-D1E5-8508F377FB1C}"/>
              </a:ext>
            </a:extLst>
          </p:cNvPr>
          <p:cNvSpPr txBox="1"/>
          <p:nvPr/>
        </p:nvSpPr>
        <p:spPr>
          <a:xfrm>
            <a:off x="564435" y="1364789"/>
            <a:ext cx="9564529" cy="830997"/>
          </a:xfrm>
          <a:prstGeom prst="rect">
            <a:avLst/>
          </a:prstGeom>
          <a:noFill/>
        </p:spPr>
        <p:txBody>
          <a:bodyPr wrap="square">
            <a:spAutoFit/>
          </a:bodyPr>
          <a:lstStyle/>
          <a:p>
            <a:endParaRPr lang="en-IE" sz="2400" dirty="0">
              <a:latin typeface="Helvetica" pitchFamily="2" charset="0"/>
              <a:cs typeface="Calibri" panose="020F0502020204030204" pitchFamily="34" charset="0"/>
            </a:endParaRPr>
          </a:p>
          <a:p>
            <a:pPr marL="457200" indent="-457200">
              <a:buFont typeface="Arial" panose="020B0604020202020204" pitchFamily="34" charset="0"/>
              <a:buChar char="•"/>
            </a:pPr>
            <a:r>
              <a:rPr lang="en-IE" sz="2400" dirty="0">
                <a:latin typeface="Helvetica" pitchFamily="2" charset="0"/>
                <a:cs typeface="Calibri" panose="020F0502020204030204" pitchFamily="34" charset="0"/>
              </a:rPr>
              <a:t>We need to use a subquery to retrieve that data:</a:t>
            </a:r>
          </a:p>
        </p:txBody>
      </p:sp>
      <p:sp>
        <p:nvSpPr>
          <p:cNvPr id="6" name="TextBox 5">
            <a:extLst>
              <a:ext uri="{FF2B5EF4-FFF2-40B4-BE49-F238E27FC236}">
                <a16:creationId xmlns:a16="http://schemas.microsoft.com/office/drawing/2014/main" id="{B630C1F9-F54A-8C28-3EBD-63B4B05F2A69}"/>
              </a:ext>
            </a:extLst>
          </p:cNvPr>
          <p:cNvSpPr txBox="1"/>
          <p:nvPr/>
        </p:nvSpPr>
        <p:spPr>
          <a:xfrm>
            <a:off x="709771" y="2696353"/>
            <a:ext cx="9248458" cy="2308324"/>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--We can retrieve that data using a subquery</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MAX</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"Average wage"</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"Maximum wage"</a:t>
            </a:r>
            <a:r>
              <a:rPr lang="en-IE" sz="1800" dirty="0">
                <a:solidFill>
                  <a:srgbClr val="000000"/>
                </a:solidFill>
                <a:effectLst/>
                <a:latin typeface="Menlo" panose="020B0609030804020204" pitchFamily="49" charset="0"/>
              </a:rPr>
              <a:t> </a:t>
            </a:r>
            <a:r>
              <a:rPr lang="en-IE" sz="1800" dirty="0">
                <a:solidFill>
                  <a:srgbClr val="808080"/>
                </a:solidFill>
                <a:effectLst/>
                <a:latin typeface="Menlo" panose="020B0609030804020204" pitchFamily="49" charset="0"/>
              </a:rPr>
              <a:t>--notice I can nest round and max because round is a single-row function</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(wage) </a:t>
            </a:r>
            <a:r>
              <a:rPr lang="en-IE" sz="1800" b="1" dirty="0">
                <a:solidFill>
                  <a:srgbClr val="000080"/>
                </a:solidFill>
                <a:effectLst/>
                <a:latin typeface="Menlo" panose="020B0609030804020204" pitchFamily="49" charset="0"/>
              </a:rPr>
              <a:t>"Average wage"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endParaRPr lang="en-IE" sz="1800" dirty="0">
              <a:solidFill>
                <a:srgbClr val="000000"/>
              </a:solidFill>
              <a:effectLst/>
              <a:latin typeface="Menlo" panose="020B0609030804020204" pitchFamily="49" charset="0"/>
            </a:endParaRPr>
          </a:p>
          <a:p>
            <a:pPr marL="0" marR="0">
              <a:buNone/>
            </a:pP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"Subquery"</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775398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82C6480-4D1D-68E9-0D5D-E7EFB339D33A}"/>
              </a:ext>
            </a:extLst>
          </p:cNvPr>
          <p:cNvSpPr txBox="1"/>
          <p:nvPr/>
        </p:nvSpPr>
        <p:spPr>
          <a:xfrm>
            <a:off x="584423" y="1596572"/>
            <a:ext cx="9388929" cy="1938992"/>
          </a:xfrm>
          <a:prstGeom prst="rect">
            <a:avLst/>
          </a:prstGeom>
          <a:noFill/>
        </p:spPr>
        <p:txBody>
          <a:bodyPr wrap="square">
            <a:spAutoFit/>
          </a:bodyPr>
          <a:lstStyle/>
          <a:p>
            <a:pPr marL="342900" indent="-342900">
              <a:buFont typeface="Arial" panose="020B0604020202020204" pitchFamily="34" charset="0"/>
              <a:buChar char="•"/>
            </a:pPr>
            <a:r>
              <a:rPr lang="en-IE" sz="2400" dirty="0">
                <a:latin typeface="Helvetica" pitchFamily="2" charset="0"/>
                <a:cs typeface="Calibri" panose="020F0502020204030204" pitchFamily="34" charset="0"/>
              </a:rPr>
              <a:t>String aggregation works similarly to the concatenate function, but allows aggregation of multiple rows using the GROUP BY. </a:t>
            </a:r>
          </a:p>
          <a:p>
            <a:pPr marL="342900" indent="-342900">
              <a:buFont typeface="Arial" panose="020B0604020202020204" pitchFamily="34" charset="0"/>
              <a:buChar char="•"/>
            </a:pPr>
            <a:endParaRPr lang="en-IE" sz="2400" dirty="0">
              <a:latin typeface="Helvetica" pitchFamily="2" charset="0"/>
              <a:cs typeface="Calibri" panose="020F0502020204030204" pitchFamily="34" charset="0"/>
            </a:endParaRPr>
          </a:p>
          <a:p>
            <a:pPr marL="342900" indent="-342900">
              <a:buFont typeface="Arial" panose="020B0604020202020204" pitchFamily="34" charset="0"/>
              <a:buChar char="•"/>
            </a:pPr>
            <a:r>
              <a:rPr lang="en-IE" sz="2400" dirty="0">
                <a:latin typeface="Helvetica" pitchFamily="2" charset="0"/>
                <a:cs typeface="Calibri" panose="020F0502020204030204" pitchFamily="34" charset="0"/>
              </a:rPr>
              <a:t>Let’s aggregate all player full names in a single comma-separated string per club, alphabetically.</a:t>
            </a:r>
            <a:endParaRPr lang="pt-PT" sz="2400" dirty="0">
              <a:latin typeface="Helvetica" pitchFamily="2" charset="0"/>
            </a:endParaRPr>
          </a:p>
        </p:txBody>
      </p:sp>
      <p:sp>
        <p:nvSpPr>
          <p:cNvPr id="4" name="Title 3">
            <a:extLst>
              <a:ext uri="{FF2B5EF4-FFF2-40B4-BE49-F238E27FC236}">
                <a16:creationId xmlns:a16="http://schemas.microsoft.com/office/drawing/2014/main" id="{5B793B76-E466-5ADC-A008-D06B6FA4B00D}"/>
              </a:ext>
            </a:extLst>
          </p:cNvPr>
          <p:cNvSpPr>
            <a:spLocks noGrp="1"/>
          </p:cNvSpPr>
          <p:nvPr>
            <p:ph type="title"/>
          </p:nvPr>
        </p:nvSpPr>
        <p:spPr/>
        <p:txBody>
          <a:bodyPr/>
          <a:lstStyle/>
          <a:p>
            <a:r>
              <a:rPr lang="en-IE" dirty="0"/>
              <a:t>String aggregation</a:t>
            </a:r>
          </a:p>
        </p:txBody>
      </p:sp>
      <p:sp>
        <p:nvSpPr>
          <p:cNvPr id="7" name="TextBox 6">
            <a:extLst>
              <a:ext uri="{FF2B5EF4-FFF2-40B4-BE49-F238E27FC236}">
                <a16:creationId xmlns:a16="http://schemas.microsoft.com/office/drawing/2014/main" id="{7BCFE205-AB22-100A-6218-645166DB62F2}"/>
              </a:ext>
            </a:extLst>
          </p:cNvPr>
          <p:cNvSpPr txBox="1"/>
          <p:nvPr/>
        </p:nvSpPr>
        <p:spPr>
          <a:xfrm>
            <a:off x="948871" y="3778250"/>
            <a:ext cx="8332629" cy="2585323"/>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STRING_AGG</a:t>
            </a:r>
            <a:r>
              <a:rPr lang="en-IE" sz="1800" dirty="0">
                <a:solidFill>
                  <a:srgbClr val="000000"/>
                </a:solidFill>
                <a:effectLst/>
                <a:latin typeface="Menlo" panose="020B0609030804020204" pitchFamily="49" charset="0"/>
              </a:rPr>
              <a:t>(</a:t>
            </a:r>
            <a:r>
              <a:rPr lang="en-IE" sz="1800" dirty="0" err="1">
                <a:solidFill>
                  <a:srgbClr val="000000"/>
                </a:solidFill>
                <a:effectLst/>
                <a:latin typeface="Menlo" panose="020B0609030804020204" pitchFamily="49" charset="0"/>
              </a:rPr>
              <a:t>player_name</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 '</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players.player_name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"Players list"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clubs</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players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628592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6598C-6470-F69B-CA5A-67D8F48C34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33E00D-F8A4-7B4E-3059-22D334DBF6CB}"/>
              </a:ext>
            </a:extLst>
          </p:cNvPr>
          <p:cNvSpPr>
            <a:spLocks noGrp="1"/>
          </p:cNvSpPr>
          <p:nvPr>
            <p:ph type="title"/>
          </p:nvPr>
        </p:nvSpPr>
        <p:spPr/>
        <p:txBody>
          <a:bodyPr/>
          <a:lstStyle/>
          <a:p>
            <a:r>
              <a:rPr lang="en-IE" dirty="0"/>
              <a:t>Dashboard for overview</a:t>
            </a:r>
          </a:p>
        </p:txBody>
      </p:sp>
      <p:sp>
        <p:nvSpPr>
          <p:cNvPr id="3" name="TextBox 2">
            <a:extLst>
              <a:ext uri="{FF2B5EF4-FFF2-40B4-BE49-F238E27FC236}">
                <a16:creationId xmlns:a16="http://schemas.microsoft.com/office/drawing/2014/main" id="{8D8DB580-9B48-EAE2-914D-8286425396F2}"/>
              </a:ext>
            </a:extLst>
          </p:cNvPr>
          <p:cNvSpPr txBox="1"/>
          <p:nvPr/>
        </p:nvSpPr>
        <p:spPr>
          <a:xfrm>
            <a:off x="850900" y="1862889"/>
            <a:ext cx="8020050" cy="4801314"/>
          </a:xfrm>
          <a:prstGeom prst="rect">
            <a:avLst/>
          </a:prstGeom>
          <a:noFill/>
        </p:spPr>
        <p:txBody>
          <a:bodyPr wrap="square">
            <a:spAutoFit/>
          </a:bodyPr>
          <a:lstStyle/>
          <a:p>
            <a:pPr marL="0" marR="0">
              <a:buNone/>
            </a:pPr>
            <a:r>
              <a:rPr lang="en-IE" sz="1800" b="1" dirty="0">
                <a:solidFill>
                  <a:srgbClr val="800000"/>
                </a:solidFill>
                <a:effectLst/>
                <a:latin typeface="Menlo" panose="020B0609030804020204" pitchFamily="49" charset="0"/>
              </a:rPr>
              <a:t>SELECT</a:t>
            </a:r>
            <a:endParaRPr lang="en-IE" sz="1800" dirty="0">
              <a:solidFill>
                <a:srgbClr val="000000"/>
              </a:solidFill>
              <a:effectLst/>
              <a:latin typeface="Menlo" panose="020B0609030804020204" pitchFamily="49" charset="0"/>
            </a:endParaRPr>
          </a:p>
          <a:p>
            <a:pPr marL="0" marR="0">
              <a:buNone/>
            </a:pPr>
            <a:r>
              <a:rPr lang="en-IE" sz="1800" dirty="0" err="1">
                <a:solidFill>
                  <a:srgbClr val="000000"/>
                </a:solidFill>
                <a:effectLst/>
                <a:latin typeface="Menlo" panose="020B0609030804020204" pitchFamily="49" charset="0"/>
              </a:rPr>
              <a:t>club_name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a:t>
            </a:r>
            <a:r>
              <a:rPr lang="en-IE" sz="1800" b="1" dirty="0">
                <a:solidFill>
                  <a:srgbClr val="800000"/>
                </a:solidFill>
                <a:effectLst/>
                <a:latin typeface="Menlo" panose="020B0609030804020204" pitchFamily="49" charset="0"/>
              </a:rPr>
              <a:t>DISTINCT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"Number of players"</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ROUND</a:t>
            </a:r>
            <a:r>
              <a:rPr lang="en-IE" sz="1800" dirty="0">
                <a:solidFill>
                  <a:srgbClr val="000000"/>
                </a:solidFill>
                <a:effectLst/>
                <a:latin typeface="Menlo" panose="020B0609030804020204" pitchFamily="49" charset="0"/>
              </a:rPr>
              <a:t>(</a:t>
            </a:r>
            <a:r>
              <a:rPr lang="en-IE" sz="1800" b="1" dirty="0">
                <a:solidFill>
                  <a:srgbClr val="000080"/>
                </a:solidFill>
                <a:effectLst/>
                <a:latin typeface="Menlo" panose="020B0609030804020204" pitchFamily="49" charset="0"/>
              </a:rPr>
              <a:t>AVG</a:t>
            </a:r>
            <a:r>
              <a:rPr lang="en-IE" sz="1800" dirty="0">
                <a:solidFill>
                  <a:srgbClr val="000000"/>
                </a:solidFill>
                <a:effectLst/>
                <a:latin typeface="Menlo" panose="020B0609030804020204" pitchFamily="49" charset="0"/>
              </a:rPr>
              <a:t>(wage), </a:t>
            </a:r>
            <a:r>
              <a:rPr lang="en-IE" sz="1800" dirty="0">
                <a:solidFill>
                  <a:srgbClr val="0000FF"/>
                </a:solidFill>
                <a:effectLst/>
                <a:latin typeface="Menlo" panose="020B0609030804020204" pitchFamily="49" charset="0"/>
              </a:rPr>
              <a:t>2</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"Average wage"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SUM</a:t>
            </a:r>
            <a:r>
              <a:rPr lang="en-IE" sz="1800" dirty="0">
                <a:solidFill>
                  <a:srgbClr val="000000"/>
                </a:solidFill>
                <a:effectLst/>
                <a:latin typeface="Menlo" panose="020B0609030804020204" pitchFamily="49" charset="0"/>
              </a:rPr>
              <a:t>(wage) </a:t>
            </a:r>
            <a:r>
              <a:rPr lang="en-IE" sz="1800" b="1" dirty="0">
                <a:solidFill>
                  <a:srgbClr val="000080"/>
                </a:solidFill>
                <a:effectLst/>
                <a:latin typeface="Menlo" panose="020B0609030804020204" pitchFamily="49" charset="0"/>
              </a:rPr>
              <a:t>"Total wage bill"</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MIN</a:t>
            </a:r>
            <a:r>
              <a:rPr lang="en-IE" sz="1800" dirty="0">
                <a:solidFill>
                  <a:srgbClr val="000000"/>
                </a:solidFill>
                <a:effectLst/>
                <a:latin typeface="Menlo" panose="020B0609030804020204" pitchFamily="49" charset="0"/>
              </a:rPr>
              <a:t>(wage) </a:t>
            </a:r>
            <a:r>
              <a:rPr lang="en-IE" sz="1800" b="1" dirty="0">
                <a:solidFill>
                  <a:srgbClr val="000080"/>
                </a:solidFill>
                <a:effectLst/>
                <a:latin typeface="Menlo" panose="020B0609030804020204" pitchFamily="49" charset="0"/>
              </a:rPr>
              <a:t>"Minimum wage"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MAX</a:t>
            </a:r>
            <a:r>
              <a:rPr lang="en-IE" sz="1800" dirty="0">
                <a:solidFill>
                  <a:srgbClr val="000000"/>
                </a:solidFill>
                <a:effectLst/>
                <a:latin typeface="Menlo" panose="020B0609030804020204" pitchFamily="49" charset="0"/>
              </a:rPr>
              <a:t>(wage) </a:t>
            </a:r>
            <a:r>
              <a:rPr lang="en-IE" sz="1800" b="1" dirty="0">
                <a:solidFill>
                  <a:srgbClr val="000080"/>
                </a:solidFill>
                <a:effectLst/>
                <a:latin typeface="Menlo" panose="020B0609030804020204" pitchFamily="49" charset="0"/>
              </a:rPr>
              <a:t>"Maximum wage"</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COUNT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FILTER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contract_valid_until</a:t>
            </a:r>
            <a:r>
              <a:rPr lang="en-IE" sz="1800" dirty="0">
                <a:solidFill>
                  <a:srgbClr val="000000"/>
                </a:solidFill>
                <a:effectLst/>
                <a:latin typeface="Menlo" panose="020B0609030804020204" pitchFamily="49" charset="0"/>
              </a:rPr>
              <a:t> &lt;= </a:t>
            </a:r>
            <a:r>
              <a:rPr lang="en-IE" sz="1800" b="1" dirty="0">
                <a:solidFill>
                  <a:srgbClr val="800000"/>
                </a:solidFill>
                <a:effectLst/>
                <a:latin typeface="Menlo" panose="020B0609030804020204" pitchFamily="49" charset="0"/>
              </a:rPr>
              <a:t>EXTRACT</a:t>
            </a:r>
            <a:r>
              <a:rPr lang="en-IE" sz="1800" dirty="0">
                <a:solidFill>
                  <a:srgbClr val="000000"/>
                </a:solidFill>
                <a:effectLst/>
                <a:latin typeface="Menlo" panose="020B0609030804020204" pitchFamily="49" charset="0"/>
              </a:rPr>
              <a:t>(</a:t>
            </a:r>
            <a:r>
              <a:rPr lang="en-IE" sz="1800" b="1" dirty="0">
                <a:solidFill>
                  <a:srgbClr val="800000"/>
                </a:solidFill>
                <a:effectLst/>
                <a:latin typeface="Menlo" panose="020B0609030804020204" pitchFamily="49" charset="0"/>
              </a:rPr>
              <a:t>YEAR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CURRENT_DATE)) </a:t>
            </a:r>
            <a:r>
              <a:rPr lang="en-IE" sz="1800" b="1" dirty="0">
                <a:solidFill>
                  <a:srgbClr val="000080"/>
                </a:solidFill>
                <a:effectLst/>
                <a:latin typeface="Menlo" panose="020B0609030804020204" pitchFamily="49" charset="0"/>
              </a:rPr>
              <a:t>"Number of valid contracts"</a:t>
            </a:r>
            <a:r>
              <a:rPr lang="en-IE" sz="1800" dirty="0">
                <a:solidFill>
                  <a:srgbClr val="000000"/>
                </a:solidFill>
                <a:effectLst/>
                <a:latin typeface="Menlo" panose="020B0609030804020204" pitchFamily="49" charset="0"/>
              </a:rPr>
              <a:t>,</a:t>
            </a:r>
          </a:p>
          <a:p>
            <a:pPr marL="0" marR="0">
              <a:buNone/>
            </a:pPr>
            <a:r>
              <a:rPr lang="en-IE" sz="1800" b="1" dirty="0">
                <a:solidFill>
                  <a:srgbClr val="000080"/>
                </a:solidFill>
                <a:effectLst/>
                <a:latin typeface="Menlo" panose="020B0609030804020204" pitchFamily="49" charset="0"/>
              </a:rPr>
              <a:t>STRING_AGG</a:t>
            </a:r>
            <a:r>
              <a:rPr lang="en-IE" sz="1800" dirty="0">
                <a:solidFill>
                  <a:srgbClr val="000000"/>
                </a:solidFill>
                <a:effectLst/>
                <a:latin typeface="Menlo" panose="020B0609030804020204" pitchFamily="49" charset="0"/>
              </a:rPr>
              <a:t>(</a:t>
            </a:r>
            <a:r>
              <a:rPr lang="en-IE" sz="1800" b="1" dirty="0">
                <a:solidFill>
                  <a:srgbClr val="800000"/>
                </a:solidFill>
                <a:effectLst/>
                <a:latin typeface="Menlo" panose="020B0609030804020204" pitchFamily="49" charset="0"/>
              </a:rPr>
              <a:t>DISTINCT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player_name</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 '</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player_name</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"Players list"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clubs</a:t>
            </a:r>
          </a:p>
          <a:p>
            <a:pPr marL="0" marR="0">
              <a:buNone/>
            </a:pPr>
            <a:r>
              <a:rPr lang="en-IE" sz="1800" b="1" dirty="0">
                <a:solidFill>
                  <a:srgbClr val="800000"/>
                </a:solidFill>
                <a:effectLst/>
                <a:latin typeface="Menlo" panose="020B0609030804020204" pitchFamily="49" charset="0"/>
              </a:rPr>
              <a:t>LEFT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player_contracts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LEFT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players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GROUP</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club_name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ORDER</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BY</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3</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DESC</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NULLS</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LAST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427197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8A1E-28F7-E538-C8A4-657AC9FC336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FE9D5B0-62D9-6B58-E81E-4051E35AFFEE}"/>
              </a:ext>
            </a:extLst>
          </p:cNvPr>
          <p:cNvSpPr/>
          <p:nvPr/>
        </p:nvSpPr>
        <p:spPr>
          <a:xfrm>
            <a:off x="986971" y="6953863"/>
            <a:ext cx="127635" cy="201930"/>
          </a:xfrm>
          <a:custGeom>
            <a:avLst/>
            <a:gdLst/>
            <a:ahLst/>
            <a:cxnLst/>
            <a:rect l="l" t="t" r="r" b="b"/>
            <a:pathLst>
              <a:path w="127634" h="201929">
                <a:moveTo>
                  <a:pt x="0" y="0"/>
                </a:moveTo>
                <a:lnTo>
                  <a:pt x="0" y="201805"/>
                </a:lnTo>
                <a:lnTo>
                  <a:pt x="127165" y="100902"/>
                </a:lnTo>
                <a:lnTo>
                  <a:pt x="0" y="0"/>
                </a:lnTo>
                <a:close/>
              </a:path>
            </a:pathLst>
          </a:custGeom>
          <a:solidFill>
            <a:srgbClr val="9FB8CD"/>
          </a:solidFill>
        </p:spPr>
        <p:txBody>
          <a:bodyPr wrap="square" lIns="0" tIns="0" rIns="0" bIns="0" rtlCol="0"/>
          <a:lstStyle/>
          <a:p>
            <a:endParaRPr/>
          </a:p>
        </p:txBody>
      </p:sp>
      <p:pic>
        <p:nvPicPr>
          <p:cNvPr id="2050" name="Picture 2" descr="Vevox pricing plans l #1 rated">
            <a:extLst>
              <a:ext uri="{FF2B5EF4-FFF2-40B4-BE49-F238E27FC236}">
                <a16:creationId xmlns:a16="http://schemas.microsoft.com/office/drawing/2014/main" id="{88CFB5AC-09C9-5037-B60B-82F1C410D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38" y="0"/>
            <a:ext cx="10294937" cy="755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29862"/>
      </p:ext>
    </p:extLst>
  </p:cSld>
  <p:clrMapOvr>
    <a:masterClrMapping/>
  </p:clrMapOvr>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66317cb-e948-4e5f-8cec-dabc8e2fd5da}" enabled="0" method="" siteId="{766317cb-e948-4e5f-8cec-dabc8e2fd5da}" removed="1"/>
</clbl:labelList>
</file>

<file path=docProps/app.xml><?xml version="1.0" encoding="utf-8"?>
<Properties xmlns="http://schemas.openxmlformats.org/officeDocument/2006/extended-properties" xmlns:vt="http://schemas.openxmlformats.org/officeDocument/2006/docPropsVTypes">
  <Template/>
  <TotalTime>3451</TotalTime>
  <Words>2112</Words>
  <Application>Microsoft Macintosh PowerPoint</Application>
  <PresentationFormat>Custom</PresentationFormat>
  <Paragraphs>245</Paragraphs>
  <Slides>29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Helvetica</vt:lpstr>
      <vt:lpstr>Menlo</vt:lpstr>
      <vt:lpstr>1_Office Theme</vt:lpstr>
      <vt:lpstr>SQL Functions – Aggregate functions  Dr Mariana Rocha School of Computer Science</vt:lpstr>
      <vt:lpstr>PowerPoint Presentation</vt:lpstr>
      <vt:lpstr>EDA - Football</vt:lpstr>
      <vt:lpstr>Remember: SQL has single and multiple row functions</vt:lpstr>
      <vt:lpstr>The count( ) function</vt:lpstr>
      <vt:lpstr>Group functions and NULL values</vt:lpstr>
      <vt:lpstr>Cross-table coverage</vt:lpstr>
      <vt:lpstr>Cross-table coverage</vt:lpstr>
      <vt:lpstr>Creating Groups of Data: GROUP BY</vt:lpstr>
      <vt:lpstr>Grouping by multiple groups</vt:lpstr>
      <vt:lpstr>The avg( ) function</vt:lpstr>
      <vt:lpstr>The avg( ) function</vt:lpstr>
      <vt:lpstr>Combining avg( ) and count( )</vt:lpstr>
      <vt:lpstr>The sum( ) function</vt:lpstr>
      <vt:lpstr>min( ) and max( )</vt:lpstr>
      <vt:lpstr>min( ) and max( ) with dates</vt:lpstr>
      <vt:lpstr>min( ) and max( ) with string</vt:lpstr>
      <vt:lpstr>HAVING</vt:lpstr>
      <vt:lpstr>WHERE and HAVING</vt:lpstr>
      <vt:lpstr>Restricting group results with HAVING</vt:lpstr>
      <vt:lpstr>FILTER + WHERE</vt:lpstr>
      <vt:lpstr>Filter</vt:lpstr>
      <vt:lpstr>FILTER x HAVING</vt:lpstr>
      <vt:lpstr>Nesting group functions – not allowed</vt:lpstr>
      <vt:lpstr>Nesting group functions – not allowed</vt:lpstr>
      <vt:lpstr>Nesting group functions – not allowed</vt:lpstr>
      <vt:lpstr>String aggregation</vt:lpstr>
      <vt:lpstr>Dashboard for overview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L7-Group Functions and Views (Wk 9)-notes</dc:title>
  <dc:creator>Emma Murphy</dc:creator>
  <cp:lastModifiedBy>Mariana Rocha</cp:lastModifiedBy>
  <cp:revision>72</cp:revision>
  <dcterms:created xsi:type="dcterms:W3CDTF">2021-11-11T14:17:15Z</dcterms:created>
  <dcterms:modified xsi:type="dcterms:W3CDTF">2025-10-16T11:36:37Z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2020-11-16T00:00:00Z</vt:filetime>
  </property>
  <property fmtid="{D5CDD505-2E9C-101B-9397-08002B2CF9AE}" pid="3" name="Creator">
    <vt:lpwstr>PowerPoint</vt:lpwstr>
  </property>
  <property fmtid="{D5CDD505-2E9C-101B-9397-08002B2CF9AE}" pid="4" name="LastSaved">
    <vt:filetime>2021-11-11T00:00:00Z</vt:filetime>
  </property>
</Properties>
</file>