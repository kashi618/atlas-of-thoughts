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44"/>
  </p:notesMasterIdLst>
  <p:sldIdLst>
    <p:sldId id="256" r:id="rId3"/>
    <p:sldId id="330" r:id="rId4"/>
    <p:sldId id="399" r:id="rId5"/>
    <p:sldId id="375" r:id="rId6"/>
    <p:sldId id="263" r:id="rId7"/>
    <p:sldId id="376" r:id="rId8"/>
    <p:sldId id="379" r:id="rId9"/>
    <p:sldId id="273" r:id="rId10"/>
    <p:sldId id="277" r:id="rId11"/>
    <p:sldId id="383" r:id="rId12"/>
    <p:sldId id="384" r:id="rId13"/>
    <p:sldId id="385" r:id="rId14"/>
    <p:sldId id="386" r:id="rId15"/>
    <p:sldId id="314" r:id="rId16"/>
    <p:sldId id="387" r:id="rId17"/>
    <p:sldId id="285" r:id="rId18"/>
    <p:sldId id="289" r:id="rId19"/>
    <p:sldId id="290" r:id="rId20"/>
    <p:sldId id="291" r:id="rId21"/>
    <p:sldId id="388" r:id="rId22"/>
    <p:sldId id="293" r:id="rId23"/>
    <p:sldId id="294" r:id="rId24"/>
    <p:sldId id="390" r:id="rId25"/>
    <p:sldId id="295" r:id="rId26"/>
    <p:sldId id="297" r:id="rId27"/>
    <p:sldId id="392" r:id="rId28"/>
    <p:sldId id="393" r:id="rId29"/>
    <p:sldId id="394" r:id="rId30"/>
    <p:sldId id="301" r:id="rId31"/>
    <p:sldId id="303" r:id="rId32"/>
    <p:sldId id="304" r:id="rId33"/>
    <p:sldId id="305" r:id="rId34"/>
    <p:sldId id="308" r:id="rId35"/>
    <p:sldId id="309" r:id="rId36"/>
    <p:sldId id="373" r:id="rId37"/>
    <p:sldId id="311" r:id="rId38"/>
    <p:sldId id="312" r:id="rId39"/>
    <p:sldId id="395" r:id="rId40"/>
    <p:sldId id="396" r:id="rId41"/>
    <p:sldId id="397" r:id="rId42"/>
    <p:sldId id="398" r:id="rId43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2ACE17-976C-CC41-8058-BADEB6CB3E82}" v="4" dt="2025-09-18T09:52:46.4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38"/>
    <p:restoredTop sz="94610"/>
  </p:normalViewPr>
  <p:slideViewPr>
    <p:cSldViewPr>
      <p:cViewPr varScale="1">
        <p:scale>
          <a:sx n="101" d="100"/>
          <a:sy n="101" d="100"/>
        </p:scale>
        <p:origin x="368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412ACE17-976C-CC41-8058-BADEB6CB3E82}"/>
    <pc:docChg chg="delSld modSld">
      <pc:chgData name="Mariana Rocha" userId="0a3173bd-d0ed-4c32-8e4c-b90c820606c5" providerId="ADAL" clId="{412ACE17-976C-CC41-8058-BADEB6CB3E82}" dt="2025-08-14T15:19:01.610" v="9" actId="2696"/>
      <pc:docMkLst>
        <pc:docMk/>
      </pc:docMkLst>
      <pc:sldChg chg="modSp mod">
        <pc:chgData name="Mariana Rocha" userId="0a3173bd-d0ed-4c32-8e4c-b90c820606c5" providerId="ADAL" clId="{412ACE17-976C-CC41-8058-BADEB6CB3E82}" dt="2025-08-14T15:16:38.621" v="3" actId="20577"/>
        <pc:sldMkLst>
          <pc:docMk/>
          <pc:sldMk cId="0" sldId="256"/>
        </pc:sldMkLst>
      </pc:sldChg>
      <pc:sldChg chg="del">
        <pc:chgData name="Mariana Rocha" userId="0a3173bd-d0ed-4c32-8e4c-b90c820606c5" providerId="ADAL" clId="{412ACE17-976C-CC41-8058-BADEB6CB3E82}" dt="2025-08-14T15:17:07.582" v="4" actId="2696"/>
        <pc:sldMkLst>
          <pc:docMk/>
          <pc:sldMk cId="0" sldId="257"/>
        </pc:sldMkLst>
      </pc:sldChg>
      <pc:sldChg chg="del">
        <pc:chgData name="Mariana Rocha" userId="0a3173bd-d0ed-4c32-8e4c-b90c820606c5" providerId="ADAL" clId="{412ACE17-976C-CC41-8058-BADEB6CB3E82}" dt="2025-08-14T15:17:27.250" v="5" actId="2696"/>
        <pc:sldMkLst>
          <pc:docMk/>
          <pc:sldMk cId="1725469623" sldId="377"/>
        </pc:sldMkLst>
      </pc:sldChg>
      <pc:sldChg chg="del">
        <pc:chgData name="Mariana Rocha" userId="0a3173bd-d0ed-4c32-8e4c-b90c820606c5" providerId="ADAL" clId="{412ACE17-976C-CC41-8058-BADEB6CB3E82}" dt="2025-08-14T15:17:29.036" v="6" actId="2696"/>
        <pc:sldMkLst>
          <pc:docMk/>
          <pc:sldMk cId="60776085" sldId="378"/>
        </pc:sldMkLst>
      </pc:sldChg>
      <pc:sldChg chg="del">
        <pc:chgData name="Mariana Rocha" userId="0a3173bd-d0ed-4c32-8e4c-b90c820606c5" providerId="ADAL" clId="{412ACE17-976C-CC41-8058-BADEB6CB3E82}" dt="2025-08-14T15:17:37.958" v="7" actId="2696"/>
        <pc:sldMkLst>
          <pc:docMk/>
          <pc:sldMk cId="879622090" sldId="380"/>
        </pc:sldMkLst>
      </pc:sldChg>
      <pc:sldChg chg="del">
        <pc:chgData name="Mariana Rocha" userId="0a3173bd-d0ed-4c32-8e4c-b90c820606c5" providerId="ADAL" clId="{412ACE17-976C-CC41-8058-BADEB6CB3E82}" dt="2025-08-14T15:18:19.750" v="8" actId="2696"/>
        <pc:sldMkLst>
          <pc:docMk/>
          <pc:sldMk cId="399156050" sldId="389"/>
        </pc:sldMkLst>
      </pc:sldChg>
      <pc:sldChg chg="del">
        <pc:chgData name="Mariana Rocha" userId="0a3173bd-d0ed-4c32-8e4c-b90c820606c5" providerId="ADAL" clId="{412ACE17-976C-CC41-8058-BADEB6CB3E82}" dt="2025-08-14T15:19:01.610" v="9" actId="2696"/>
        <pc:sldMkLst>
          <pc:docMk/>
          <pc:sldMk cId="1941151604" sldId="391"/>
        </pc:sldMkLst>
      </pc:sldChg>
    </pc:docChg>
  </pc:docChgLst>
  <pc:docChgLst>
    <pc:chgData name="Mariana Rocha" userId="0a3173bd-d0ed-4c32-8e4c-b90c820606c5" providerId="ADAL" clId="{DCC3A51D-31E8-5BC6-970B-354B54D5302A}"/>
    <pc:docChg chg="custSel addSld modSld">
      <pc:chgData name="Mariana Rocha" userId="0a3173bd-d0ed-4c32-8e4c-b90c820606c5" providerId="ADAL" clId="{DCC3A51D-31E8-5BC6-970B-354B54D5302A}" dt="2025-09-18T09:53:02.124" v="158" actId="20577"/>
      <pc:docMkLst>
        <pc:docMk/>
      </pc:docMkLst>
      <pc:sldChg chg="modSp mod">
        <pc:chgData name="Mariana Rocha" userId="0a3173bd-d0ed-4c32-8e4c-b90c820606c5" providerId="ADAL" clId="{DCC3A51D-31E8-5BC6-970B-354B54D5302A}" dt="2025-09-18T09:53:02.124" v="158" actId="20577"/>
        <pc:sldMkLst>
          <pc:docMk/>
          <pc:sldMk cId="0" sldId="277"/>
        </pc:sldMkLst>
        <pc:spChg chg="mod">
          <ac:chgData name="Mariana Rocha" userId="0a3173bd-d0ed-4c32-8e4c-b90c820606c5" providerId="ADAL" clId="{DCC3A51D-31E8-5BC6-970B-354B54D5302A}" dt="2025-09-18T09:53:02.124" v="158" actId="20577"/>
          <ac:spMkLst>
            <pc:docMk/>
            <pc:sldMk cId="0" sldId="277"/>
            <ac:spMk id="4" creationId="{C33C9A05-15FE-C68A-1D9D-4184A216EEB0}"/>
          </ac:spMkLst>
        </pc:spChg>
      </pc:sldChg>
      <pc:sldChg chg="addSp modSp mod">
        <pc:chgData name="Mariana Rocha" userId="0a3173bd-d0ed-4c32-8e4c-b90c820606c5" providerId="ADAL" clId="{DCC3A51D-31E8-5BC6-970B-354B54D5302A}" dt="2025-09-18T09:52:46.471" v="150" actId="1076"/>
        <pc:sldMkLst>
          <pc:docMk/>
          <pc:sldMk cId="2487993818" sldId="330"/>
        </pc:sldMkLst>
        <pc:spChg chg="mod">
          <ac:chgData name="Mariana Rocha" userId="0a3173bd-d0ed-4c32-8e4c-b90c820606c5" providerId="ADAL" clId="{DCC3A51D-31E8-5BC6-970B-354B54D5302A}" dt="2025-09-18T09:52:40.770" v="147" actId="1076"/>
          <ac:spMkLst>
            <pc:docMk/>
            <pc:sldMk cId="2487993818" sldId="330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18T09:52:42.655" v="148" actId="1076"/>
          <ac:spMkLst>
            <pc:docMk/>
            <pc:sldMk cId="2487993818" sldId="330"/>
            <ac:spMk id="6" creationId="{AE27815F-D3A2-27E0-180D-5B66A77FE9C5}"/>
          </ac:spMkLst>
        </pc:spChg>
        <pc:picChg chg="add mod">
          <ac:chgData name="Mariana Rocha" userId="0a3173bd-d0ed-4c32-8e4c-b90c820606c5" providerId="ADAL" clId="{DCC3A51D-31E8-5BC6-970B-354B54D5302A}" dt="2025-09-18T09:52:46.471" v="150" actId="1076"/>
          <ac:picMkLst>
            <pc:docMk/>
            <pc:sldMk cId="2487993818" sldId="330"/>
            <ac:picMk id="1026" creationId="{A9FFCF94-BE7B-21CE-11E2-8F3700ED6475}"/>
          </ac:picMkLst>
        </pc:picChg>
      </pc:sldChg>
      <pc:sldChg chg="modSp mod">
        <pc:chgData name="Mariana Rocha" userId="0a3173bd-d0ed-4c32-8e4c-b90c820606c5" providerId="ADAL" clId="{DCC3A51D-31E8-5BC6-970B-354B54D5302A}" dt="2025-09-12T16:08:18.704" v="3" actId="2711"/>
        <pc:sldMkLst>
          <pc:docMk/>
          <pc:sldMk cId="1424747315" sldId="375"/>
        </pc:sldMkLst>
        <pc:spChg chg="mod">
          <ac:chgData name="Mariana Rocha" userId="0a3173bd-d0ed-4c32-8e4c-b90c820606c5" providerId="ADAL" clId="{DCC3A51D-31E8-5BC6-970B-354B54D5302A}" dt="2025-09-12T16:08:18.704" v="3" actId="2711"/>
          <ac:spMkLst>
            <pc:docMk/>
            <pc:sldMk cId="1424747315" sldId="375"/>
            <ac:spMk id="4" creationId="{3C153783-0D29-4CE1-D983-DFB6C0CC28F8}"/>
          </ac:spMkLst>
        </pc:spChg>
      </pc:sldChg>
      <pc:sldChg chg="modSp mod">
        <pc:chgData name="Mariana Rocha" userId="0a3173bd-d0ed-4c32-8e4c-b90c820606c5" providerId="ADAL" clId="{DCC3A51D-31E8-5BC6-970B-354B54D5302A}" dt="2025-09-01T11:10:41.169" v="2" actId="20577"/>
        <pc:sldMkLst>
          <pc:docMk/>
          <pc:sldMk cId="10102880" sldId="393"/>
        </pc:sldMkLst>
        <pc:spChg chg="mod">
          <ac:chgData name="Mariana Rocha" userId="0a3173bd-d0ed-4c32-8e4c-b90c820606c5" providerId="ADAL" clId="{DCC3A51D-31E8-5BC6-970B-354B54D5302A}" dt="2025-09-01T11:10:41.169" v="2" actId="20577"/>
          <ac:spMkLst>
            <pc:docMk/>
            <pc:sldMk cId="10102880" sldId="393"/>
            <ac:spMk id="2" creationId="{B531EC23-4132-6957-F6E1-A8D79D23CCC4}"/>
          </ac:spMkLst>
        </pc:spChg>
      </pc:sldChg>
      <pc:sldChg chg="add">
        <pc:chgData name="Mariana Rocha" userId="0a3173bd-d0ed-4c32-8e4c-b90c820606c5" providerId="ADAL" clId="{DCC3A51D-31E8-5BC6-970B-354B54D5302A}" dt="2025-09-18T09:51:39.416" v="4" actId="2890"/>
        <pc:sldMkLst>
          <pc:docMk/>
          <pc:sldMk cId="777640305" sldId="3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90B94-2FF9-3C46-A456-D07E6D8B6A31}" type="datetimeFigureOut">
              <a:rPr lang="en-IE" smtClean="0"/>
              <a:t>18/09/2025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E82A6-F213-854E-8758-E6D32923205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5985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3B961-E7C4-1242-BB48-20E7BA735057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624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Times" pitchFamily="2" charset="0"/>
              </a:defRPr>
            </a:lvl1pPr>
          </a:lstStyle>
          <a:p>
            <a:pPr rtl="0"/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Times" pitchFamily="2" charset="0"/>
              </a:defRPr>
            </a:lvl1pPr>
          </a:lstStyle>
          <a:p>
            <a:pPr marL="0" rtl="0"/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rgbClr val="EBEBEB"/>
                </a:solidFill>
                <a:latin typeface="HelveticaNeue-Medium"/>
                <a:cs typeface="HelveticaNeue-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212121"/>
                </a:solidFill>
                <a:latin typeface="HelveticaNeue-Thin"/>
                <a:cs typeface="HelveticaNeue-Thi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rgbClr val="EBEBEB"/>
                </a:solidFill>
                <a:latin typeface="HelveticaNeue-Medium"/>
                <a:cs typeface="HelveticaNeue-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47065" y="1788702"/>
            <a:ext cx="3265170" cy="4813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12121"/>
                </a:solidFill>
                <a:latin typeface="HelveticaNeue-Thin"/>
                <a:cs typeface="HelveticaNeue-Thi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66667" y="2068604"/>
            <a:ext cx="3404870" cy="4420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212121"/>
                </a:solidFill>
                <a:latin typeface="HelveticaNeue-Thin"/>
                <a:cs typeface="HelveticaNeue-Thi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6729" y="152400"/>
            <a:ext cx="9664700" cy="1402080"/>
          </a:xfrm>
          <a:custGeom>
            <a:avLst/>
            <a:gdLst/>
            <a:ahLst/>
            <a:cxnLst/>
            <a:rect l="l" t="t" r="r" b="b"/>
            <a:pathLst>
              <a:path w="9664700" h="1402080">
                <a:moveTo>
                  <a:pt x="9664700" y="0"/>
                </a:moveTo>
                <a:lnTo>
                  <a:pt x="0" y="0"/>
                </a:lnTo>
                <a:lnTo>
                  <a:pt x="0" y="1401659"/>
                </a:lnTo>
                <a:lnTo>
                  <a:pt x="9664700" y="1401659"/>
                </a:lnTo>
                <a:lnTo>
                  <a:pt x="9664700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1930" y="425450"/>
            <a:ext cx="8754297" cy="723275"/>
          </a:xfrm>
        </p:spPr>
        <p:txBody>
          <a:bodyPr lIns="0" tIns="0" rIns="0" bIns="0"/>
          <a:lstStyle>
            <a:lvl1pPr>
              <a:defRPr sz="4700" b="0" i="0">
                <a:solidFill>
                  <a:srgbClr val="EBEBEB"/>
                </a:solidFill>
                <a:latin typeface="Times" pitchFamily="2" charset="0"/>
                <a:cs typeface="HelveticaNeue-Medium"/>
              </a:defRPr>
            </a:lvl1pPr>
          </a:lstStyle>
          <a:p>
            <a:pPr rtl="0"/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6729" y="152400"/>
            <a:ext cx="9664700" cy="1402080"/>
          </a:xfrm>
          <a:custGeom>
            <a:avLst/>
            <a:gdLst/>
            <a:ahLst/>
            <a:cxnLst/>
            <a:rect l="l" t="t" r="r" b="b"/>
            <a:pathLst>
              <a:path w="9664700" h="1402080">
                <a:moveTo>
                  <a:pt x="9664700" y="0"/>
                </a:moveTo>
                <a:lnTo>
                  <a:pt x="0" y="0"/>
                </a:lnTo>
                <a:lnTo>
                  <a:pt x="0" y="1401659"/>
                </a:lnTo>
                <a:lnTo>
                  <a:pt x="9664700" y="1401659"/>
                </a:lnTo>
                <a:lnTo>
                  <a:pt x="9664700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6678"/>
            <a:ext cx="8020050" cy="2630781"/>
          </a:xfrm>
        </p:spPr>
        <p:txBody>
          <a:bodyPr anchor="b"/>
          <a:lstStyle>
            <a:lvl1pPr algn="ctr">
              <a:defRPr sz="5259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68912"/>
            <a:ext cx="8020050" cy="1824405"/>
          </a:xfrm>
        </p:spPr>
        <p:txBody>
          <a:bodyPr/>
          <a:lstStyle>
            <a:lvl1pPr marL="0" indent="0" algn="ctr">
              <a:buNone/>
              <a:defRPr sz="2103"/>
            </a:lvl1pPr>
            <a:lvl2pPr marL="400689" indent="0" algn="ctr">
              <a:buNone/>
              <a:defRPr sz="1753"/>
            </a:lvl2pPr>
            <a:lvl3pPr marL="801378" indent="0" algn="ctr">
              <a:buNone/>
              <a:defRPr sz="1578"/>
            </a:lvl3pPr>
            <a:lvl4pPr marL="1202068" indent="0" algn="ctr">
              <a:buNone/>
              <a:defRPr sz="1402"/>
            </a:lvl4pPr>
            <a:lvl5pPr marL="1602757" indent="0" algn="ctr">
              <a:buNone/>
              <a:defRPr sz="1402"/>
            </a:lvl5pPr>
            <a:lvl6pPr marL="2003447" indent="0" algn="ctr">
              <a:buNone/>
              <a:defRPr sz="1402"/>
            </a:lvl6pPr>
            <a:lvl7pPr marL="2404136" indent="0" algn="ctr">
              <a:buNone/>
              <a:defRPr sz="1402"/>
            </a:lvl7pPr>
            <a:lvl8pPr marL="2804825" indent="0" algn="ctr">
              <a:buNone/>
              <a:defRPr sz="1402"/>
            </a:lvl8pPr>
            <a:lvl9pPr marL="3205515" indent="0" algn="ctr">
              <a:buNone/>
              <a:defRPr sz="1402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F180-48E0-4AA3-9DDB-28D1E815DAD5}" type="datetime1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78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8357B3-792D-45C8-A5E3-375CD2FC93EA}" type="datetime1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61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CF8357B3-792D-45C8-A5E3-375CD2FC93EA}" type="datetime1">
              <a:rPr lang="en-GB" smtClean="0"/>
              <a:pPr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312" y="2011569"/>
            <a:ext cx="1828160" cy="229665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06015" y="2366655"/>
            <a:ext cx="7552214" cy="41823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3652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1883879"/>
            <a:ext cx="9223058" cy="3143294"/>
          </a:xfrm>
        </p:spPr>
        <p:txBody>
          <a:bodyPr anchor="b"/>
          <a:lstStyle>
            <a:lvl1pPr>
              <a:defRPr sz="5259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602" y="5056909"/>
            <a:ext cx="9223058" cy="1652984"/>
          </a:xfrm>
        </p:spPr>
        <p:txBody>
          <a:bodyPr/>
          <a:lstStyle>
            <a:lvl1pPr marL="0" indent="0">
              <a:buNone/>
              <a:defRPr sz="2103">
                <a:solidFill>
                  <a:schemeClr val="tx1">
                    <a:tint val="75000"/>
                  </a:schemeClr>
                </a:solidFill>
              </a:defRPr>
            </a:lvl1pPr>
            <a:lvl2pPr marL="400689" indent="0">
              <a:buNone/>
              <a:defRPr sz="1753">
                <a:solidFill>
                  <a:schemeClr val="tx1">
                    <a:tint val="75000"/>
                  </a:schemeClr>
                </a:solidFill>
              </a:defRPr>
            </a:lvl2pPr>
            <a:lvl3pPr marL="801378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3pPr>
            <a:lvl4pPr marL="1202068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4pPr>
            <a:lvl5pPr marL="1602757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5pPr>
            <a:lvl6pPr marL="2003447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6pPr>
            <a:lvl7pPr marL="2404136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7pPr>
            <a:lvl8pPr marL="2804825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8pPr>
            <a:lvl9pPr marL="3205515" indent="0">
              <a:buNone/>
              <a:defRPr sz="1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3F90AE9-7E54-4C99-8887-D88AF3524E1B}" type="datetime1">
              <a:rPr lang="en-GB" smtClean="0"/>
              <a:pPr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78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02" y="5307122"/>
            <a:ext cx="9223058" cy="1348503"/>
          </a:xfrm>
        </p:spPr>
        <p:txBody>
          <a:bodyPr anchor="b">
            <a:normAutofit/>
          </a:bodyPr>
          <a:lstStyle>
            <a:lvl1pPr algn="ctr">
              <a:defRPr sz="4732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0AE9-7E54-4C99-8887-D88AF3524E1B}" type="datetime1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15762" y="785388"/>
            <a:ext cx="5959343" cy="45217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8504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171" y="2011569"/>
            <a:ext cx="4544695" cy="47945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3535" y="2011569"/>
            <a:ext cx="4544695" cy="47945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4A6A6-A921-4A2A-98B6-101BBB6E441B}" type="datetime1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480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566" y="1852392"/>
            <a:ext cx="4523809" cy="907829"/>
          </a:xfrm>
        </p:spPr>
        <p:txBody>
          <a:bodyPr anchor="b"/>
          <a:lstStyle>
            <a:lvl1pPr marL="0" indent="0">
              <a:buNone/>
              <a:defRPr sz="2103" b="1"/>
            </a:lvl1pPr>
            <a:lvl2pPr marL="400689" indent="0">
              <a:buNone/>
              <a:defRPr sz="1753" b="1"/>
            </a:lvl2pPr>
            <a:lvl3pPr marL="801378" indent="0">
              <a:buNone/>
              <a:defRPr sz="1578" b="1"/>
            </a:lvl3pPr>
            <a:lvl4pPr marL="1202068" indent="0">
              <a:buNone/>
              <a:defRPr sz="1402" b="1"/>
            </a:lvl4pPr>
            <a:lvl5pPr marL="1602757" indent="0">
              <a:buNone/>
              <a:defRPr sz="1402" b="1"/>
            </a:lvl5pPr>
            <a:lvl6pPr marL="2003447" indent="0">
              <a:buNone/>
              <a:defRPr sz="1402" b="1"/>
            </a:lvl6pPr>
            <a:lvl7pPr marL="2404136" indent="0">
              <a:buNone/>
              <a:defRPr sz="1402" b="1"/>
            </a:lvl7pPr>
            <a:lvl8pPr marL="2804825" indent="0">
              <a:buNone/>
              <a:defRPr sz="1402" b="1"/>
            </a:lvl8pPr>
            <a:lvl9pPr marL="3205515" indent="0">
              <a:buNone/>
              <a:defRPr sz="140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566" y="2760222"/>
            <a:ext cx="4523809" cy="40598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3534" y="1852392"/>
            <a:ext cx="4546088" cy="907829"/>
          </a:xfrm>
        </p:spPr>
        <p:txBody>
          <a:bodyPr anchor="b"/>
          <a:lstStyle>
            <a:lvl1pPr marL="0" indent="0">
              <a:buNone/>
              <a:defRPr sz="2103" b="1"/>
            </a:lvl1pPr>
            <a:lvl2pPr marL="400689" indent="0">
              <a:buNone/>
              <a:defRPr sz="1753" b="1"/>
            </a:lvl2pPr>
            <a:lvl3pPr marL="801378" indent="0">
              <a:buNone/>
              <a:defRPr sz="1578" b="1"/>
            </a:lvl3pPr>
            <a:lvl4pPr marL="1202068" indent="0">
              <a:buNone/>
              <a:defRPr sz="1402" b="1"/>
            </a:lvl4pPr>
            <a:lvl5pPr marL="1602757" indent="0">
              <a:buNone/>
              <a:defRPr sz="1402" b="1"/>
            </a:lvl5pPr>
            <a:lvl6pPr marL="2003447" indent="0">
              <a:buNone/>
              <a:defRPr sz="1402" b="1"/>
            </a:lvl6pPr>
            <a:lvl7pPr marL="2404136" indent="0">
              <a:buNone/>
              <a:defRPr sz="1402" b="1"/>
            </a:lvl7pPr>
            <a:lvl8pPr marL="2804825" indent="0">
              <a:buNone/>
              <a:defRPr sz="1402" b="1"/>
            </a:lvl8pPr>
            <a:lvl9pPr marL="3205515" indent="0">
              <a:buNone/>
              <a:defRPr sz="140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3534" y="2760222"/>
            <a:ext cx="4546088" cy="40598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D810-C173-4B0E-912A-A0CE5E563277}" type="datetime1">
              <a:rPr lang="en-GB" smtClean="0"/>
              <a:t>18/09/2025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781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3B55-8FCA-4DA4-AC78-B3100A5B2594}" type="datetime1">
              <a:rPr lang="en-GB" smtClean="0"/>
              <a:t>18/09/2025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37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786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4436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98373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900080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87016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8598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8762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5962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82488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084069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0250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3456918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3456918" y="0"/>
            <a:ext cx="3779566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27266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7329953" y="0"/>
            <a:ext cx="3356532" cy="7556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14114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B2E9-2CC8-42D6-A769-E6AC2FC4FFA8}" type="datetime1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8778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088" y="1087997"/>
            <a:ext cx="5413534" cy="5370012"/>
          </a:xfrm>
        </p:spPr>
        <p:txBody>
          <a:bodyPr/>
          <a:lstStyle>
            <a:lvl1pPr>
              <a:defRPr sz="2805"/>
            </a:lvl1pPr>
            <a:lvl2pPr>
              <a:defRPr sz="2454"/>
            </a:lvl2pPr>
            <a:lvl3pPr>
              <a:defRPr sz="2103"/>
            </a:lvl3pPr>
            <a:lvl4pPr>
              <a:defRPr sz="1753"/>
            </a:lvl4pPr>
            <a:lvl5pPr>
              <a:defRPr sz="1753"/>
            </a:lvl5pPr>
            <a:lvl6pPr>
              <a:defRPr sz="1753"/>
            </a:lvl6pPr>
            <a:lvl7pPr>
              <a:defRPr sz="1753"/>
            </a:lvl7pPr>
            <a:lvl8pPr>
              <a:defRPr sz="1753"/>
            </a:lvl8pPr>
            <a:lvl9pPr>
              <a:defRPr sz="17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6"/>
          </a:xfrm>
        </p:spPr>
        <p:txBody>
          <a:bodyPr/>
          <a:lstStyle>
            <a:lvl1pPr marL="0" indent="0">
              <a:buNone/>
              <a:defRPr sz="1402"/>
            </a:lvl1pPr>
            <a:lvl2pPr marL="400689" indent="0">
              <a:buNone/>
              <a:defRPr sz="1227"/>
            </a:lvl2pPr>
            <a:lvl3pPr marL="801378" indent="0">
              <a:buNone/>
              <a:defRPr sz="1052"/>
            </a:lvl3pPr>
            <a:lvl4pPr marL="1202068" indent="0">
              <a:buNone/>
              <a:defRPr sz="876"/>
            </a:lvl4pPr>
            <a:lvl5pPr marL="1602757" indent="0">
              <a:buNone/>
              <a:defRPr sz="876"/>
            </a:lvl5pPr>
            <a:lvl6pPr marL="2003447" indent="0">
              <a:buNone/>
              <a:defRPr sz="876"/>
            </a:lvl6pPr>
            <a:lvl7pPr marL="2404136" indent="0">
              <a:buNone/>
              <a:defRPr sz="876"/>
            </a:lvl7pPr>
            <a:lvl8pPr marL="2804825" indent="0">
              <a:buNone/>
              <a:defRPr sz="876"/>
            </a:lvl8pPr>
            <a:lvl9pPr marL="3205515" indent="0">
              <a:buNone/>
              <a:defRPr sz="87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CE03-B3A4-4FF4-8428-B21A8B5011F1}" type="datetime1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1326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6088" y="1087997"/>
            <a:ext cx="5413534" cy="5370012"/>
          </a:xfrm>
        </p:spPr>
        <p:txBody>
          <a:bodyPr/>
          <a:lstStyle>
            <a:lvl1pPr marL="0" indent="0">
              <a:buNone/>
              <a:defRPr sz="2805"/>
            </a:lvl1pPr>
            <a:lvl2pPr marL="400689" indent="0">
              <a:buNone/>
              <a:defRPr sz="2454"/>
            </a:lvl2pPr>
            <a:lvl3pPr marL="801378" indent="0">
              <a:buNone/>
              <a:defRPr sz="2103"/>
            </a:lvl3pPr>
            <a:lvl4pPr marL="1202068" indent="0">
              <a:buNone/>
              <a:defRPr sz="1753"/>
            </a:lvl4pPr>
            <a:lvl5pPr marL="1602757" indent="0">
              <a:buNone/>
              <a:defRPr sz="1753"/>
            </a:lvl5pPr>
            <a:lvl6pPr marL="2003447" indent="0">
              <a:buNone/>
              <a:defRPr sz="1753"/>
            </a:lvl6pPr>
            <a:lvl7pPr marL="2404136" indent="0">
              <a:buNone/>
              <a:defRPr sz="1753"/>
            </a:lvl7pPr>
            <a:lvl8pPr marL="2804825" indent="0">
              <a:buNone/>
              <a:defRPr sz="1753"/>
            </a:lvl8pPr>
            <a:lvl9pPr marL="3205515" indent="0">
              <a:buNone/>
              <a:defRPr sz="1753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6"/>
          </a:xfrm>
        </p:spPr>
        <p:txBody>
          <a:bodyPr/>
          <a:lstStyle>
            <a:lvl1pPr marL="0" indent="0">
              <a:buNone/>
              <a:defRPr sz="1402"/>
            </a:lvl1pPr>
            <a:lvl2pPr marL="400689" indent="0">
              <a:buNone/>
              <a:defRPr sz="1227"/>
            </a:lvl2pPr>
            <a:lvl3pPr marL="801378" indent="0">
              <a:buNone/>
              <a:defRPr sz="1052"/>
            </a:lvl3pPr>
            <a:lvl4pPr marL="1202068" indent="0">
              <a:buNone/>
              <a:defRPr sz="876"/>
            </a:lvl4pPr>
            <a:lvl5pPr marL="1602757" indent="0">
              <a:buNone/>
              <a:defRPr sz="876"/>
            </a:lvl5pPr>
            <a:lvl6pPr marL="2003447" indent="0">
              <a:buNone/>
              <a:defRPr sz="876"/>
            </a:lvl6pPr>
            <a:lvl7pPr marL="2404136" indent="0">
              <a:buNone/>
              <a:defRPr sz="876"/>
            </a:lvl7pPr>
            <a:lvl8pPr marL="2804825" indent="0">
              <a:buNone/>
              <a:defRPr sz="876"/>
            </a:lvl8pPr>
            <a:lvl9pPr marL="3205515" indent="0">
              <a:buNone/>
              <a:defRPr sz="87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A313-4A38-4EAD-86EB-2D8D5F57D26A}" type="datetime1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9693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4DD92-0689-46D4-9C2A-552C58686E68}" type="datetime1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4481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954779"/>
            <a:ext cx="10693400" cy="601721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2465" y="402314"/>
            <a:ext cx="2305764" cy="64037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171" y="402314"/>
            <a:ext cx="6783626" cy="64037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9FAC4-3DA8-4863-84F7-7F33571AE90B}" type="datetime1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380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9551" y="115564"/>
            <a:ext cx="8754297" cy="1376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rgbClr val="EBEBEB"/>
                </a:solidFill>
                <a:latin typeface="HelveticaNeue-Medium"/>
                <a:cs typeface="HelveticaNeue-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3914" y="1984157"/>
            <a:ext cx="9077325" cy="3505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212121"/>
                </a:solidFill>
                <a:latin typeface="HelveticaNeue-Thin"/>
                <a:cs typeface="HelveticaNeue-Thi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171" y="402314"/>
            <a:ext cx="9223058" cy="146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171" y="2011569"/>
            <a:ext cx="9223058" cy="479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172" y="7038904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bg1"/>
                </a:solidFill>
              </a:defRPr>
            </a:lvl1pPr>
          </a:lstStyle>
          <a:p>
            <a:fld id="{A02127B0-3699-4D16-99C4-CE122436B0DA}" type="datetime1">
              <a:rPr lang="en-GB" smtClean="0"/>
              <a:pPr/>
              <a:t>18/09/2025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2190" y="7038904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2215" y="7038904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2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64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</p:sldLayoutIdLst>
  <p:hf hdr="0" ftr="0" dt="0"/>
  <p:txStyles>
    <p:titleStyle>
      <a:lvl1pPr algn="l" defTabSz="801378" rtl="0" eaLnBrk="1" latinLnBrk="0" hangingPunct="1">
        <a:lnSpc>
          <a:spcPct val="90000"/>
        </a:lnSpc>
        <a:spcBef>
          <a:spcPct val="0"/>
        </a:spcBef>
        <a:buNone/>
        <a:defRPr sz="3856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200345" indent="-200345" algn="l" defTabSz="801378" rtl="0" eaLnBrk="1" latinLnBrk="0" hangingPunct="1">
        <a:lnSpc>
          <a:spcPct val="150000"/>
        </a:lnSpc>
        <a:spcBef>
          <a:spcPts val="876"/>
        </a:spcBef>
        <a:buFont typeface="Arial" panose="020B0604020202020204" pitchFamily="34" charset="0"/>
        <a:buChar char="•"/>
        <a:defRPr sz="2454" kern="1200">
          <a:solidFill>
            <a:schemeClr val="tx1"/>
          </a:solidFill>
          <a:latin typeface="+mn-lt"/>
          <a:ea typeface="+mn-ea"/>
          <a:cs typeface="+mn-cs"/>
        </a:defRPr>
      </a:lvl1pPr>
      <a:lvl2pPr marL="601034" indent="-200345" algn="l" defTabSz="801378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454" kern="1200">
          <a:solidFill>
            <a:schemeClr val="tx1"/>
          </a:solidFill>
          <a:latin typeface="+mn-lt"/>
          <a:ea typeface="+mn-ea"/>
          <a:cs typeface="+mn-cs"/>
        </a:defRPr>
      </a:lvl2pPr>
      <a:lvl3pPr marL="1001723" indent="-200345" algn="l" defTabSz="801378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2103" kern="1200">
          <a:solidFill>
            <a:schemeClr val="tx1"/>
          </a:solidFill>
          <a:latin typeface="+mn-lt"/>
          <a:ea typeface="+mn-ea"/>
          <a:cs typeface="+mn-cs"/>
        </a:defRPr>
      </a:lvl3pPr>
      <a:lvl4pPr marL="1402412" indent="-200345" algn="l" defTabSz="801378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4pPr>
      <a:lvl5pPr marL="1803102" indent="-200345" algn="l" defTabSz="801378" rtl="0" eaLnBrk="1" latinLnBrk="0" hangingPunct="1">
        <a:lnSpc>
          <a:spcPct val="150000"/>
        </a:lnSpc>
        <a:spcBef>
          <a:spcPts val="439"/>
        </a:spcBef>
        <a:buFont typeface="Arial" panose="020B0604020202020204" pitchFamily="34" charset="0"/>
        <a:buChar char="•"/>
        <a:defRPr sz="1753" kern="1200">
          <a:solidFill>
            <a:schemeClr val="tx1"/>
          </a:solidFill>
          <a:latin typeface="+mn-lt"/>
          <a:ea typeface="+mn-ea"/>
          <a:cs typeface="+mn-cs"/>
        </a:defRPr>
      </a:lvl5pPr>
      <a:lvl6pPr marL="2203792" indent="-200345" algn="l" defTabSz="8013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604481" indent="-200345" algn="l" defTabSz="8013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3005170" indent="-200345" algn="l" defTabSz="8013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405859" indent="-200345" algn="l" defTabSz="801378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689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378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068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2757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3447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4136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4825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5515" algn="l" defTabSz="801378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onecompiler.com/postgresql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5">
            <a:extLst>
              <a:ext uri="{FF2B5EF4-FFF2-40B4-BE49-F238E27FC236}">
                <a16:creationId xmlns:a16="http://schemas.microsoft.com/office/drawing/2014/main" id="{9CF27C56-C0E5-4B4F-88FF-31BF6C28B879}"/>
              </a:ext>
            </a:extLst>
          </p:cNvPr>
          <p:cNvSpPr txBox="1">
            <a:spLocks/>
          </p:cNvSpPr>
          <p:nvPr/>
        </p:nvSpPr>
        <p:spPr>
          <a:xfrm>
            <a:off x="726354" y="1568450"/>
            <a:ext cx="9215314" cy="2680022"/>
          </a:xfrm>
          <a:prstGeom prst="rect">
            <a:avLst/>
          </a:prstGeom>
        </p:spPr>
        <p:txBody>
          <a:bodyPr vert="horz" wrap="square" lIns="91363" tIns="45682" rIns="91363" bIns="45682" rtlCol="0" anchor="ctr">
            <a:normAutofit fontScale="97500" lnSpcReduction="10000"/>
          </a:bodyPr>
          <a:lstStyle>
            <a:lvl1pPr algn="l" defTabSz="801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6" b="1" kern="1200">
                <a:solidFill>
                  <a:srgbClr val="004C6C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E" sz="4900" dirty="0">
                <a:solidFill>
                  <a:schemeClr val="tx1"/>
                </a:solidFill>
                <a:latin typeface="Helvetica" pitchFamily="2" charset="0"/>
              </a:rPr>
              <a:t>Creating data structures</a:t>
            </a:r>
            <a:br>
              <a:rPr lang="en-IE" sz="4396" dirty="0">
                <a:solidFill>
                  <a:schemeClr val="tx1"/>
                </a:solidFill>
                <a:latin typeface="Helvetica" pitchFamily="2" charset="0"/>
              </a:rPr>
            </a:br>
            <a:br>
              <a:rPr lang="en-IE" sz="3997" dirty="0">
                <a:solidFill>
                  <a:schemeClr val="tx1"/>
                </a:solidFill>
                <a:latin typeface="Helvetica" pitchFamily="2" charset="0"/>
              </a:rPr>
            </a:br>
            <a:r>
              <a:rPr lang="en-IE" sz="3100" dirty="0">
                <a:solidFill>
                  <a:schemeClr val="tx1"/>
                </a:solidFill>
                <a:latin typeface="Helvetica" pitchFamily="2" charset="0"/>
              </a:rPr>
              <a:t>Dr Mariana Rocha</a:t>
            </a:r>
            <a:br>
              <a:rPr lang="en-IE" sz="3100" dirty="0">
                <a:solidFill>
                  <a:schemeClr val="tx1"/>
                </a:solidFill>
                <a:latin typeface="Helvetica" pitchFamily="2" charset="0"/>
              </a:rPr>
            </a:br>
            <a:r>
              <a:rPr lang="en-IE" sz="3100" dirty="0">
                <a:solidFill>
                  <a:schemeClr val="tx1"/>
                </a:solidFill>
                <a:latin typeface="Helvetica" pitchFamily="2" charset="0"/>
              </a:rPr>
              <a:t>School of Computer Science</a:t>
            </a:r>
            <a:endParaRPr lang="en-IE" sz="3997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FBAB03-4469-5F2F-E279-22ED3D9B62E9}"/>
              </a:ext>
            </a:extLst>
          </p:cNvPr>
          <p:cNvSpPr txBox="1"/>
          <p:nvPr/>
        </p:nvSpPr>
        <p:spPr>
          <a:xfrm>
            <a:off x="739043" y="5910059"/>
            <a:ext cx="5549762" cy="492046"/>
          </a:xfrm>
          <a:prstGeom prst="rect">
            <a:avLst/>
          </a:prstGeom>
          <a:noFill/>
        </p:spPr>
        <p:txBody>
          <a:bodyPr wrap="none" lIns="91363" tIns="45682" rIns="91363" bIns="45682" rtlCol="0" anchor="t">
            <a:spAutoFit/>
          </a:bodyPr>
          <a:lstStyle/>
          <a:p>
            <a:r>
              <a:rPr lang="en-US" sz="2598" dirty="0">
                <a:latin typeface="Helvetica" pitchFamily="2" charset="0"/>
                <a:cs typeface="Open sans"/>
              </a:rPr>
              <a:t>CPMU 2007 Databases 1, Lecture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2915" y="349250"/>
            <a:ext cx="9215314" cy="670388"/>
          </a:xfrm>
          <a:prstGeom prst="rect">
            <a:avLst/>
          </a:prstGeom>
        </p:spPr>
        <p:txBody>
          <a:bodyPr vert="horz" wrap="square" lIns="0" tIns="76768" rIns="0" bIns="0" rtlCol="0" anchor="ctr">
            <a:spAutoFit/>
          </a:bodyPr>
          <a:lstStyle/>
          <a:p>
            <a:pPr marL="154182">
              <a:lnSpc>
                <a:spcPct val="100000"/>
              </a:lnSpc>
              <a:spcBef>
                <a:spcPts val="95"/>
              </a:spcBef>
            </a:pPr>
            <a:r>
              <a:rPr lang="pt-BR" spc="-20" dirty="0"/>
              <a:t>Before </a:t>
            </a:r>
            <a:r>
              <a:rPr lang="pt-BR" spc="-20" dirty="0" err="1"/>
              <a:t>we</a:t>
            </a:r>
            <a:r>
              <a:rPr lang="pt-BR" spc="-20" dirty="0"/>
              <a:t> start</a:t>
            </a:r>
            <a:endParaRPr spc="-1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27815F-D3A2-27E0-180D-5B66A77FE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15" y="1187450"/>
            <a:ext cx="9223058" cy="1309482"/>
          </a:xfrm>
        </p:spPr>
        <p:txBody>
          <a:bodyPr>
            <a:normAutofit/>
          </a:bodyPr>
          <a:lstStyle/>
          <a:p>
            <a:r>
              <a:rPr lang="en-IE" dirty="0"/>
              <a:t>Please scan the QR Code and provide your details (name, student number and email address).</a:t>
            </a:r>
          </a:p>
          <a:p>
            <a:endParaRPr lang="en-IE" dirty="0"/>
          </a:p>
        </p:txBody>
      </p:sp>
      <p:pic>
        <p:nvPicPr>
          <p:cNvPr id="1026" name="Picture 2" descr="QR code">
            <a:extLst>
              <a:ext uri="{FF2B5EF4-FFF2-40B4-BE49-F238E27FC236}">
                <a16:creationId xmlns:a16="http://schemas.microsoft.com/office/drawing/2014/main" id="{A9FFCF94-BE7B-21CE-11E2-8F3700ED6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496932"/>
            <a:ext cx="4375150" cy="437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993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65722-6D8B-D088-0D3D-41058A99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9EE984-5573-56A7-691E-3B3F06AD2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9043" y="796456"/>
            <a:ext cx="9215314" cy="670388"/>
          </a:xfrm>
          <a:prstGeom prst="rect">
            <a:avLst/>
          </a:prstGeom>
        </p:spPr>
        <p:txBody>
          <a:bodyPr vert="horz" wrap="square" lIns="0" tIns="76768" rIns="0" bIns="0" rtlCol="0" anchor="ctr">
            <a:spAutoFit/>
          </a:bodyPr>
          <a:lstStyle/>
          <a:p>
            <a:pPr marL="154182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Learning</a:t>
            </a:r>
            <a:r>
              <a:rPr spc="-22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CEC72-6BDC-DAC4-6741-55DBBC705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Review the main concepts covered last week</a:t>
            </a:r>
          </a:p>
          <a:p>
            <a:r>
              <a:rPr lang="en-IE" dirty="0"/>
              <a:t>Understand the syntax to create table</a:t>
            </a:r>
          </a:p>
          <a:p>
            <a:r>
              <a:rPr lang="en-IE" dirty="0"/>
              <a:t>Understand the syntax to connect tables</a:t>
            </a:r>
          </a:p>
          <a:p>
            <a:r>
              <a:rPr lang="en-IE" dirty="0"/>
              <a:t>Familiarise with the key constraints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77764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985F-82F4-4F51-87FD-CE843247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What have we learned so far?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53783-0D29-4CE1-D983-DFB6C0CC2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5" y="2025650"/>
            <a:ext cx="9223058" cy="4794530"/>
          </a:xfrm>
        </p:spPr>
        <p:txBody>
          <a:bodyPr>
            <a:normAutofit/>
          </a:bodyPr>
          <a:lstStyle/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30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Relational Database </a:t>
            </a:r>
          </a:p>
          <a:p>
            <a:pPr marL="654689" lvl="1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 collection of related records called </a:t>
            </a:r>
            <a:r>
              <a:rPr lang="en-GB" sz="2500" i="1" dirty="0">
                <a:solidFill>
                  <a:srgbClr val="212121"/>
                </a:solidFill>
                <a:latin typeface="Helvetica" pitchFamily="2" charset="0"/>
                <a:cs typeface="HelveticaNeue-ThinItalic"/>
              </a:rPr>
              <a:t>rows </a:t>
            </a: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(consisting of variables called </a:t>
            </a:r>
            <a:r>
              <a:rPr lang="en-GB" sz="2500" i="1" dirty="0">
                <a:solidFill>
                  <a:srgbClr val="212121"/>
                </a:solidFill>
                <a:latin typeface="Helvetica" pitchFamily="2" charset="0"/>
                <a:cs typeface="HelveticaNeue-ThinItalic"/>
              </a:rPr>
              <a:t>columns</a:t>
            </a: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), organized into </a:t>
            </a:r>
            <a:r>
              <a:rPr lang="en-GB" sz="2500" i="1" dirty="0">
                <a:solidFill>
                  <a:srgbClr val="212121"/>
                </a:solidFill>
                <a:latin typeface="Helvetica" pitchFamily="2" charset="0"/>
                <a:cs typeface="HelveticaNeue-ThinItalic"/>
              </a:rPr>
              <a:t>tables</a:t>
            </a:r>
            <a:endParaRPr lang="en-GB" sz="2500" dirty="0">
              <a:latin typeface="Helvetica" pitchFamily="2" charset="0"/>
              <a:cs typeface="HelveticaNeue-ThinItalic"/>
            </a:endParaRPr>
          </a:p>
          <a:p>
            <a:pPr marL="737235" lvl="1" indent="-24257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Tables are connected based on common variables</a:t>
            </a:r>
            <a:endParaRPr lang="en-GB" sz="2500" dirty="0">
              <a:latin typeface="Helvetica" pitchFamily="2" charset="0"/>
              <a:cs typeface="HelveticaNeue-Thin"/>
            </a:endParaRPr>
          </a:p>
          <a:p>
            <a:pPr marL="1220470" marR="285750" lvl="2" indent="-241935">
              <a:lnSpc>
                <a:spcPct val="119000"/>
              </a:lnSpc>
              <a:spcBef>
                <a:spcPts val="735"/>
              </a:spcBef>
              <a:buFont typeface="Arial"/>
              <a:buChar char="•"/>
              <a:tabLst>
                <a:tab pos="1220470" algn="l"/>
                <a:tab pos="1221105" algn="l"/>
              </a:tabLst>
            </a:pPr>
            <a:r>
              <a:rPr lang="en-GB" sz="21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Records are related based on having common values for  these common variables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30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Database Management System (DBMS)</a:t>
            </a:r>
            <a:endParaRPr lang="en-GB" sz="3000" dirty="0">
              <a:latin typeface="Helvetica" pitchFamily="2" charset="0"/>
              <a:cs typeface="HelveticaNeue-Thin"/>
            </a:endParaRPr>
          </a:p>
          <a:p>
            <a:pPr marL="737235" marR="5080" lvl="1" indent="-241935">
              <a:lnSpc>
                <a:spcPct val="124000"/>
              </a:lnSpc>
              <a:spcBef>
                <a:spcPts val="475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System software that allows us to </a:t>
            </a:r>
            <a:r>
              <a:rPr lang="en-GB" sz="3675" i="1" baseline="1133" dirty="0">
                <a:solidFill>
                  <a:srgbClr val="212121"/>
                </a:solidFill>
                <a:latin typeface="Helvetica" pitchFamily="2" charset="0"/>
                <a:cs typeface="HelveticaNeue-ThinItalic"/>
              </a:rPr>
              <a:t>manage </a:t>
            </a:r>
            <a:r>
              <a:rPr lang="en-GB" sz="25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  content/information stored in a database</a:t>
            </a:r>
            <a:endParaRPr lang="en-GB" sz="2500" dirty="0">
              <a:latin typeface="Helvetica" pitchFamily="2" charset="0"/>
              <a:cs typeface="HelveticaNeue-Thin"/>
            </a:endParaRPr>
          </a:p>
          <a:p>
            <a:endParaRPr lang="en-IE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74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E135-2A58-3096-4A04-1F04015B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How do we instruct the DBMS?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D4312-6DD8-586A-E3C1-072DE03A2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862888"/>
            <a:ext cx="9223058" cy="4794530"/>
          </a:xfrm>
        </p:spPr>
        <p:txBody>
          <a:bodyPr>
            <a:normAutofit fontScale="92500" lnSpcReduction="10000"/>
          </a:bodyPr>
          <a:lstStyle/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SQL (Structured Query Language)</a:t>
            </a:r>
          </a:p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Includes:</a:t>
            </a:r>
          </a:p>
          <a:p>
            <a:pPr marL="711200" lvl="1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Data Manipulation Language (DML)</a:t>
            </a:r>
          </a:p>
          <a:p>
            <a:pPr marL="711200" lvl="1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Data Definition Language (DDL)</a:t>
            </a:r>
          </a:p>
          <a:p>
            <a:pPr marL="354965" indent="-342900">
              <a:spcBef>
                <a:spcPts val="1160"/>
              </a:spcBef>
              <a:buFont typeface="Arial" panose="020B0604020202020204" pitchFamily="34" charset="0"/>
              <a:buChar char="•"/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Before we can manipulate data, we need to</a:t>
            </a:r>
          </a:p>
          <a:p>
            <a:pPr marL="412754" lvl="1">
              <a:spcBef>
                <a:spcPts val="1160"/>
              </a:spcBef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	Define the data structure</a:t>
            </a:r>
          </a:p>
          <a:p>
            <a:pPr marL="412754" lvl="1">
              <a:spcBef>
                <a:spcPts val="1160"/>
              </a:spcBef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	Populate the data adhering to the constraints (outlined in the meta-data)</a:t>
            </a:r>
          </a:p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endParaRPr lang="en-IE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E135-2A58-3096-4A04-1F04015B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How do we instruct the DBMS?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D4312-6DD8-586A-E3C1-072DE03A2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862888"/>
            <a:ext cx="9223058" cy="4794530"/>
          </a:xfrm>
        </p:spPr>
        <p:txBody>
          <a:bodyPr>
            <a:normAutofit/>
          </a:bodyPr>
          <a:lstStyle/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SQL is case-insensitive – to the DBMS, </a:t>
            </a:r>
            <a:r>
              <a:rPr lang="en-IE" sz="2400" b="1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CREATE </a:t>
            </a: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or </a:t>
            </a:r>
            <a:r>
              <a:rPr lang="en-IE" sz="2400" b="1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create</a:t>
            </a: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 means the same</a:t>
            </a:r>
          </a:p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However, there is a need to work on some convention in case other developers need to read your code</a:t>
            </a:r>
          </a:p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To practice that, we will write SQL keywords in uppercase letters, data type in uppercase letters, and table names and properties in lowercase letters. </a:t>
            </a:r>
          </a:p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endParaRPr lang="en-IE" sz="21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endParaRPr lang="en-IE" sz="21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pPr marL="254000" indent="-241935">
              <a:spcBef>
                <a:spcPts val="1160"/>
              </a:spcBef>
              <a:buFont typeface="Arial"/>
              <a:buChar char="•"/>
              <a:tabLst>
                <a:tab pos="254635" algn="l"/>
              </a:tabLst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endParaRPr lang="en-IE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433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E135-2A58-3096-4A04-1F04015BB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DDL and DML main commands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D59AD8C1-662A-E085-A45C-6A1AD71785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699622"/>
              </p:ext>
            </p:extLst>
          </p:nvPr>
        </p:nvGraphicFramePr>
        <p:xfrm>
          <a:off x="246321" y="2025650"/>
          <a:ext cx="10200757" cy="43539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602171">
                  <a:extLst>
                    <a:ext uri="{9D8B030D-6E8A-4147-A177-3AD203B41FA5}">
                      <a16:colId xmlns:a16="http://schemas.microsoft.com/office/drawing/2014/main" val="1260896387"/>
                    </a:ext>
                  </a:extLst>
                </a:gridCol>
                <a:gridCol w="2532862">
                  <a:extLst>
                    <a:ext uri="{9D8B030D-6E8A-4147-A177-3AD203B41FA5}">
                      <a16:colId xmlns:a16="http://schemas.microsoft.com/office/drawing/2014/main" val="545512693"/>
                    </a:ext>
                  </a:extLst>
                </a:gridCol>
                <a:gridCol w="2532862">
                  <a:extLst>
                    <a:ext uri="{9D8B030D-6E8A-4147-A177-3AD203B41FA5}">
                      <a16:colId xmlns:a16="http://schemas.microsoft.com/office/drawing/2014/main" val="1131225191"/>
                    </a:ext>
                  </a:extLst>
                </a:gridCol>
                <a:gridCol w="2532862">
                  <a:extLst>
                    <a:ext uri="{9D8B030D-6E8A-4147-A177-3AD203B41FA5}">
                      <a16:colId xmlns:a16="http://schemas.microsoft.com/office/drawing/2014/main" val="3943897072"/>
                    </a:ext>
                  </a:extLst>
                </a:gridCol>
              </a:tblGrid>
              <a:tr h="4701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DDL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6204"/>
                  </a:ext>
                </a:extLst>
              </a:tr>
              <a:tr h="4701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Definition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Definition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982367"/>
                  </a:ext>
                </a:extLst>
              </a:tr>
              <a:tr h="4701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CREATE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Defines a new table and its columns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INSERT INTO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Add new rows to existing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722802"/>
                  </a:ext>
                </a:extLst>
              </a:tr>
              <a:tr h="47010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ALTER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Modifies existing table structure (e.g. adding or removing columns)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UPDATE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Modifies rows in existing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84351"/>
                  </a:ext>
                </a:extLst>
              </a:tr>
              <a:tr h="470100"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DROP TABLE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Deletes existing table and its data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DELETE FROM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Remove data from existing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265120"/>
                  </a:ext>
                </a:extLst>
              </a:tr>
              <a:tr h="470100">
                <a:tc vMerge="1"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SELECT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1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Retrieves data from existing table(s)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59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94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171707"/>
              </p:ext>
            </p:extLst>
          </p:nvPr>
        </p:nvGraphicFramePr>
        <p:xfrm>
          <a:off x="1360487" y="4082184"/>
          <a:ext cx="7972425" cy="19329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6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2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500" spc="10" dirty="0">
                          <a:solidFill>
                            <a:srgbClr val="002060"/>
                          </a:solidFill>
                        </a:rPr>
                        <a:t>studentId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500" spc="10" dirty="0">
                          <a:solidFill>
                            <a:srgbClr val="002060"/>
                          </a:solidFill>
                        </a:rPr>
                        <a:t>first</a:t>
                      </a:r>
                      <a:r>
                        <a:rPr lang="pt-BR" sz="2500" spc="10" dirty="0">
                          <a:solidFill>
                            <a:srgbClr val="002060"/>
                          </a:solidFill>
                        </a:rPr>
                        <a:t>N</a:t>
                      </a:r>
                      <a:r>
                        <a:rPr sz="2500" spc="10" dirty="0" err="1">
                          <a:solidFill>
                            <a:srgbClr val="002060"/>
                          </a:solidFill>
                        </a:rPr>
                        <a:t>ame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500" spc="10" dirty="0">
                          <a:solidFill>
                            <a:srgbClr val="002060"/>
                          </a:solidFill>
                        </a:rPr>
                        <a:t>programme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spc="20" dirty="0">
                          <a:solidFill>
                            <a:srgbClr val="008000"/>
                          </a:solidFill>
                        </a:rPr>
                        <a:t>S1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spc="15" dirty="0">
                          <a:solidFill>
                            <a:srgbClr val="008000"/>
                          </a:solidFill>
                        </a:rPr>
                        <a:t>Anne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spc="20" dirty="0">
                          <a:solidFill>
                            <a:srgbClr val="008000"/>
                          </a:solidFill>
                        </a:rPr>
                        <a:t>C1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500" spc="20" dirty="0">
                          <a:solidFill>
                            <a:srgbClr val="008000"/>
                          </a:solidFill>
                        </a:rPr>
                        <a:t>S2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500" spc="10" dirty="0">
                          <a:solidFill>
                            <a:srgbClr val="008000"/>
                          </a:solidFill>
                        </a:rPr>
                        <a:t>Boris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500" spc="20" dirty="0">
                          <a:solidFill>
                            <a:srgbClr val="008000"/>
                          </a:solidFill>
                        </a:rPr>
                        <a:t>C1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spc="20" dirty="0">
                          <a:solidFill>
                            <a:srgbClr val="008000"/>
                          </a:solidFill>
                        </a:rPr>
                        <a:t>S3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spc="10" dirty="0">
                          <a:solidFill>
                            <a:srgbClr val="008000"/>
                          </a:solidFill>
                        </a:rPr>
                        <a:t>Cindy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spc="20" dirty="0">
                          <a:solidFill>
                            <a:srgbClr val="008000"/>
                          </a:solidFill>
                        </a:rPr>
                        <a:t>C3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1B67862-9FFB-0263-A147-18B47C51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360AA1-F0A6-1D45-E783-6C961217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747367"/>
            <a:ext cx="9223058" cy="2030883"/>
          </a:xfrm>
        </p:spPr>
        <p:txBody>
          <a:bodyPr/>
          <a:lstStyle/>
          <a:p>
            <a:r>
              <a:rPr lang="en-IE" dirty="0"/>
              <a:t>Fundamental structure in the relational model</a:t>
            </a:r>
          </a:p>
          <a:p>
            <a:r>
              <a:rPr lang="en-IE" dirty="0"/>
              <a:t>Organised collection of symbols</a:t>
            </a:r>
          </a:p>
          <a:p>
            <a:r>
              <a:rPr lang="en-IE" dirty="0"/>
              <a:t>Organised into rows and columns</a:t>
            </a:r>
          </a:p>
          <a:p>
            <a:endParaRPr lang="en-I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026F-A466-D655-62F1-B7981B09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 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C9A05-15FE-C68A-1D9D-4184A216E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4965" indent="-342900">
              <a:lnSpc>
                <a:spcPct val="100000"/>
              </a:lnSpc>
              <a:spcBef>
                <a:spcPts val="1130"/>
              </a:spcBef>
              <a:buClr>
                <a:srgbClr val="212121"/>
              </a:buClr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800" spc="5" dirty="0">
                <a:solidFill>
                  <a:srgbClr val="212121"/>
                </a:solidFill>
                <a:latin typeface="Times" pitchFamily="2" charset="0"/>
                <a:cs typeface="Arial" panose="020B0604020202020204" pitchFamily="34" charset="0"/>
              </a:rPr>
              <a:t>A table is an object that can store data in a database.</a:t>
            </a:r>
          </a:p>
          <a:p>
            <a:pPr marL="354965" marR="250825" indent="-342900">
              <a:lnSpc>
                <a:spcPct val="101699"/>
              </a:lnSpc>
              <a:spcBef>
                <a:spcPts val="985"/>
              </a:spcBef>
              <a:buClr>
                <a:srgbClr val="212121"/>
              </a:buClr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800" spc="5" dirty="0">
                <a:solidFill>
                  <a:srgbClr val="212121"/>
                </a:solidFill>
                <a:latin typeface="Times" pitchFamily="2" charset="0"/>
                <a:cs typeface="Arial" panose="020B0604020202020204" pitchFamily="34" charset="0"/>
              </a:rPr>
              <a:t>You will create a table for each ‘thing’ you want to store data about.</a:t>
            </a:r>
          </a:p>
          <a:p>
            <a:pPr marL="457200" indent="-457200">
              <a:lnSpc>
                <a:spcPct val="100000"/>
              </a:lnSpc>
              <a:spcBef>
                <a:spcPts val="40"/>
              </a:spcBef>
              <a:buClr>
                <a:srgbClr val="212121"/>
              </a:buClr>
              <a:buFont typeface="Arial"/>
              <a:buChar char="•"/>
            </a:pPr>
            <a:endParaRPr lang="en-GB" sz="2800" spc="5" dirty="0">
              <a:solidFill>
                <a:srgbClr val="212121"/>
              </a:solidFill>
              <a:latin typeface="Times" pitchFamily="2" charset="0"/>
              <a:cs typeface="Arial" panose="020B0604020202020204" pitchFamily="34" charset="0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Clr>
                <a:srgbClr val="212121"/>
              </a:buClr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800" spc="5" dirty="0">
                <a:solidFill>
                  <a:srgbClr val="212121"/>
                </a:solidFill>
                <a:latin typeface="Times" pitchFamily="2" charset="0"/>
                <a:cs typeface="Arial" panose="020B0604020202020204" pitchFamily="34" charset="0"/>
              </a:rPr>
              <a:t>When you create a table, you must specify:</a:t>
            </a:r>
          </a:p>
          <a:p>
            <a:pPr marL="837565" lvl="1" indent="-342900">
              <a:lnSpc>
                <a:spcPct val="100000"/>
              </a:lnSpc>
              <a:spcBef>
                <a:spcPts val="540"/>
              </a:spcBef>
              <a:buClr>
                <a:srgbClr val="212121"/>
              </a:buClr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GB" sz="2800" spc="5" dirty="0">
                <a:solidFill>
                  <a:srgbClr val="212121"/>
                </a:solidFill>
                <a:latin typeface="Times" pitchFamily="2" charset="0"/>
                <a:cs typeface="Arial" panose="020B0604020202020204" pitchFamily="34" charset="0"/>
              </a:rPr>
              <a:t>the table name,</a:t>
            </a:r>
          </a:p>
          <a:p>
            <a:pPr marL="837565" lvl="1" indent="-342900">
              <a:lnSpc>
                <a:spcPct val="100000"/>
              </a:lnSpc>
              <a:spcBef>
                <a:spcPts val="500"/>
              </a:spcBef>
              <a:buClr>
                <a:srgbClr val="212121"/>
              </a:buClr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GB" sz="2800" spc="5" dirty="0">
                <a:solidFill>
                  <a:srgbClr val="212121"/>
                </a:solidFill>
                <a:latin typeface="Times" pitchFamily="2" charset="0"/>
                <a:cs typeface="Arial" panose="020B0604020202020204" pitchFamily="34" charset="0"/>
              </a:rPr>
              <a:t>the name of each column,</a:t>
            </a:r>
          </a:p>
          <a:p>
            <a:pPr marL="837565" lvl="1" indent="-342900">
              <a:lnSpc>
                <a:spcPct val="100000"/>
              </a:lnSpc>
              <a:spcBef>
                <a:spcPts val="600"/>
              </a:spcBef>
              <a:buClr>
                <a:srgbClr val="212121"/>
              </a:buClr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GB" sz="2800" spc="5" dirty="0">
                <a:solidFill>
                  <a:srgbClr val="212121"/>
                </a:solidFill>
                <a:latin typeface="Times" pitchFamily="2" charset="0"/>
                <a:cs typeface="Arial" panose="020B0604020202020204" pitchFamily="34" charset="0"/>
              </a:rPr>
              <a:t>the data type of each column,</a:t>
            </a:r>
          </a:p>
          <a:p>
            <a:pPr marL="837565" lvl="1" indent="-342900">
              <a:lnSpc>
                <a:spcPct val="100000"/>
              </a:lnSpc>
              <a:spcBef>
                <a:spcPts val="505"/>
              </a:spcBef>
              <a:buClr>
                <a:srgbClr val="212121"/>
              </a:buClr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GB" sz="2800" spc="5" dirty="0">
                <a:solidFill>
                  <a:srgbClr val="212121"/>
                </a:solidFill>
                <a:latin typeface="Times" pitchFamily="2" charset="0"/>
                <a:cs typeface="Arial" panose="020B0604020202020204" pitchFamily="34" charset="0"/>
              </a:rPr>
              <a:t>the size of each column</a:t>
            </a:r>
          </a:p>
          <a:p>
            <a:pPr marL="837565" lvl="1" indent="-342900">
              <a:lnSpc>
                <a:spcPct val="100000"/>
              </a:lnSpc>
              <a:spcBef>
                <a:spcPts val="505"/>
              </a:spcBef>
              <a:buClr>
                <a:srgbClr val="212121"/>
              </a:buClr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GB" sz="2800" spc="5" dirty="0">
                <a:solidFill>
                  <a:srgbClr val="212121"/>
                </a:solidFill>
                <a:latin typeface="Times" pitchFamily="2" charset="0"/>
                <a:cs typeface="Arial" panose="020B0604020202020204" pitchFamily="34" charset="0"/>
              </a:rPr>
              <a:t>any constraints on the data that each column can contain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026F-A466-D655-62F1-B7981B09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 table -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C9A05-15FE-C68A-1D9D-4184A216E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965" indent="-342900">
              <a:lnSpc>
                <a:spcPct val="100000"/>
              </a:lnSpc>
              <a:spcBef>
                <a:spcPts val="1130"/>
              </a:spcBef>
              <a:buClr>
                <a:srgbClr val="212121"/>
              </a:buClr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Sometimes, we want to create a table that already exists</a:t>
            </a:r>
          </a:p>
          <a:p>
            <a:pPr marL="354965" indent="-342900">
              <a:lnSpc>
                <a:spcPct val="100000"/>
              </a:lnSpc>
              <a:spcBef>
                <a:spcPts val="1130"/>
              </a:spcBef>
              <a:buClr>
                <a:srgbClr val="212121"/>
              </a:buClr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If you are sure you do not need a table with that name, use the DROP TABLE DDL statement before creating the new table</a:t>
            </a:r>
          </a:p>
          <a:p>
            <a:pPr marL="354965" indent="-342900">
              <a:lnSpc>
                <a:spcPct val="100000"/>
              </a:lnSpc>
              <a:spcBef>
                <a:spcPts val="1130"/>
              </a:spcBef>
              <a:buClr>
                <a:srgbClr val="212121"/>
              </a:buClr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In Postgres, it is good practice to use DROP TABLE IF EXISTS. This statement will check if the table exists before trying to drop it.</a:t>
            </a:r>
          </a:p>
          <a:p>
            <a:pPr marL="354965" indent="-342900">
              <a:lnSpc>
                <a:spcPct val="100000"/>
              </a:lnSpc>
              <a:spcBef>
                <a:spcPts val="1130"/>
              </a:spcBef>
              <a:buClr>
                <a:srgbClr val="212121"/>
              </a:buClr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It is good practice to drop tables in the opposite order they were created</a:t>
            </a:r>
          </a:p>
          <a:p>
            <a:pPr marL="354965" indent="-342900">
              <a:lnSpc>
                <a:spcPct val="100000"/>
              </a:lnSpc>
              <a:spcBef>
                <a:spcPts val="1130"/>
              </a:spcBef>
              <a:buClr>
                <a:srgbClr val="212121"/>
              </a:buClr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Do not forget to comment on your code to make it clearer. Double dash (--) is used for single-line comments, while /* */is used to enclose multi-line comments.</a:t>
            </a:r>
          </a:p>
        </p:txBody>
      </p:sp>
    </p:spTree>
    <p:extLst>
      <p:ext uri="{BB962C8B-B14F-4D97-AF65-F5344CB8AC3E}">
        <p14:creationId xmlns:p14="http://schemas.microsoft.com/office/powerpoint/2010/main" val="1565386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026F-A466-D655-62F1-B7981B09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 table -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C9A05-15FE-C68A-1D9D-4184A216E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GB" sz="24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Suppose we want to model a very basic version of IMDb (Internet Movie Database)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0707892A-43B2-2872-DC7F-9514B260B9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700" y="3321050"/>
            <a:ext cx="6828047" cy="400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4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026F-A466-D655-62F1-B7981B09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 table -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C9A05-15FE-C68A-1D9D-4184A216E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GB" sz="23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We want to store data about movies and actors</a:t>
            </a: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GB" sz="23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We need TWO basic tables: </a:t>
            </a:r>
            <a:r>
              <a:rPr lang="en-GB" sz="2300" b="1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movies</a:t>
            </a:r>
            <a:r>
              <a:rPr lang="en-GB" sz="23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 and </a:t>
            </a:r>
            <a:r>
              <a:rPr lang="en-GB" sz="2300" b="1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actors</a:t>
            </a: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GB" sz="23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Let’s work on it together. Open </a:t>
            </a:r>
            <a:r>
              <a:rPr lang="en-GB" sz="2300" spc="5" dirty="0" err="1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DBeaver</a:t>
            </a:r>
            <a:r>
              <a:rPr lang="en-GB" sz="23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 on your laptop or use the </a:t>
            </a:r>
            <a:r>
              <a:rPr lang="en-IE" sz="2300" dirty="0">
                <a:latin typeface="Helvetica" pitchFamily="2" charset="0"/>
                <a:hlinkClick r:id="rId2"/>
              </a:rPr>
              <a:t>https://onecompiler.com/postgresql</a:t>
            </a:r>
            <a:r>
              <a:rPr lang="en-IE" sz="2300" dirty="0">
                <a:latin typeface="Helvetica" pitchFamily="2" charset="0"/>
              </a:rPr>
              <a:t> website to create the tables. Consider:</a:t>
            </a:r>
          </a:p>
          <a:p>
            <a:pPr marL="869954" marR="5080" lvl="1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IE" sz="2300" dirty="0">
                <a:latin typeface="Helvetica" pitchFamily="2" charset="0"/>
              </a:rPr>
              <a:t>What commands will you use?</a:t>
            </a:r>
          </a:p>
          <a:p>
            <a:pPr marL="869954" marR="5080" lvl="1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IE" sz="2300" dirty="0">
                <a:latin typeface="Helvetica" pitchFamily="2" charset="0"/>
              </a:rPr>
              <a:t>What columns will you include?</a:t>
            </a:r>
          </a:p>
          <a:p>
            <a:pPr marL="869954" marR="5080" lvl="1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IE" sz="2300" dirty="0">
                <a:latin typeface="Helvetica" pitchFamily="2" charset="0"/>
              </a:rPr>
              <a:t>Which of these columns will be the unique identifier?</a:t>
            </a:r>
          </a:p>
          <a:p>
            <a:pPr marL="869954" marR="5080" lvl="1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IE" sz="2300" dirty="0">
                <a:latin typeface="Helvetica" pitchFamily="2" charset="0"/>
              </a:rPr>
              <a:t>What types of data will you insert?</a:t>
            </a: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300" dirty="0">
              <a:latin typeface="Helvetica" pitchFamily="2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300" dirty="0">
              <a:latin typeface="Helvetica" pitchFamily="2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GB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pPr marL="12065" marR="5080" indent="0">
              <a:spcBef>
                <a:spcPts val="95"/>
              </a:spcBef>
              <a:buClr>
                <a:srgbClr val="212121"/>
              </a:buClr>
              <a:buNone/>
              <a:tabLst>
                <a:tab pos="254635" algn="l"/>
              </a:tabLst>
            </a:pPr>
            <a:endParaRPr lang="en-GB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GB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765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026F-A466-D655-62F1-B7981B09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 table -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C9A05-15FE-C68A-1D9D-4184A216E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r>
              <a:rPr lang="en-IE" sz="2300" spc="5" dirty="0">
                <a:solidFill>
                  <a:srgbClr val="212121"/>
                </a:solidFill>
                <a:latin typeface="Helvetica" pitchFamily="2" charset="0"/>
                <a:cs typeface="Arial" panose="020B0604020202020204" pitchFamily="34" charset="0"/>
              </a:rPr>
              <a:t>What piece of data is unique?</a:t>
            </a:r>
            <a:endParaRPr lang="en-IE" sz="2300" dirty="0">
              <a:latin typeface="Helvetica" pitchFamily="2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300" dirty="0">
              <a:latin typeface="Helvetica" pitchFamily="2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300" dirty="0">
              <a:latin typeface="Helvetica" pitchFamily="2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pPr marL="12065" marR="5080" indent="0">
              <a:spcBef>
                <a:spcPts val="95"/>
              </a:spcBef>
              <a:buClr>
                <a:srgbClr val="212121"/>
              </a:buClr>
              <a:buNone/>
              <a:tabLst>
                <a:tab pos="254635" algn="l"/>
              </a:tabLst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3558496C-4E6E-A247-F271-CF5D2A505B31}"/>
              </a:ext>
            </a:extLst>
          </p:cNvPr>
          <p:cNvSpPr txBox="1"/>
          <p:nvPr/>
        </p:nvSpPr>
        <p:spPr>
          <a:xfrm>
            <a:off x="3430905" y="3455036"/>
            <a:ext cx="6411595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Helvetica" pitchFamily="2" charset="0"/>
                <a:cs typeface="Arial"/>
              </a:rPr>
              <a:t>movieId, movieTitle, </a:t>
            </a:r>
            <a:r>
              <a:rPr lang="pt-BR" sz="2500" dirty="0" err="1">
                <a:latin typeface="Helvetica" pitchFamily="2" charset="0"/>
                <a:cs typeface="Arial"/>
              </a:rPr>
              <a:t>releaseY</a:t>
            </a:r>
            <a:r>
              <a:rPr sz="2500" dirty="0">
                <a:latin typeface="Helvetica" pitchFamily="2" charset="0"/>
                <a:cs typeface="Arial"/>
              </a:rPr>
              <a:t>ear, Director, Budget,  Profit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1FA5206F-76FF-8F47-C0BF-53FA15D84BD1}"/>
              </a:ext>
            </a:extLst>
          </p:cNvPr>
          <p:cNvSpPr txBox="1"/>
          <p:nvPr/>
        </p:nvSpPr>
        <p:spPr>
          <a:xfrm>
            <a:off x="3430904" y="4857116"/>
            <a:ext cx="290639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Helvetica" pitchFamily="2" charset="0"/>
                <a:cs typeface="Arial"/>
              </a:rPr>
              <a:t>actorId, actorName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107A0-BD6E-2B1E-7BCA-EC84CAA80CA1}"/>
              </a:ext>
            </a:extLst>
          </p:cNvPr>
          <p:cNvSpPr/>
          <p:nvPr/>
        </p:nvSpPr>
        <p:spPr>
          <a:xfrm>
            <a:off x="1324708" y="2943808"/>
            <a:ext cx="1828800" cy="1447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 err="1">
                <a:latin typeface="Helvetica" pitchFamily="2" charset="0"/>
              </a:rPr>
              <a:t>Movies</a:t>
            </a:r>
            <a:endParaRPr lang="pt-PT" sz="28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A583A-D4B2-9D1A-FB42-581142A185E2}"/>
              </a:ext>
            </a:extLst>
          </p:cNvPr>
          <p:cNvSpPr/>
          <p:nvPr/>
        </p:nvSpPr>
        <p:spPr>
          <a:xfrm>
            <a:off x="1297303" y="4540250"/>
            <a:ext cx="1828800" cy="1447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 err="1">
                <a:latin typeface="Helvetica" pitchFamily="2" charset="0"/>
              </a:rPr>
              <a:t>Actors</a:t>
            </a:r>
            <a:endParaRPr lang="pt-PT" sz="2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30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9043" y="787925"/>
            <a:ext cx="9215314" cy="630026"/>
          </a:xfrm>
          <a:prstGeom prst="rect">
            <a:avLst/>
          </a:prstGeom>
        </p:spPr>
        <p:txBody>
          <a:bodyPr vert="horz" wrap="square" lIns="0" tIns="95041" rIns="0" bIns="0" rtlCol="0">
            <a:spAutoFit/>
          </a:bodyPr>
          <a:lstStyle/>
          <a:p>
            <a:pPr marL="154816" algn="l" defTabSz="801378" rtl="0">
              <a:lnSpc>
                <a:spcPct val="90000"/>
              </a:lnSpc>
              <a:spcBef>
                <a:spcPct val="0"/>
              </a:spcBef>
            </a:pPr>
            <a:r>
              <a:rPr sz="3856" b="1" kern="1200" dirty="0">
                <a:solidFill>
                  <a:srgbClr val="004C6C"/>
                </a:solidFill>
                <a:latin typeface="+mj-lt"/>
                <a:cs typeface="+mj-cs"/>
              </a:rPr>
              <a:t>Metadata - Datatypes in </a:t>
            </a:r>
            <a:r>
              <a:rPr lang="pt-BR" sz="3856" b="1" kern="1200" dirty="0">
                <a:solidFill>
                  <a:srgbClr val="004C6C"/>
                </a:solidFill>
                <a:latin typeface="+mj-lt"/>
                <a:cs typeface="+mj-cs"/>
              </a:rPr>
              <a:t>PostgreSQL</a:t>
            </a:r>
            <a:endParaRPr sz="3856" b="1" kern="1200" dirty="0">
              <a:solidFill>
                <a:srgbClr val="004C6C"/>
              </a:solidFill>
              <a:latin typeface="+mj-lt"/>
              <a:cs typeface="+mj-cs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5A24147-8135-80AC-442F-4B56B6A60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833433"/>
              </p:ext>
            </p:extLst>
          </p:nvPr>
        </p:nvGraphicFramePr>
        <p:xfrm>
          <a:off x="407212" y="1568450"/>
          <a:ext cx="9878976" cy="55792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781583">
                  <a:extLst>
                    <a:ext uri="{9D8B030D-6E8A-4147-A177-3AD203B41FA5}">
                      <a16:colId xmlns:a16="http://schemas.microsoft.com/office/drawing/2014/main" val="614290703"/>
                    </a:ext>
                  </a:extLst>
                </a:gridCol>
                <a:gridCol w="3697673">
                  <a:extLst>
                    <a:ext uri="{9D8B030D-6E8A-4147-A177-3AD203B41FA5}">
                      <a16:colId xmlns:a16="http://schemas.microsoft.com/office/drawing/2014/main" val="1684879033"/>
                    </a:ext>
                  </a:extLst>
                </a:gridCol>
                <a:gridCol w="4399720">
                  <a:extLst>
                    <a:ext uri="{9D8B030D-6E8A-4147-A177-3AD203B41FA5}">
                      <a16:colId xmlns:a16="http://schemas.microsoft.com/office/drawing/2014/main" val="2763929344"/>
                    </a:ext>
                  </a:extLst>
                </a:gridCol>
              </a:tblGrid>
              <a:tr h="409330">
                <a:tc>
                  <a:txBody>
                    <a:bodyPr/>
                    <a:lstStyle/>
                    <a:p>
                      <a:pPr fontAlgn="b"/>
                      <a:r>
                        <a:rPr lang="en-GB" sz="1800" b="1" dirty="0">
                          <a:effectLst/>
                          <a:latin typeface="Helvetica" pitchFamily="2" charset="0"/>
                        </a:rPr>
                        <a:t>Data Type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800" b="1">
                          <a:effectLst/>
                          <a:latin typeface="Helvetica" pitchFamily="2" charset="0"/>
                        </a:rPr>
                        <a:t>SQL Code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800" b="1">
                          <a:effectLst/>
                          <a:latin typeface="Helvetica" pitchFamily="2" charset="0"/>
                        </a:rPr>
                        <a:t>Description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3691881578"/>
                  </a:ext>
                </a:extLst>
              </a:tr>
              <a:tr h="409330"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INTEGER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INTEGER or INT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A 32-bit signed integer.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3455884621"/>
                  </a:ext>
                </a:extLst>
              </a:tr>
              <a:tr h="409330"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BIGINT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BIGINT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A 64-bit signed integer.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3240019898"/>
                  </a:ext>
                </a:extLst>
              </a:tr>
              <a:tr h="706514"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CHAR(n)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algn="l" rtl="0"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CHAR(n)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marL="0" algn="l" rtl="0"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Fixed-length character string with an exact length of ‘n’ characters.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952171212"/>
                  </a:ext>
                </a:extLst>
              </a:tr>
              <a:tr h="706514"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VARCHAR(n)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VARCHAR(n)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Variable-length character string with a maximum length of 'n' characters.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109448995"/>
                  </a:ext>
                </a:extLst>
              </a:tr>
              <a:tr h="706514"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TEXT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TEXT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Variable-length character string without a maximum length.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3857777267"/>
                  </a:ext>
                </a:extLst>
              </a:tr>
              <a:tr h="706514"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TIMESTAMP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TIMESTAMP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Date and time including fractional seconds.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2518731509"/>
                  </a:ext>
                </a:extLst>
              </a:tr>
              <a:tr h="409330"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DATE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DATE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Date without a time component.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40405852"/>
                  </a:ext>
                </a:extLst>
              </a:tr>
              <a:tr h="409330"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BOOLEAN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BOOLEAN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Represents true or false values.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2950996032"/>
                  </a:ext>
                </a:extLst>
              </a:tr>
              <a:tr h="706514">
                <a:tc>
                  <a:txBody>
                    <a:bodyPr/>
                    <a:lstStyle/>
                    <a:p>
                      <a:pPr fontAlgn="base"/>
                      <a:r>
                        <a:rPr lang="en-GB" sz="1800">
                          <a:effectLst/>
                          <a:latin typeface="Helvetica" pitchFamily="2" charset="0"/>
                        </a:rPr>
                        <a:t>DECIMAL(p, s)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DECIMAL(p, s) or NUMERIC(p, s)</a:t>
                      </a:r>
                    </a:p>
                  </a:txBody>
                  <a:tcPr marL="91363" marR="91363" marT="45682" marB="45682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Helvetica" pitchFamily="2" charset="0"/>
                        </a:rPr>
                        <a:t>Fixed-point number with 'p' total digits and 's' fractional digits.</a:t>
                      </a:r>
                    </a:p>
                  </a:txBody>
                  <a:tcPr marL="91363" marR="91363" marT="45682" marB="45682" anchor="ctr"/>
                </a:tc>
                <a:extLst>
                  <a:ext uri="{0D108BD9-81ED-4DB2-BD59-A6C34878D82A}">
                    <a16:rowId xmlns:a16="http://schemas.microsoft.com/office/drawing/2014/main" val="12757816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026F-A466-D655-62F1-B7981B09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 table -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C9A05-15FE-C68A-1D9D-4184A216E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065" marR="5080" indent="0">
              <a:spcBef>
                <a:spcPts val="95"/>
              </a:spcBef>
              <a:buClr>
                <a:srgbClr val="212121"/>
              </a:buClr>
              <a:buNone/>
              <a:tabLst>
                <a:tab pos="254635" algn="l"/>
              </a:tabLst>
            </a:pPr>
            <a:endParaRPr lang="en-IE" sz="2300" dirty="0">
              <a:latin typeface="Helvetica" pitchFamily="2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300" dirty="0">
              <a:latin typeface="Helvetica" pitchFamily="2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pPr marL="12065" marR="5080" indent="0">
              <a:spcBef>
                <a:spcPts val="95"/>
              </a:spcBef>
              <a:buClr>
                <a:srgbClr val="212121"/>
              </a:buClr>
              <a:buNone/>
              <a:tabLst>
                <a:tab pos="254635" algn="l"/>
              </a:tabLst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  <a:p>
            <a:pPr marL="469265" marR="5080" indent="-457200">
              <a:spcBef>
                <a:spcPts val="95"/>
              </a:spcBef>
              <a:buClr>
                <a:srgbClr val="212121"/>
              </a:buClr>
              <a:buFont typeface="Arial"/>
              <a:buChar char="•"/>
              <a:tabLst>
                <a:tab pos="254635" algn="l"/>
              </a:tabLst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107A0-BD6E-2B1E-7BCA-EC84CAA80CA1}"/>
              </a:ext>
            </a:extLst>
          </p:cNvPr>
          <p:cNvSpPr/>
          <p:nvPr/>
        </p:nvSpPr>
        <p:spPr>
          <a:xfrm>
            <a:off x="1324708" y="2943808"/>
            <a:ext cx="1828800" cy="1447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 err="1">
                <a:latin typeface="Helvetica" pitchFamily="2" charset="0"/>
              </a:rPr>
              <a:t>Movies</a:t>
            </a:r>
            <a:endParaRPr lang="pt-PT" sz="28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A583A-D4B2-9D1A-FB42-581142A185E2}"/>
              </a:ext>
            </a:extLst>
          </p:cNvPr>
          <p:cNvSpPr/>
          <p:nvPr/>
        </p:nvSpPr>
        <p:spPr>
          <a:xfrm>
            <a:off x="1308100" y="4540250"/>
            <a:ext cx="1828800" cy="14478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dirty="0" err="1">
                <a:latin typeface="Helvetica" pitchFamily="2" charset="0"/>
              </a:rPr>
              <a:t>Actors</a:t>
            </a:r>
            <a:endParaRPr lang="pt-PT" sz="2800" dirty="0"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EE000-DD3E-818A-E0EB-DE3E7FA1F3F3}"/>
              </a:ext>
            </a:extLst>
          </p:cNvPr>
          <p:cNvSpPr txBox="1"/>
          <p:nvPr/>
        </p:nvSpPr>
        <p:spPr>
          <a:xfrm>
            <a:off x="3409917" y="3168650"/>
            <a:ext cx="5346832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movies (</a:t>
            </a:r>
            <a:r>
              <a:rPr lang="en-GB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movieId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SERIAL PRIMARY KEY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movieTitle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VARCHAR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50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GB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releaseYear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director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VARCHAR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 budget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profit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2042A-E60E-E03E-7AE3-4F9F4798664C}"/>
              </a:ext>
            </a:extLst>
          </p:cNvPr>
          <p:cNvSpPr txBox="1"/>
          <p:nvPr/>
        </p:nvSpPr>
        <p:spPr>
          <a:xfrm>
            <a:off x="3409917" y="4940984"/>
            <a:ext cx="5346832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actors (</a:t>
            </a:r>
            <a:r>
              <a:rPr lang="en-GB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actorId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SERIAL PRIMARY KEY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actorName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VARCHAR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436774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24A04-61C9-FF4E-AE7D-FBDD9DB8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Naming tables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DE23E-46BC-BE37-E1CE-444F61C28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4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The</a:t>
            </a:r>
            <a:r>
              <a:rPr lang="en-GB" sz="2400" spc="-6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table</a:t>
            </a:r>
            <a:r>
              <a:rPr lang="en-GB" sz="2400" spc="-6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-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name</a:t>
            </a:r>
            <a:endParaRPr lang="en-GB" sz="2400" dirty="0">
              <a:latin typeface="Times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Call</a:t>
            </a: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your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table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name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that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is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short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and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sensible.</a:t>
            </a:r>
            <a:endParaRPr lang="en-GB" sz="2400" dirty="0">
              <a:latin typeface="Times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Reflect</a:t>
            </a: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the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names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in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your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design.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400" spc="-7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Table</a:t>
            </a:r>
            <a:r>
              <a:rPr lang="en-GB" sz="2400" spc="-5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names</a:t>
            </a:r>
            <a:r>
              <a:rPr lang="en-GB" sz="2400" spc="-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and</a:t>
            </a:r>
            <a:r>
              <a:rPr lang="en-GB" sz="2400" spc="-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column</a:t>
            </a:r>
            <a:r>
              <a:rPr lang="en-GB" sz="2400" spc="-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names:</a:t>
            </a:r>
            <a:endParaRPr lang="en-GB" sz="2400" dirty="0">
              <a:latin typeface="Times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Must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begin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with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</a:t>
            </a: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letter</a:t>
            </a:r>
            <a:endParaRPr lang="en-GB" sz="2400" dirty="0">
              <a:latin typeface="Times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Must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be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1–30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characters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long</a:t>
            </a:r>
            <a:endParaRPr lang="en-GB" sz="2400" dirty="0">
              <a:latin typeface="Times" pitchFamily="2" charset="0"/>
              <a:cs typeface="HelveticaNeue-Thin"/>
            </a:endParaRPr>
          </a:p>
          <a:p>
            <a:pPr marL="737235" marR="5080" lvl="1" indent="-241935">
              <a:lnSpc>
                <a:spcPct val="120000"/>
              </a:lnSpc>
              <a:spcBef>
                <a:spcPts val="625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Must</a:t>
            </a:r>
            <a:r>
              <a:rPr lang="en-GB" sz="2400" spc="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contain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characters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between</a:t>
            </a:r>
            <a:r>
              <a:rPr lang="en-GB" sz="2400" spc="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A–Z,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a–z,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0–9,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_,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$, </a:t>
            </a:r>
            <a:r>
              <a:rPr lang="en-GB" sz="2400" spc="-68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and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#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(no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spaces</a:t>
            </a:r>
            <a:r>
              <a:rPr lang="en-GB" sz="2400" spc="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of</a:t>
            </a: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hyphens</a:t>
            </a:r>
            <a:r>
              <a:rPr lang="en-GB" sz="2400" spc="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(-)</a:t>
            </a: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or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quotation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marks)</a:t>
            </a:r>
            <a:endParaRPr lang="en-GB" sz="2400" dirty="0">
              <a:latin typeface="Times" pitchFamily="2" charset="0"/>
              <a:cs typeface="HelveticaNeue-Thin"/>
            </a:endParaRPr>
          </a:p>
          <a:p>
            <a:pPr marL="737235" marR="36830" lvl="1" indent="-24193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Must</a:t>
            </a:r>
            <a:r>
              <a:rPr lang="en-GB" sz="2400" spc="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not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duplicate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the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name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of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another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object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owned </a:t>
            </a:r>
            <a:r>
              <a:rPr lang="en-GB" sz="2400" spc="-68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by</a:t>
            </a:r>
            <a:r>
              <a:rPr lang="en-GB" sz="2400" spc="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the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same</a:t>
            </a:r>
            <a:r>
              <a:rPr lang="en-GB" sz="2400" spc="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user</a:t>
            </a:r>
            <a:endParaRPr lang="en-GB" sz="2400" dirty="0">
              <a:latin typeface="Times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Must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not</a:t>
            </a:r>
            <a:r>
              <a:rPr lang="en-GB" sz="2400" spc="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be</a:t>
            </a:r>
            <a:r>
              <a:rPr lang="en-GB" sz="2400" spc="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 PostgreSQL </a:t>
            </a:r>
            <a:r>
              <a:rPr lang="en-GB" sz="2400" spc="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server</a:t>
            </a:r>
            <a:r>
              <a:rPr lang="en-GB" sz="2400" spc="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reserved</a:t>
            </a:r>
            <a:r>
              <a:rPr lang="en-GB" sz="2400" spc="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word</a:t>
            </a:r>
            <a:endParaRPr lang="en-GB" sz="2400" dirty="0">
              <a:latin typeface="Times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737870" algn="l"/>
              </a:tabLst>
            </a:pPr>
            <a:endParaRPr lang="en-GB" sz="2400" dirty="0">
              <a:latin typeface="Times" pitchFamily="2" charset="0"/>
              <a:cs typeface="HelveticaNeue-Thin"/>
            </a:endParaRPr>
          </a:p>
          <a:p>
            <a:endParaRPr lang="en-I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9992-E08B-6316-F740-56385049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Key constraints – Primary Key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6D6FA-5D59-DCF0-9B71-98F9F100A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4000" marR="216535" indent="-241935">
              <a:lnSpc>
                <a:spcPct val="111100"/>
              </a:lnSpc>
              <a:spcBef>
                <a:spcPts val="100"/>
              </a:spcBef>
              <a:buFont typeface="Arial"/>
              <a:buChar char="•"/>
              <a:tabLst>
                <a:tab pos="254635" algn="l"/>
                <a:tab pos="5009515" algn="l"/>
              </a:tabLst>
            </a:pP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olumn</a:t>
            </a:r>
            <a:r>
              <a:rPr lang="en-GB" sz="2400" spc="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or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</a:t>
            </a:r>
            <a:r>
              <a:rPr lang="en-GB" sz="2400" spc="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set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of</a:t>
            </a:r>
            <a:r>
              <a:rPr lang="en-GB" sz="2400" spc="3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columns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that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uniquely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identify </a:t>
            </a:r>
            <a:r>
              <a:rPr lang="en-GB" sz="2400" spc="-7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specific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instance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of</a:t>
            </a:r>
            <a:r>
              <a:rPr lang="en-GB" sz="24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thing</a:t>
            </a:r>
            <a:r>
              <a:rPr lang="en-GB" sz="2400" spc="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table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represents</a:t>
            </a:r>
            <a:endParaRPr lang="en-GB" sz="2400" dirty="0">
              <a:latin typeface="Helvetica" pitchFamily="2" charset="0"/>
              <a:cs typeface="HelveticaNeue-Thin"/>
            </a:endParaRPr>
          </a:p>
          <a:p>
            <a:pPr marL="254000" marR="5080" indent="-241935">
              <a:lnSpc>
                <a:spcPct val="111100"/>
              </a:lnSpc>
              <a:spcBef>
                <a:spcPts val="1090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4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Every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entity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in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data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model</a:t>
            </a:r>
            <a:r>
              <a:rPr lang="en-GB" sz="24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must</a:t>
            </a:r>
            <a:r>
              <a:rPr lang="en-GB" sz="24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have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primary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key </a:t>
            </a:r>
            <a:r>
              <a:rPr lang="en-GB" sz="24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whose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values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uniquely</a:t>
            </a:r>
            <a:r>
              <a:rPr lang="en-GB" sz="2400" spc="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identify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instances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of</a:t>
            </a:r>
            <a:r>
              <a:rPr lang="en-GB" sz="24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entity.</a:t>
            </a:r>
            <a:endParaRPr lang="en-GB" sz="2400" dirty="0">
              <a:latin typeface="Helvetica" pitchFamily="2" charset="0"/>
              <a:cs typeface="HelveticaNeue-Thin"/>
            </a:endParaRPr>
          </a:p>
          <a:p>
            <a:pPr marL="254000" marR="1109345" indent="-241935">
              <a:lnSpc>
                <a:spcPct val="111100"/>
              </a:lnSpc>
              <a:spcBef>
                <a:spcPts val="1100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 primary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key</a:t>
            </a:r>
            <a:r>
              <a:rPr lang="en-GB" sz="2400" spc="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enforces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3600" b="1" spc="44" baseline="1048" dirty="0">
                <a:solidFill>
                  <a:srgbClr val="212121"/>
                </a:solidFill>
                <a:latin typeface="Helvetica" pitchFamily="2" charset="0"/>
                <a:cs typeface="HelveticaNeue-ThinItalic"/>
              </a:rPr>
              <a:t>entity</a:t>
            </a:r>
            <a:r>
              <a:rPr lang="en-GB" sz="3600" b="1" spc="75" baseline="1048" dirty="0">
                <a:solidFill>
                  <a:srgbClr val="212121"/>
                </a:solidFill>
                <a:latin typeface="Helvetica" pitchFamily="2" charset="0"/>
                <a:cs typeface="HelveticaNeue-ThinItalic"/>
              </a:rPr>
              <a:t> </a:t>
            </a:r>
            <a:r>
              <a:rPr lang="en-GB" sz="3600" b="1" spc="37" baseline="1048" dirty="0">
                <a:solidFill>
                  <a:srgbClr val="212121"/>
                </a:solidFill>
                <a:latin typeface="Helvetica" pitchFamily="2" charset="0"/>
                <a:cs typeface="HelveticaNeue-ThinItalic"/>
              </a:rPr>
              <a:t>integrity</a:t>
            </a:r>
            <a:r>
              <a:rPr lang="en-GB" sz="3600" b="1" spc="75" baseline="1048" dirty="0">
                <a:solidFill>
                  <a:srgbClr val="212121"/>
                </a:solidFill>
                <a:latin typeface="Helvetica" pitchFamily="2" charset="0"/>
                <a:cs typeface="HelveticaNeue-ThinItalic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by</a:t>
            </a:r>
            <a:r>
              <a:rPr lang="en-GB" sz="2400" spc="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uniquely identifying</a:t>
            </a:r>
            <a:r>
              <a:rPr lang="en-GB" sz="2400" spc="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entity</a:t>
            </a:r>
            <a:r>
              <a:rPr lang="en-GB" sz="2400" spc="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instances.</a:t>
            </a:r>
            <a:endParaRPr lang="en-GB" sz="2400" dirty="0">
              <a:latin typeface="Helvetica" pitchFamily="2" charset="0"/>
              <a:cs typeface="HelveticaNeue-Thin"/>
            </a:endParaRPr>
          </a:p>
          <a:p>
            <a:endParaRPr lang="en-I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4466755" y="1809391"/>
            <a:ext cx="748144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"/>
                <a:cs typeface="Arial"/>
              </a:rPr>
              <a:t>Entity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98741" y="6547583"/>
            <a:ext cx="1067076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"/>
                <a:cs typeface="Arial"/>
              </a:rPr>
              <a:t>Attribute</a:t>
            </a:r>
          </a:p>
        </p:txBody>
      </p:sp>
      <p:sp>
        <p:nvSpPr>
          <p:cNvPr id="13" name="object 13"/>
          <p:cNvSpPr/>
          <p:nvPr/>
        </p:nvSpPr>
        <p:spPr>
          <a:xfrm>
            <a:off x="3359494" y="5322534"/>
            <a:ext cx="1366907" cy="1252220"/>
          </a:xfrm>
          <a:custGeom>
            <a:avLst/>
            <a:gdLst/>
            <a:ahLst/>
            <a:cxnLst/>
            <a:rect l="l" t="t" r="r" b="b"/>
            <a:pathLst>
              <a:path w="1589404" h="1252220">
                <a:moveTo>
                  <a:pt x="65361" y="47197"/>
                </a:moveTo>
                <a:lnTo>
                  <a:pt x="61210" y="52473"/>
                </a:lnTo>
                <a:lnTo>
                  <a:pt x="1584669" y="1252112"/>
                </a:lnTo>
                <a:lnTo>
                  <a:pt x="1588820" y="1246836"/>
                </a:lnTo>
                <a:lnTo>
                  <a:pt x="65361" y="47197"/>
                </a:lnTo>
                <a:close/>
              </a:path>
              <a:path w="1589404" h="1252220">
                <a:moveTo>
                  <a:pt x="0" y="0"/>
                </a:moveTo>
                <a:lnTo>
                  <a:pt x="38380" y="81492"/>
                </a:lnTo>
                <a:lnTo>
                  <a:pt x="61210" y="52473"/>
                </a:lnTo>
                <a:lnTo>
                  <a:pt x="50665" y="44169"/>
                </a:lnTo>
                <a:lnTo>
                  <a:pt x="54817" y="38893"/>
                </a:lnTo>
                <a:lnTo>
                  <a:pt x="71894" y="38893"/>
                </a:lnTo>
                <a:lnTo>
                  <a:pt x="88192" y="18177"/>
                </a:lnTo>
                <a:lnTo>
                  <a:pt x="0" y="0"/>
                </a:lnTo>
                <a:close/>
              </a:path>
              <a:path w="1589404" h="1252220">
                <a:moveTo>
                  <a:pt x="54817" y="38893"/>
                </a:moveTo>
                <a:lnTo>
                  <a:pt x="50665" y="44169"/>
                </a:lnTo>
                <a:lnTo>
                  <a:pt x="61210" y="52473"/>
                </a:lnTo>
                <a:lnTo>
                  <a:pt x="65361" y="47197"/>
                </a:lnTo>
                <a:lnTo>
                  <a:pt x="54817" y="38893"/>
                </a:lnTo>
                <a:close/>
              </a:path>
              <a:path w="1589404" h="1252220">
                <a:moveTo>
                  <a:pt x="71894" y="38893"/>
                </a:moveTo>
                <a:lnTo>
                  <a:pt x="54817" y="38893"/>
                </a:lnTo>
                <a:lnTo>
                  <a:pt x="65361" y="47197"/>
                </a:lnTo>
                <a:lnTo>
                  <a:pt x="71894" y="38893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01947" y="2173909"/>
            <a:ext cx="1619250" cy="814069"/>
          </a:xfrm>
          <a:custGeom>
            <a:avLst/>
            <a:gdLst/>
            <a:ahLst/>
            <a:cxnLst/>
            <a:rect l="l" t="t" r="r" b="b"/>
            <a:pathLst>
              <a:path w="1619250" h="814069">
                <a:moveTo>
                  <a:pt x="53978" y="741365"/>
                </a:moveTo>
                <a:lnTo>
                  <a:pt x="0" y="813469"/>
                </a:lnTo>
                <a:lnTo>
                  <a:pt x="90045" y="813408"/>
                </a:lnTo>
                <a:lnTo>
                  <a:pt x="76525" y="786401"/>
                </a:lnTo>
                <a:lnTo>
                  <a:pt x="61513" y="786401"/>
                </a:lnTo>
                <a:lnTo>
                  <a:pt x="58507" y="780398"/>
                </a:lnTo>
                <a:lnTo>
                  <a:pt x="70509" y="774384"/>
                </a:lnTo>
                <a:lnTo>
                  <a:pt x="53978" y="741365"/>
                </a:lnTo>
                <a:close/>
              </a:path>
              <a:path w="1619250" h="814069">
                <a:moveTo>
                  <a:pt x="70509" y="774384"/>
                </a:moveTo>
                <a:lnTo>
                  <a:pt x="58507" y="780398"/>
                </a:lnTo>
                <a:lnTo>
                  <a:pt x="61513" y="786401"/>
                </a:lnTo>
                <a:lnTo>
                  <a:pt x="73514" y="780388"/>
                </a:lnTo>
                <a:lnTo>
                  <a:pt x="70509" y="774384"/>
                </a:lnTo>
                <a:close/>
              </a:path>
              <a:path w="1619250" h="814069">
                <a:moveTo>
                  <a:pt x="73514" y="780388"/>
                </a:moveTo>
                <a:lnTo>
                  <a:pt x="61513" y="786401"/>
                </a:lnTo>
                <a:lnTo>
                  <a:pt x="76525" y="786401"/>
                </a:lnTo>
                <a:lnTo>
                  <a:pt x="73514" y="780388"/>
                </a:lnTo>
                <a:close/>
              </a:path>
              <a:path w="1619250" h="814069">
                <a:moveTo>
                  <a:pt x="1615964" y="0"/>
                </a:moveTo>
                <a:lnTo>
                  <a:pt x="70509" y="774384"/>
                </a:lnTo>
                <a:lnTo>
                  <a:pt x="73514" y="780388"/>
                </a:lnTo>
                <a:lnTo>
                  <a:pt x="1618970" y="6003"/>
                </a:lnTo>
                <a:lnTo>
                  <a:pt x="1615964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680555" y="3460767"/>
            <a:ext cx="1678939" cy="451484"/>
            <a:chOff x="1680555" y="3460767"/>
            <a:chExt cx="1678939" cy="451484"/>
          </a:xfrm>
        </p:grpSpPr>
        <p:sp>
          <p:nvSpPr>
            <p:cNvPr id="17" name="object 17"/>
            <p:cNvSpPr/>
            <p:nvPr/>
          </p:nvSpPr>
          <p:spPr>
            <a:xfrm>
              <a:off x="1680555" y="3460767"/>
              <a:ext cx="1678939" cy="451484"/>
            </a:xfrm>
            <a:custGeom>
              <a:avLst/>
              <a:gdLst/>
              <a:ahLst/>
              <a:cxnLst/>
              <a:rect l="l" t="t" r="r" b="b"/>
              <a:pathLst>
                <a:path w="1678939" h="451485">
                  <a:moveTo>
                    <a:pt x="1678494" y="0"/>
                  </a:moveTo>
                  <a:lnTo>
                    <a:pt x="0" y="0"/>
                  </a:lnTo>
                  <a:lnTo>
                    <a:pt x="0" y="451216"/>
                  </a:lnTo>
                  <a:lnTo>
                    <a:pt x="1678494" y="451216"/>
                  </a:lnTo>
                  <a:lnTo>
                    <a:pt x="1678494" y="0"/>
                  </a:lnTo>
                  <a:close/>
                </a:path>
              </a:pathLst>
            </a:custGeom>
            <a:solidFill>
              <a:srgbClr val="D2D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53040" y="3462554"/>
              <a:ext cx="686435" cy="229235"/>
            </a:xfrm>
            <a:custGeom>
              <a:avLst/>
              <a:gdLst/>
              <a:ahLst/>
              <a:cxnLst/>
              <a:rect l="l" t="t" r="r" b="b"/>
              <a:pathLst>
                <a:path w="686435" h="229235">
                  <a:moveTo>
                    <a:pt x="686230" y="0"/>
                  </a:moveTo>
                  <a:lnTo>
                    <a:pt x="0" y="0"/>
                  </a:lnTo>
                  <a:lnTo>
                    <a:pt x="0" y="228700"/>
                  </a:lnTo>
                  <a:lnTo>
                    <a:pt x="686230" y="228700"/>
                  </a:lnTo>
                  <a:lnTo>
                    <a:pt x="68623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376321"/>
              </p:ext>
            </p:extLst>
          </p:nvPr>
        </p:nvGraphicFramePr>
        <p:xfrm>
          <a:off x="1673843" y="2980664"/>
          <a:ext cx="1678305" cy="32035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3709">
                <a:tc>
                  <a:txBody>
                    <a:bodyPr/>
                    <a:lstStyle/>
                    <a:p>
                      <a:pPr marL="72390">
                        <a:lnSpc>
                          <a:spcPts val="1714"/>
                        </a:lnSpc>
                      </a:pPr>
                      <a:r>
                        <a:rPr lang="pt-BR" sz="15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500" b="1" spc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ovie</a:t>
                      </a:r>
                      <a:r>
                        <a:rPr lang="pt-BR" sz="1500" b="1" spc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500" spc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72390">
                        <a:lnSpc>
                          <a:spcPts val="1700"/>
                        </a:lnSpc>
                      </a:pPr>
                      <a:r>
                        <a:rPr sz="1500" spc="0" dirty="0">
                          <a:latin typeface="Arial"/>
                          <a:cs typeface="Arial"/>
                        </a:rPr>
                        <a:t>Movie ID</a:t>
                      </a:r>
                      <a:endParaRPr sz="1500" spc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72390">
                        <a:lnSpc>
                          <a:spcPts val="1705"/>
                        </a:lnSpc>
                      </a:pPr>
                      <a:r>
                        <a:rPr sz="1500" spc="0" dirty="0">
                          <a:latin typeface="Arial"/>
                          <a:cs typeface="Arial"/>
                        </a:rPr>
                        <a:t>Movie Title</a:t>
                      </a:r>
                      <a:endParaRPr sz="1500" spc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72390">
                        <a:lnSpc>
                          <a:spcPts val="1710"/>
                        </a:lnSpc>
                      </a:pPr>
                      <a:r>
                        <a:rPr sz="1500" spc="0" dirty="0">
                          <a:latin typeface="Arial"/>
                          <a:cs typeface="Arial"/>
                        </a:rPr>
                        <a:t>Year</a:t>
                      </a:r>
                      <a:endParaRPr sz="1500" spc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72390">
                        <a:lnSpc>
                          <a:spcPts val="1720"/>
                        </a:lnSpc>
                      </a:pPr>
                      <a:r>
                        <a:rPr sz="1500" spc="0" dirty="0">
                          <a:latin typeface="Arial"/>
                          <a:cs typeface="Arial"/>
                        </a:rPr>
                        <a:t>Director</a:t>
                      </a: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72390">
                        <a:lnSpc>
                          <a:spcPts val="1725"/>
                        </a:lnSpc>
                      </a:pPr>
                      <a:r>
                        <a:rPr sz="1500" spc="0" dirty="0">
                          <a:latin typeface="Arial"/>
                          <a:cs typeface="Arial"/>
                        </a:rPr>
                        <a:t>Budget</a:t>
                      </a:r>
                      <a:endParaRPr sz="1500" spc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72390">
                        <a:lnSpc>
                          <a:spcPts val="1730"/>
                        </a:lnSpc>
                      </a:pPr>
                      <a:r>
                        <a:rPr sz="1500" spc="0" dirty="0">
                          <a:latin typeface="Arial"/>
                          <a:cs typeface="Arial"/>
                        </a:rPr>
                        <a:t>Profit</a:t>
                      </a: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C8594DA-DE1E-9FC1-E4E5-CBE21033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Key constraints – Primary Key</a:t>
            </a: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3B6157DA-CEFE-9F6B-D844-F42059387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31581"/>
              </p:ext>
            </p:extLst>
          </p:nvPr>
        </p:nvGraphicFramePr>
        <p:xfrm>
          <a:off x="5979701" y="3243450"/>
          <a:ext cx="1678305" cy="13376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756">
                <a:tc>
                  <a:txBody>
                    <a:bodyPr/>
                    <a:lstStyle/>
                    <a:p>
                      <a:pPr marL="72390">
                        <a:lnSpc>
                          <a:spcPts val="1714"/>
                        </a:lnSpc>
                      </a:pPr>
                      <a:r>
                        <a:rPr lang="pt-BR" sz="1500" b="1" spc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actor</a:t>
                      </a:r>
                      <a:endParaRPr sz="1500" spc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pPr marL="72390">
                        <a:lnSpc>
                          <a:spcPts val="1700"/>
                        </a:lnSpc>
                      </a:pPr>
                      <a:r>
                        <a:rPr lang="pt-BR" sz="1500" spc="0" dirty="0" err="1">
                          <a:highlight>
                            <a:srgbClr val="FFFF00"/>
                          </a:highlight>
                          <a:latin typeface="Arial"/>
                          <a:cs typeface="Arial"/>
                        </a:rPr>
                        <a:t>Actor</a:t>
                      </a:r>
                      <a:r>
                        <a:rPr sz="1500" spc="0" dirty="0">
                          <a:highlight>
                            <a:srgbClr val="FFFF00"/>
                          </a:highlight>
                          <a:latin typeface="Arial"/>
                          <a:cs typeface="Arial"/>
                        </a:rPr>
                        <a:t>ID</a:t>
                      </a: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72390">
                        <a:lnSpc>
                          <a:spcPts val="1705"/>
                        </a:lnSpc>
                      </a:pPr>
                      <a:r>
                        <a:rPr lang="pt-BR" sz="1500" spc="0" dirty="0" err="1">
                          <a:latin typeface="Arial"/>
                          <a:cs typeface="Arial"/>
                        </a:rPr>
                        <a:t>Actor</a:t>
                      </a:r>
                      <a:r>
                        <a:rPr lang="pt-BR" sz="1500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pt-BR" sz="1500" spc="0" dirty="0" err="1">
                          <a:latin typeface="Arial"/>
                          <a:cs typeface="Arial"/>
                        </a:rPr>
                        <a:t>Name</a:t>
                      </a:r>
                      <a:endParaRPr sz="1500" spc="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object 15">
            <a:extLst>
              <a:ext uri="{FF2B5EF4-FFF2-40B4-BE49-F238E27FC236}">
                <a16:creationId xmlns:a16="http://schemas.microsoft.com/office/drawing/2014/main" id="{CE677C51-466C-8BC1-78A9-BA7B7BC073AF}"/>
              </a:ext>
            </a:extLst>
          </p:cNvPr>
          <p:cNvSpPr/>
          <p:nvPr/>
        </p:nvSpPr>
        <p:spPr>
          <a:xfrm flipH="1">
            <a:off x="5214898" y="2114603"/>
            <a:ext cx="1351002" cy="973334"/>
          </a:xfrm>
          <a:custGeom>
            <a:avLst/>
            <a:gdLst/>
            <a:ahLst/>
            <a:cxnLst/>
            <a:rect l="l" t="t" r="r" b="b"/>
            <a:pathLst>
              <a:path w="1619250" h="814069">
                <a:moveTo>
                  <a:pt x="53978" y="741365"/>
                </a:moveTo>
                <a:lnTo>
                  <a:pt x="0" y="813469"/>
                </a:lnTo>
                <a:lnTo>
                  <a:pt x="90045" y="813408"/>
                </a:lnTo>
                <a:lnTo>
                  <a:pt x="76525" y="786401"/>
                </a:lnTo>
                <a:lnTo>
                  <a:pt x="61513" y="786401"/>
                </a:lnTo>
                <a:lnTo>
                  <a:pt x="58507" y="780398"/>
                </a:lnTo>
                <a:lnTo>
                  <a:pt x="70509" y="774384"/>
                </a:lnTo>
                <a:lnTo>
                  <a:pt x="53978" y="741365"/>
                </a:lnTo>
                <a:close/>
              </a:path>
              <a:path w="1619250" h="814069">
                <a:moveTo>
                  <a:pt x="70509" y="774384"/>
                </a:moveTo>
                <a:lnTo>
                  <a:pt x="58507" y="780398"/>
                </a:lnTo>
                <a:lnTo>
                  <a:pt x="61513" y="786401"/>
                </a:lnTo>
                <a:lnTo>
                  <a:pt x="73514" y="780388"/>
                </a:lnTo>
                <a:lnTo>
                  <a:pt x="70509" y="774384"/>
                </a:lnTo>
                <a:close/>
              </a:path>
              <a:path w="1619250" h="814069">
                <a:moveTo>
                  <a:pt x="73514" y="780388"/>
                </a:moveTo>
                <a:lnTo>
                  <a:pt x="61513" y="786401"/>
                </a:lnTo>
                <a:lnTo>
                  <a:pt x="76525" y="786401"/>
                </a:lnTo>
                <a:lnTo>
                  <a:pt x="73514" y="780388"/>
                </a:lnTo>
                <a:close/>
              </a:path>
              <a:path w="1619250" h="814069">
                <a:moveTo>
                  <a:pt x="1615964" y="0"/>
                </a:moveTo>
                <a:lnTo>
                  <a:pt x="70509" y="774384"/>
                </a:lnTo>
                <a:lnTo>
                  <a:pt x="73514" y="780388"/>
                </a:lnTo>
                <a:lnTo>
                  <a:pt x="1618970" y="6003"/>
                </a:lnTo>
                <a:lnTo>
                  <a:pt x="1615964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909F6635-3047-32FD-3158-488BC9AF275D}"/>
              </a:ext>
            </a:extLst>
          </p:cNvPr>
          <p:cNvSpPr/>
          <p:nvPr/>
        </p:nvSpPr>
        <p:spPr>
          <a:xfrm flipH="1">
            <a:off x="5214898" y="4581051"/>
            <a:ext cx="1579602" cy="1993703"/>
          </a:xfrm>
          <a:custGeom>
            <a:avLst/>
            <a:gdLst/>
            <a:ahLst/>
            <a:cxnLst/>
            <a:rect l="l" t="t" r="r" b="b"/>
            <a:pathLst>
              <a:path w="1589404" h="1252220">
                <a:moveTo>
                  <a:pt x="65361" y="47197"/>
                </a:moveTo>
                <a:lnTo>
                  <a:pt x="61210" y="52473"/>
                </a:lnTo>
                <a:lnTo>
                  <a:pt x="1584669" y="1252112"/>
                </a:lnTo>
                <a:lnTo>
                  <a:pt x="1588820" y="1246836"/>
                </a:lnTo>
                <a:lnTo>
                  <a:pt x="65361" y="47197"/>
                </a:lnTo>
                <a:close/>
              </a:path>
              <a:path w="1589404" h="1252220">
                <a:moveTo>
                  <a:pt x="0" y="0"/>
                </a:moveTo>
                <a:lnTo>
                  <a:pt x="38380" y="81492"/>
                </a:lnTo>
                <a:lnTo>
                  <a:pt x="61210" y="52473"/>
                </a:lnTo>
                <a:lnTo>
                  <a:pt x="50665" y="44169"/>
                </a:lnTo>
                <a:lnTo>
                  <a:pt x="54817" y="38893"/>
                </a:lnTo>
                <a:lnTo>
                  <a:pt x="71894" y="38893"/>
                </a:lnTo>
                <a:lnTo>
                  <a:pt x="88192" y="18177"/>
                </a:lnTo>
                <a:lnTo>
                  <a:pt x="0" y="0"/>
                </a:lnTo>
                <a:close/>
              </a:path>
              <a:path w="1589404" h="1252220">
                <a:moveTo>
                  <a:pt x="54817" y="38893"/>
                </a:moveTo>
                <a:lnTo>
                  <a:pt x="50665" y="44169"/>
                </a:lnTo>
                <a:lnTo>
                  <a:pt x="61210" y="52473"/>
                </a:lnTo>
                <a:lnTo>
                  <a:pt x="65361" y="47197"/>
                </a:lnTo>
                <a:lnTo>
                  <a:pt x="54817" y="38893"/>
                </a:lnTo>
                <a:close/>
              </a:path>
              <a:path w="1589404" h="1252220">
                <a:moveTo>
                  <a:pt x="71894" y="38893"/>
                </a:moveTo>
                <a:lnTo>
                  <a:pt x="54817" y="38893"/>
                </a:lnTo>
                <a:lnTo>
                  <a:pt x="65361" y="47197"/>
                </a:lnTo>
                <a:lnTo>
                  <a:pt x="71894" y="38893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3E9-F48F-59F5-ADF8-AE6F16830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Key constraints – Primary Key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87DB4-E511-6DC8-A124-7115457B2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0" y="2011569"/>
            <a:ext cx="9488329" cy="4794530"/>
          </a:xfrm>
        </p:spPr>
        <p:txBody>
          <a:bodyPr/>
          <a:lstStyle/>
          <a:p>
            <a:pPr marL="254000" marR="5080" indent="-241935">
              <a:lnSpc>
                <a:spcPct val="116700"/>
              </a:lnSpc>
              <a:spcBef>
                <a:spcPts val="9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7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To qualify as a primary key, a column must have the following properties:</a:t>
            </a:r>
          </a:p>
          <a:p>
            <a:pPr marL="737235" marR="330835" lvl="1" indent="-241935">
              <a:lnSpc>
                <a:spcPct val="120000"/>
              </a:lnSpc>
              <a:spcBef>
                <a:spcPts val="72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7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it must have a non-null value for each instance of the entity</a:t>
            </a:r>
          </a:p>
          <a:p>
            <a:pPr marL="737235" lvl="1" indent="-24257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7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 value must be unique for each instance of an entity</a:t>
            </a:r>
          </a:p>
          <a:p>
            <a:pPr marL="737235" marR="151130" lvl="1" indent="-24193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7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 values must not change or become null during the  life of each entity instance</a:t>
            </a:r>
          </a:p>
          <a:p>
            <a:pPr marL="737235" marR="151130" lvl="1" indent="-241935">
              <a:lnSpc>
                <a:spcPct val="120000"/>
              </a:lnSpc>
              <a:spcBef>
                <a:spcPts val="6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7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Can you think of a real-life example?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3E9-F48F-59F5-ADF8-AE6F16830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Key constraints – Primary Key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87DB4-E511-6DC8-A124-7115457B2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52474"/>
            <a:ext cx="9869329" cy="5043281"/>
          </a:xfrm>
        </p:spPr>
        <p:txBody>
          <a:bodyPr>
            <a:normAutofit/>
          </a:bodyPr>
          <a:lstStyle/>
          <a:p>
            <a:pPr marL="354965" marR="5080" indent="-342900" algn="just">
              <a:spcBef>
                <a:spcPts val="20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Let's assume that for each employee in an organisation, there are three </a:t>
            </a:r>
            <a:r>
              <a:rPr lang="en-GB" sz="2400" b="1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candidate keys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:</a:t>
            </a:r>
          </a:p>
          <a:p>
            <a:pPr marL="812165" marR="5080" lvl="1" indent="-342900" algn="just">
              <a:spcBef>
                <a:spcPts val="20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Employee ID, PPS Number, and Name.</a:t>
            </a:r>
          </a:p>
          <a:p>
            <a:pPr marL="469265" marR="5080" lvl="1" indent="0" algn="just">
              <a:spcBef>
                <a:spcPts val="200"/>
              </a:spcBef>
              <a:buNone/>
              <a:tabLst>
                <a:tab pos="254000" algn="l"/>
                <a:tab pos="254635" algn="l"/>
              </a:tabLst>
            </a:pPr>
            <a:endParaRPr lang="en-GB" sz="2400" spc="1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354965" marR="5080" lvl="1" indent="-342900" algn="just">
              <a:spcBef>
                <a:spcPts val="20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Which one we should pick as the primary key?</a:t>
            </a:r>
          </a:p>
        </p:txBody>
      </p:sp>
    </p:spTree>
    <p:extLst>
      <p:ext uri="{BB962C8B-B14F-4D97-AF65-F5344CB8AC3E}">
        <p14:creationId xmlns:p14="http://schemas.microsoft.com/office/powerpoint/2010/main" val="3776894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8145C8B-B066-4DEE-BBDF-BE4A230F6CB8}"/>
              </a:ext>
            </a:extLst>
          </p:cNvPr>
          <p:cNvSpPr txBox="1"/>
          <p:nvPr/>
        </p:nvSpPr>
        <p:spPr>
          <a:xfrm>
            <a:off x="1155700" y="3360369"/>
            <a:ext cx="5348036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CREATE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TABLE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Actor(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actorID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SERIAL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PRIMARY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KEY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	</a:t>
            </a:r>
            <a:r>
              <a:rPr lang="en-US" sz="18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actorName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VARCHAR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(3</a:t>
            </a:r>
            <a:r>
              <a:rPr lang="en-US" sz="1800" dirty="0">
                <a:solidFill>
                  <a:srgbClr val="B5CEA8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0</a:t>
            </a: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);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205FA-9430-0121-8B45-2B4FF1380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Defining a primary key – Column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9F57F-DFA8-37DE-82B7-7300078E9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391" y="1563268"/>
            <a:ext cx="9223058" cy="1460574"/>
          </a:xfrm>
        </p:spPr>
        <p:txBody>
          <a:bodyPr/>
          <a:lstStyle/>
          <a:p>
            <a:r>
              <a:rPr lang="en-IE" dirty="0"/>
              <a:t>The primary key can be defined at a column level, inserting the keywords PRIMARY KEY in line with the chosen column.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46574FE-7A0A-5D52-DEE9-49CECC12F6BE}"/>
              </a:ext>
            </a:extLst>
          </p:cNvPr>
          <p:cNvSpPr txBox="1"/>
          <p:nvPr/>
        </p:nvSpPr>
        <p:spPr>
          <a:xfrm>
            <a:off x="1079500" y="3321050"/>
            <a:ext cx="5348036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CREATE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TABLE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Actor(</a:t>
            </a:r>
          </a:p>
          <a:p>
            <a:pPr marR="0" algn="l" rtl="0"/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800" b="0" i="0" u="none" strike="noStrike" baseline="0" dirty="0" err="1">
                <a:solidFill>
                  <a:srgbClr val="D4D4D4"/>
                </a:solidFill>
                <a:latin typeface="Menlo" panose="020B0609030804020204" pitchFamily="49" charset="0"/>
              </a:rPr>
              <a:t>actorID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SERIAL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pPr marR="0" algn="l" rtl="0"/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800" b="0" i="0" u="none" strike="noStrike" baseline="0" dirty="0" err="1">
                <a:solidFill>
                  <a:srgbClr val="D4D4D4"/>
                </a:solidFill>
                <a:latin typeface="Menlo" panose="020B0609030804020204" pitchFamily="49" charset="0"/>
              </a:rPr>
              <a:t>actorName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VARCHAR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altLang="zh-CN" dirty="0">
                <a:solidFill>
                  <a:srgbClr val="B5CEA8"/>
                </a:solidFill>
                <a:latin typeface="Menlo" panose="020B0609030804020204" pitchFamily="49" charset="0"/>
              </a:rPr>
              <a:t>3</a:t>
            </a:r>
            <a:r>
              <a:rPr lang="en-US" altLang="zh-CN" sz="1800" b="0" i="0" u="none" strike="noStrike" baseline="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),</a:t>
            </a:r>
          </a:p>
          <a:p>
            <a:pPr marR="0" algn="l" rtl="0"/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PRIMARY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KEY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en-US" altLang="zh-CN" sz="1800" b="0" i="0" u="none" strike="noStrike" baseline="0" dirty="0" err="1">
                <a:solidFill>
                  <a:srgbClr val="D4D4D4"/>
                </a:solidFill>
                <a:latin typeface="Menlo" panose="020B0609030804020204" pitchFamily="49" charset="0"/>
              </a:rPr>
              <a:t>actorID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)</a:t>
            </a:r>
          </a:p>
          <a:p>
            <a:pPr marR="0" algn="l" rtl="0"/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1AA70-2521-677B-0B64-41E3A5B3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Defining a primary key – table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5356C-9790-87FB-D724-2B22948B9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791513"/>
            <a:ext cx="9223058" cy="1460574"/>
          </a:xfrm>
        </p:spPr>
        <p:txBody>
          <a:bodyPr>
            <a:normAutofit/>
          </a:bodyPr>
          <a:lstStyle/>
          <a:p>
            <a:r>
              <a:rPr lang="en-IE" dirty="0"/>
              <a:t>The primary key can also be defined at the table level, adding the information to the end of the SQL DDL query.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46574FE-7A0A-5D52-DEE9-49CECC12F6BE}"/>
              </a:ext>
            </a:extLst>
          </p:cNvPr>
          <p:cNvSpPr txBox="1"/>
          <p:nvPr/>
        </p:nvSpPr>
        <p:spPr>
          <a:xfrm>
            <a:off x="1003300" y="4083050"/>
            <a:ext cx="6553200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R="0" algn="l" rtl="0"/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CREATE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TABLE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Actor(</a:t>
            </a:r>
          </a:p>
          <a:p>
            <a:pPr marR="0" algn="l" rtl="0"/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800" b="0" i="0" u="none" strike="noStrike" baseline="0" dirty="0" err="1">
                <a:solidFill>
                  <a:srgbClr val="D4D4D4"/>
                </a:solidFill>
                <a:latin typeface="Menlo" panose="020B0609030804020204" pitchFamily="49" charset="0"/>
              </a:rPr>
              <a:t>actorID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SERIAL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pPr marR="0" algn="l" rtl="0"/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   </a:t>
            </a:r>
            <a:r>
              <a:rPr lang="en-US" altLang="zh-CN" sz="1800" b="0" i="0" u="none" strike="noStrike" baseline="0" dirty="0" err="1">
                <a:solidFill>
                  <a:srgbClr val="D4D4D4"/>
                </a:solidFill>
                <a:latin typeface="Menlo" panose="020B0609030804020204" pitchFamily="49" charset="0"/>
              </a:rPr>
              <a:t>actorName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VARCHAR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US" altLang="zh-CN" dirty="0">
                <a:solidFill>
                  <a:srgbClr val="B5CEA8"/>
                </a:solidFill>
                <a:latin typeface="Menlo" panose="020B0609030804020204" pitchFamily="49" charset="0"/>
              </a:rPr>
              <a:t>3</a:t>
            </a:r>
            <a:r>
              <a:rPr lang="en-US" altLang="zh-CN" sz="1800" b="0" i="0" u="none" strike="noStrike" baseline="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),</a:t>
            </a:r>
          </a:p>
          <a:p>
            <a:pPr marR="0" algn="l" rtl="0"/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   </a:t>
            </a:r>
            <a:r>
              <a:rPr lang="en-US" altLang="zh-CN" dirty="0">
                <a:solidFill>
                  <a:srgbClr val="569CD6"/>
                </a:solidFill>
                <a:latin typeface="Menlo" panose="020B0609030804020204" pitchFamily="49" charset="0"/>
              </a:rPr>
              <a:t>CONSTRAINT </a:t>
            </a:r>
            <a:r>
              <a:rPr lang="en-US" altLang="zh-CN" dirty="0" err="1">
                <a:solidFill>
                  <a:srgbClr val="D4D4D4"/>
                </a:solidFill>
                <a:latin typeface="Menlo" panose="020B0609030804020204" pitchFamily="49" charset="0"/>
              </a:rPr>
              <a:t>actors_pk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PRIMARY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US" altLang="zh-CN" sz="1800" b="0" i="0" u="none" strike="noStrike" baseline="0" dirty="0">
                <a:solidFill>
                  <a:srgbClr val="569CD6"/>
                </a:solidFill>
                <a:latin typeface="Menlo" panose="020B0609030804020204" pitchFamily="49" charset="0"/>
              </a:rPr>
              <a:t>KEY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en-US" altLang="zh-CN" sz="1800" b="0" i="0" u="none" strike="noStrike" baseline="0" dirty="0" err="1">
                <a:solidFill>
                  <a:srgbClr val="D4D4D4"/>
                </a:solidFill>
                <a:latin typeface="Menlo" panose="020B0609030804020204" pitchFamily="49" charset="0"/>
              </a:rPr>
              <a:t>actorID</a:t>
            </a:r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)</a:t>
            </a:r>
          </a:p>
          <a:p>
            <a:pPr marR="0" algn="l" rtl="0"/>
            <a:r>
              <a:rPr lang="en-US" altLang="zh-CN" sz="1800" b="0" i="0" u="none" strike="noStrike" baseline="0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1AA70-2521-677B-0B64-41E3A5B3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Defining a primary key – naming PK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5356C-9790-87FB-D724-2B22948B9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791512"/>
            <a:ext cx="9223058" cy="1834337"/>
          </a:xfrm>
        </p:spPr>
        <p:txBody>
          <a:bodyPr>
            <a:normAutofit/>
          </a:bodyPr>
          <a:lstStyle/>
          <a:p>
            <a:r>
              <a:rPr lang="en-IE" dirty="0"/>
              <a:t>It is also possible to give a name to the primary key constraint. This action facilitates maintenance and allows informative 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3687211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EC23-4132-6957-F6E1-A8D79D23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IMDb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3EEB5-B7FE-907D-F2BC-C436EE644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54965" indent="-342900" algn="just">
              <a:lnSpc>
                <a:spcPct val="110000"/>
              </a:lnSpc>
              <a:spcBef>
                <a:spcPts val="690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8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We have now created data structures</a:t>
            </a:r>
          </a:p>
          <a:p>
            <a:pPr marL="837565" lvl="1" indent="-342900" algn="just">
              <a:lnSpc>
                <a:spcPct val="110000"/>
              </a:lnSpc>
              <a:spcBef>
                <a:spcPts val="495"/>
              </a:spcBef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GB" sz="28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Two basic tables</a:t>
            </a:r>
          </a:p>
          <a:p>
            <a:pPr marL="354965" marR="809625" indent="-342900" algn="just">
              <a:lnSpc>
                <a:spcPct val="110000"/>
              </a:lnSpc>
              <a:spcBef>
                <a:spcPts val="990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8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Each table represents one thing we want to store data  about (Movie and Actor)</a:t>
            </a:r>
          </a:p>
          <a:p>
            <a:pPr marL="354965" marR="123825" indent="-342900" algn="just">
              <a:lnSpc>
                <a:spcPct val="110000"/>
              </a:lnSpc>
              <a:spcBef>
                <a:spcPts val="110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8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Each table has a set of columns which define the type of  data we want to store about the thing the table represents</a:t>
            </a:r>
          </a:p>
          <a:p>
            <a:pPr marL="354965" marR="477520" indent="-342900" algn="just">
              <a:lnSpc>
                <a:spcPct val="110000"/>
              </a:lnSpc>
              <a:spcBef>
                <a:spcPts val="1010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8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Each table has a primary key defined through which we  can retrieve specific rows of data</a:t>
            </a:r>
          </a:p>
          <a:p>
            <a:pPr marL="354965" marR="5080" indent="-342900" algn="just">
              <a:lnSpc>
                <a:spcPct val="110000"/>
              </a:lnSpc>
              <a:spcBef>
                <a:spcPts val="110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800" spc="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However, we do not have a mechanism to store data about  a movie cast, i.e. the actors who appeared in a movie</a:t>
            </a:r>
          </a:p>
          <a:p>
            <a:endParaRPr lang="en-IE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0100" y="2083451"/>
            <a:ext cx="4679297" cy="2824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D2A30C-82F2-C945-2AE7-91E286A4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IMDb 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C3CBF2-7987-9247-F510-C2C6035FC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862888"/>
            <a:ext cx="9223058" cy="4794530"/>
          </a:xfrm>
        </p:spPr>
        <p:txBody>
          <a:bodyPr/>
          <a:lstStyle/>
          <a:p>
            <a:pPr marL="254000" indent="-241935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2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Title:</a:t>
            </a:r>
            <a:r>
              <a:rPr lang="en-GB" sz="22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Jumanji: </a:t>
            </a:r>
            <a:r>
              <a:rPr lang="en-GB" sz="22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Welcome</a:t>
            </a:r>
            <a:r>
              <a:rPr lang="en-GB" sz="22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spc="-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to</a:t>
            </a:r>
            <a:r>
              <a:rPr lang="en-GB" sz="22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</a:t>
            </a:r>
            <a:r>
              <a:rPr lang="en-GB" sz="22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Jungle</a:t>
            </a:r>
            <a:endParaRPr lang="en-GB" sz="2200" dirty="0"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103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200" spc="-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Year:</a:t>
            </a:r>
            <a:r>
              <a:rPr lang="en-GB" sz="2200" spc="-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2017</a:t>
            </a:r>
            <a:endParaRPr lang="en-GB" sz="2200" dirty="0"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1155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2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Director: Jake</a:t>
            </a:r>
            <a:r>
              <a:rPr lang="en-GB" sz="22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Kasdan</a:t>
            </a:r>
            <a:endParaRPr lang="en-GB" sz="2200" dirty="0"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103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2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Budget:</a:t>
            </a:r>
            <a:r>
              <a:rPr lang="en-GB" sz="2200" spc="-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90</a:t>
            </a:r>
            <a:r>
              <a:rPr lang="en-GB" sz="22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million</a:t>
            </a:r>
            <a:endParaRPr lang="en-GB" sz="2200" dirty="0"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1155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200" spc="-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Profit:</a:t>
            </a:r>
            <a:r>
              <a:rPr lang="en-GB" sz="2200" spc="-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962,077,546</a:t>
            </a:r>
            <a:endParaRPr lang="en-GB" sz="2200" dirty="0"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103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2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Dwayne</a:t>
            </a:r>
            <a:r>
              <a:rPr lang="en-GB" sz="2200" spc="-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2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Johnson is part of the cast</a:t>
            </a:r>
            <a:endParaRPr lang="en-GB" sz="2200" dirty="0">
              <a:latin typeface="Helvetica" pitchFamily="2" charset="0"/>
              <a:cs typeface="HelveticaNeue-Thin"/>
            </a:endParaRPr>
          </a:p>
          <a:p>
            <a:endParaRPr lang="en-IE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2A30C-82F2-C945-2AE7-91E286A4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IMDb example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C3CBF2-7987-9247-F510-C2C6035FC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199" y="1797050"/>
            <a:ext cx="9223058" cy="762000"/>
          </a:xfrm>
        </p:spPr>
        <p:txBody>
          <a:bodyPr>
            <a:normAutofit/>
          </a:bodyPr>
          <a:lstStyle/>
          <a:p>
            <a:pPr marL="254000" indent="-241935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8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What else has Dwayne Johnson appeared in?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2C546968-C5B5-FFC2-93CB-D2D5DF03D2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2559050"/>
            <a:ext cx="8308956" cy="344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32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EC23-4132-6957-F6E1-A8D79D23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IMDb Example – </a:t>
            </a:r>
            <a:r>
              <a:rPr lang="en-IE" dirty="0" err="1"/>
              <a:t>movieCast</a:t>
            </a:r>
            <a:endParaRPr lang="en-I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3EEB5-B7FE-907D-F2BC-C436EE644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4000" marR="716915" indent="-241935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Suppose we include the </a:t>
            </a:r>
            <a:r>
              <a:rPr lang="en-IE" sz="2400" spc="1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actorID</a:t>
            </a: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and name of the character played on the Movies table</a:t>
            </a:r>
          </a:p>
          <a:p>
            <a:pPr marL="254000" indent="-241935">
              <a:lnSpc>
                <a:spcPct val="100000"/>
              </a:lnSpc>
              <a:spcBef>
                <a:spcPts val="1775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Our primary key is now incorrect</a:t>
            </a:r>
          </a:p>
          <a:p>
            <a:pPr marL="254000" indent="-241935">
              <a:lnSpc>
                <a:spcPct val="100000"/>
              </a:lnSpc>
              <a:spcBef>
                <a:spcPts val="175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 would have multiple rows of data for each movie</a:t>
            </a:r>
          </a:p>
          <a:p>
            <a:pPr marL="737235" lvl="1" indent="-242570">
              <a:lnSpc>
                <a:spcPct val="100000"/>
              </a:lnSpc>
              <a:spcBef>
                <a:spcPts val="1265"/>
              </a:spcBef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One for every actor who appeared in the movie</a:t>
            </a:r>
          </a:p>
          <a:p>
            <a:pPr marL="737235" lvl="1" indent="-242570">
              <a:lnSpc>
                <a:spcPct val="100000"/>
              </a:lnSpc>
              <a:spcBef>
                <a:spcPts val="1265"/>
              </a:spcBef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 would be storing the </a:t>
            </a:r>
            <a:r>
              <a:rPr lang="en-IE" sz="2400" spc="1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movieId</a:t>
            </a: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, movie title, year, director, budget and profit on each row</a:t>
            </a:r>
          </a:p>
          <a:p>
            <a:pPr marL="737235" lvl="1" indent="-242570">
              <a:lnSpc>
                <a:spcPct val="100000"/>
              </a:lnSpc>
              <a:spcBef>
                <a:spcPts val="1265"/>
              </a:spcBef>
              <a:buFont typeface="Arial"/>
              <a:buChar char="•"/>
              <a:tabLst>
                <a:tab pos="737235" algn="l"/>
                <a:tab pos="737870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This is wasteful and, if we need to change something, we have to change it all</a:t>
            </a:r>
          </a:p>
        </p:txBody>
      </p:sp>
    </p:spTree>
    <p:extLst>
      <p:ext uri="{BB962C8B-B14F-4D97-AF65-F5344CB8AC3E}">
        <p14:creationId xmlns:p14="http://schemas.microsoft.com/office/powerpoint/2010/main" val="10102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EC23-4132-6957-F6E1-A8D79D23C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IMDb Example – </a:t>
            </a:r>
            <a:r>
              <a:rPr lang="en-IE" dirty="0" err="1"/>
              <a:t>movieCast</a:t>
            </a:r>
            <a:endParaRPr lang="en-IE" dirty="0"/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BCA3130B-84E9-2446-134F-B243B55A1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9460"/>
              </p:ext>
            </p:extLst>
          </p:nvPr>
        </p:nvGraphicFramePr>
        <p:xfrm>
          <a:off x="426308" y="3168650"/>
          <a:ext cx="9840783" cy="19329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961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1550595076"/>
                    </a:ext>
                  </a:extLst>
                </a:gridCol>
                <a:gridCol w="1559603">
                  <a:extLst>
                    <a:ext uri="{9D8B030D-6E8A-4147-A177-3AD203B41FA5}">
                      <a16:colId xmlns:a16="http://schemas.microsoft.com/office/drawing/2014/main" val="404128043"/>
                    </a:ext>
                  </a:extLst>
                </a:gridCol>
                <a:gridCol w="1614069">
                  <a:extLst>
                    <a:ext uri="{9D8B030D-6E8A-4147-A177-3AD203B41FA5}">
                      <a16:colId xmlns:a16="http://schemas.microsoft.com/office/drawing/2014/main" val="1358089158"/>
                    </a:ext>
                  </a:extLst>
                </a:gridCol>
                <a:gridCol w="1240603">
                  <a:extLst>
                    <a:ext uri="{9D8B030D-6E8A-4147-A177-3AD203B41FA5}">
                      <a16:colId xmlns:a16="http://schemas.microsoft.com/office/drawing/2014/main" val="3687903748"/>
                    </a:ext>
                  </a:extLst>
                </a:gridCol>
              </a:tblGrid>
              <a:tr h="4832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pt-BR" sz="1800" spc="10" dirty="0" err="1">
                          <a:solidFill>
                            <a:srgbClr val="002060"/>
                          </a:solidFill>
                          <a:latin typeface="Helvetica" pitchFamily="2" charset="0"/>
                        </a:rPr>
                        <a:t>movieID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pt-BR" sz="1800" spc="10" dirty="0" err="1">
                          <a:solidFill>
                            <a:srgbClr val="002060"/>
                          </a:solidFill>
                          <a:latin typeface="Helvetica" pitchFamily="2" charset="0"/>
                        </a:rPr>
                        <a:t>movieTitle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pt-BR" sz="1800" spc="10" dirty="0">
                          <a:solidFill>
                            <a:srgbClr val="002060"/>
                          </a:solidFill>
                          <a:latin typeface="Helvetica" pitchFamily="2" charset="0"/>
                        </a:rPr>
                        <a:t>releaseYear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0" algn="ctr" defTabSz="801378" rtl="0" eaLnBrk="1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pt-BR" sz="1800" b="1" kern="1200" spc="10" dirty="0" err="1">
                          <a:solidFill>
                            <a:srgbClr val="002060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director</a:t>
                      </a:r>
                      <a:endParaRPr sz="1800" b="1" kern="1200" spc="10" dirty="0">
                        <a:solidFill>
                          <a:srgbClr val="002060"/>
                        </a:solidFill>
                        <a:latin typeface="Helvetica" pitchFamily="2" charset="0"/>
                        <a:ea typeface="+mn-ea"/>
                        <a:cs typeface="+mn-cs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0" algn="ctr" defTabSz="801378" rtl="0" eaLnBrk="1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pt-BR" sz="1800" b="1" kern="1200" spc="10" dirty="0">
                          <a:solidFill>
                            <a:srgbClr val="002060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budget</a:t>
                      </a:r>
                      <a:endParaRPr sz="1800" b="1" kern="1200" spc="10" dirty="0">
                        <a:solidFill>
                          <a:srgbClr val="002060"/>
                        </a:solidFill>
                        <a:latin typeface="Helvetica" pitchFamily="2" charset="0"/>
                        <a:ea typeface="+mn-ea"/>
                        <a:cs typeface="+mn-cs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0" algn="ctr" defTabSz="801378" rtl="0" eaLnBrk="1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pt-BR" sz="1800" b="1" kern="1200" spc="10" dirty="0" err="1">
                          <a:solidFill>
                            <a:srgbClr val="002060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profit</a:t>
                      </a:r>
                      <a:endParaRPr sz="1800" b="1" kern="1200" spc="10" dirty="0">
                        <a:solidFill>
                          <a:srgbClr val="002060"/>
                        </a:solidFill>
                        <a:latin typeface="Helvetica" pitchFamily="2" charset="0"/>
                        <a:ea typeface="+mn-ea"/>
                        <a:cs typeface="+mn-cs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0" algn="ctr" defTabSz="801378" rtl="0" eaLnBrk="1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pt-BR" sz="1800" b="1" kern="1200" spc="10" dirty="0" err="1">
                          <a:solidFill>
                            <a:srgbClr val="002060"/>
                          </a:solidFill>
                          <a:latin typeface="Helvetica" pitchFamily="2" charset="0"/>
                          <a:ea typeface="+mn-ea"/>
                          <a:cs typeface="+mn-cs"/>
                        </a:rPr>
                        <a:t>actorID</a:t>
                      </a:r>
                      <a:endParaRPr sz="1800" b="1" kern="1200" spc="10" dirty="0">
                        <a:solidFill>
                          <a:srgbClr val="002060"/>
                        </a:solidFill>
                        <a:latin typeface="Helvetica" pitchFamily="2" charset="0"/>
                        <a:ea typeface="+mn-ea"/>
                        <a:cs typeface="+mn-cs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spc="20" dirty="0">
                          <a:solidFill>
                            <a:srgbClr val="008000"/>
                          </a:solidFill>
                          <a:latin typeface="Helvetica" pitchFamily="2" charset="0"/>
                          <a:cs typeface="Times New Roman"/>
                        </a:rPr>
                        <a:t>1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spc="15" dirty="0" err="1">
                          <a:solidFill>
                            <a:srgbClr val="008000"/>
                          </a:solidFill>
                          <a:latin typeface="Helvetica" pitchFamily="2" charset="0"/>
                        </a:rPr>
                        <a:t>Jumanji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spc="20" dirty="0">
                          <a:solidFill>
                            <a:srgbClr val="008000"/>
                          </a:solidFill>
                          <a:latin typeface="Helvetica" pitchFamily="2" charset="0"/>
                          <a:cs typeface="Times New Roman"/>
                        </a:rPr>
                        <a:t>2017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Jake Kasdan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125,000,000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801,000,000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001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800" spc="20" dirty="0">
                          <a:solidFill>
                            <a:srgbClr val="008000"/>
                          </a:solidFill>
                          <a:latin typeface="Helvetica" pitchFamily="2" charset="0"/>
                          <a:cs typeface="Times New Roman"/>
                        </a:rPr>
                        <a:t>1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800" spc="10" dirty="0" err="1">
                          <a:solidFill>
                            <a:srgbClr val="008000"/>
                          </a:solidFill>
                          <a:latin typeface="Helvetica" pitchFamily="2" charset="0"/>
                          <a:cs typeface="Times New Roman"/>
                        </a:rPr>
                        <a:t>Jumanji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800" spc="20" dirty="0">
                          <a:solidFill>
                            <a:srgbClr val="008000"/>
                          </a:solidFill>
                          <a:latin typeface="Helvetica" pitchFamily="2" charset="0"/>
                          <a:cs typeface="Times New Roman"/>
                        </a:rPr>
                        <a:t>2017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Jake Kasdan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125,000,000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801,000,000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002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23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spc="20" dirty="0">
                          <a:solidFill>
                            <a:srgbClr val="008000"/>
                          </a:solidFill>
                          <a:latin typeface="Helvetica" pitchFamily="2" charset="0"/>
                          <a:cs typeface="Times New Roman"/>
                        </a:rPr>
                        <a:t>1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spc="10" dirty="0" err="1">
                          <a:solidFill>
                            <a:srgbClr val="008000"/>
                          </a:solidFill>
                          <a:latin typeface="Helvetica" pitchFamily="2" charset="0"/>
                          <a:cs typeface="Times New Roman"/>
                        </a:rPr>
                        <a:t>Jumanji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spc="20" dirty="0">
                          <a:solidFill>
                            <a:srgbClr val="008000"/>
                          </a:solidFill>
                          <a:latin typeface="Helvetica" pitchFamily="2" charset="0"/>
                          <a:cs typeface="Times New Roman"/>
                        </a:rPr>
                        <a:t>2017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Jake Kasdan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125,000,000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801,000,000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pt-BR" sz="1800" dirty="0">
                          <a:latin typeface="Helvetica" pitchFamily="2" charset="0"/>
                          <a:cs typeface="Times New Roman"/>
                        </a:rPr>
                        <a:t>003</a:t>
                      </a:r>
                      <a:endParaRPr sz="1800" dirty="0">
                        <a:latin typeface="Helvetica" pitchFamily="2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A24495-20E8-79B3-445B-E42638F08499}"/>
              </a:ext>
            </a:extLst>
          </p:cNvPr>
          <p:cNvSpPr txBox="1"/>
          <p:nvPr/>
        </p:nvSpPr>
        <p:spPr>
          <a:xfrm>
            <a:off x="399384" y="2482850"/>
            <a:ext cx="5344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 resulting table is redundant.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87866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1A699-CC2B-1FCC-7CE9-93EC62F46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4000" indent="-241935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Possible solution: introduce the table Cast</a:t>
            </a:r>
          </a:p>
          <a:p>
            <a:pPr marL="254000" indent="-24193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IE" sz="2400" spc="-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It</a:t>
            </a:r>
            <a:r>
              <a:rPr lang="en-IE" sz="24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has</a:t>
            </a:r>
            <a:r>
              <a:rPr lang="en-IE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</a:t>
            </a:r>
            <a:r>
              <a:rPr lang="en-IE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attributes</a:t>
            </a:r>
            <a:r>
              <a:rPr lang="en-IE" sz="24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IE" sz="240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movieId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,</a:t>
            </a:r>
            <a:r>
              <a:rPr lang="en-IE" sz="24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IE" sz="240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actorId</a:t>
            </a:r>
            <a:r>
              <a:rPr lang="en-IE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and</a:t>
            </a:r>
            <a:r>
              <a:rPr lang="en-IE" sz="24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IE" sz="2400" spc="-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role</a:t>
            </a:r>
            <a:r>
              <a:rPr lang="en-IE" sz="2400" spc="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IE" sz="24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name</a:t>
            </a:r>
          </a:p>
          <a:p>
            <a:pPr marL="0" indent="0">
              <a:lnSpc>
                <a:spcPct val="100000"/>
              </a:lnSpc>
              <a:spcBef>
                <a:spcPts val="45"/>
              </a:spcBef>
              <a:buNone/>
            </a:pPr>
            <a:endParaRPr lang="en-IE" sz="2400" spc="5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0" indent="0">
              <a:lnSpc>
                <a:spcPct val="100000"/>
              </a:lnSpc>
              <a:spcBef>
                <a:spcPts val="45"/>
              </a:spcBef>
              <a:buNone/>
            </a:pPr>
            <a:endParaRPr lang="en-IE" sz="2400" dirty="0">
              <a:latin typeface="Helvetica" pitchFamily="2" charset="0"/>
              <a:cs typeface="HelveticaNeue-Thi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endParaRPr lang="en-IE" sz="2400" dirty="0">
              <a:solidFill>
                <a:srgbClr val="212121"/>
              </a:solidFill>
              <a:latin typeface="Helvetica" pitchFamily="2" charset="0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endParaRPr lang="en-IE" sz="2400" dirty="0">
              <a:solidFill>
                <a:srgbClr val="212121"/>
              </a:solidFill>
              <a:latin typeface="Helvetica" pitchFamily="2" charset="0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endParaRPr lang="en-IE" sz="2400" dirty="0">
              <a:solidFill>
                <a:srgbClr val="212121"/>
              </a:solidFill>
              <a:latin typeface="Helvetica" pitchFamily="2" charset="0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What</a:t>
            </a: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should</a:t>
            </a:r>
            <a:r>
              <a:rPr lang="en-IE" sz="2400" spc="15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our</a:t>
            </a: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primary</a:t>
            </a:r>
            <a:r>
              <a:rPr lang="en-IE" sz="2400" spc="15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key</a:t>
            </a:r>
            <a:r>
              <a:rPr lang="en-IE" sz="2400" spc="15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 </a:t>
            </a:r>
            <a:r>
              <a:rPr lang="en-IE" sz="2400" dirty="0">
                <a:solidFill>
                  <a:srgbClr val="212121"/>
                </a:solidFill>
                <a:latin typeface="Helvetica" pitchFamily="2" charset="0"/>
                <a:cs typeface="Courier New"/>
              </a:rPr>
              <a:t>be?</a:t>
            </a:r>
            <a:endParaRPr lang="en-IE" sz="2400" dirty="0">
              <a:latin typeface="Helvetica" pitchFamily="2" charset="0"/>
              <a:cs typeface="Courier New"/>
            </a:endParaRPr>
          </a:p>
          <a:p>
            <a:endParaRPr lang="en-IE" sz="2400" dirty="0"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6181E-3B9C-08A7-D4C7-D18A5B1C1A0F}"/>
              </a:ext>
            </a:extLst>
          </p:cNvPr>
          <p:cNvSpPr txBox="1"/>
          <p:nvPr/>
        </p:nvSpPr>
        <p:spPr>
          <a:xfrm>
            <a:off x="1765300" y="3474956"/>
            <a:ext cx="5350474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CREATE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TABLE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 panose="020B0609030804020204" pitchFamily="49" charset="0"/>
                <a:ea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ast( 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movieID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SERIAL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actorID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SERIAL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rolePlayed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VARCHAR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B5CEA8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);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76E26-0D7B-1A72-D5C9-2AAE78A0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IMDb example – </a:t>
            </a:r>
            <a:r>
              <a:rPr lang="en-IE" dirty="0" err="1"/>
              <a:t>movieCast</a:t>
            </a:r>
            <a:endParaRPr lang="en-IE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C2953-E156-6987-1FC5-8E00F20AF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41959" marR="5080" indent="-241935">
              <a:lnSpc>
                <a:spcPts val="2500"/>
              </a:lnSpc>
              <a:spcBef>
                <a:spcPts val="200"/>
              </a:spcBef>
              <a:buFont typeface="Arial"/>
              <a:buChar char="•"/>
              <a:tabLst>
                <a:tab pos="441959" algn="l"/>
                <a:tab pos="442595" algn="l"/>
              </a:tabLst>
            </a:pP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Suppose</a:t>
            </a:r>
            <a:r>
              <a:rPr lang="en-GB" sz="28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</a:t>
            </a:r>
            <a:r>
              <a:rPr lang="en-GB" sz="28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decide</a:t>
            </a:r>
            <a:r>
              <a:rPr lang="en-GB" sz="28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that</a:t>
            </a:r>
            <a:r>
              <a:rPr lang="en-GB" sz="2800" spc="3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</a:t>
            </a:r>
            <a:r>
              <a:rPr lang="en-GB" sz="28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combination</a:t>
            </a:r>
            <a:r>
              <a:rPr lang="en-GB" sz="28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of</a:t>
            </a:r>
            <a:r>
              <a:rPr lang="en-GB" sz="2800" spc="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movieID</a:t>
            </a:r>
            <a:r>
              <a:rPr lang="en-GB" sz="28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and</a:t>
            </a:r>
            <a:r>
              <a:rPr lang="en-GB" sz="28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actorID</a:t>
            </a:r>
            <a:r>
              <a:rPr lang="en-GB" sz="2800" spc="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spc="-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is </a:t>
            </a:r>
            <a:r>
              <a:rPr lang="en-GB" sz="2800" spc="-56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unique</a:t>
            </a:r>
            <a:endParaRPr lang="en-GB" sz="2800" dirty="0">
              <a:latin typeface="Helvetica" pitchFamily="2" charset="0"/>
              <a:cs typeface="HelveticaNeue-Thin"/>
            </a:endParaRPr>
          </a:p>
          <a:p>
            <a:pPr marL="441959" indent="-241935">
              <a:lnSpc>
                <a:spcPct val="100000"/>
              </a:lnSpc>
              <a:spcBef>
                <a:spcPts val="1019"/>
              </a:spcBef>
              <a:buFont typeface="Arial"/>
              <a:buChar char="•"/>
              <a:tabLst>
                <a:tab pos="441959" algn="l"/>
                <a:tab pos="442595" algn="l"/>
              </a:tabLst>
            </a:pPr>
            <a:r>
              <a:rPr lang="en-GB" sz="2800" spc="-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</a:t>
            </a:r>
            <a:r>
              <a:rPr lang="en-GB" sz="28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need</a:t>
            </a:r>
            <a:r>
              <a:rPr lang="en-GB" sz="28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800" spc="-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 Compound Primary Key</a:t>
            </a:r>
            <a:endParaRPr lang="en-GB" sz="2800" dirty="0">
              <a:latin typeface="Helvetica" pitchFamily="2" charset="0"/>
              <a:cs typeface="HelveticaNeue-Thi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en-GB" sz="2800" dirty="0">
              <a:latin typeface="Helvetica" pitchFamily="2" charset="0"/>
              <a:cs typeface="HelveticaNeue-Thi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2800" dirty="0">
              <a:latin typeface="Helvetica" pitchFamily="2" charset="0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2800" dirty="0">
              <a:latin typeface="Helvetica" pitchFamily="2" charset="0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2800" dirty="0">
              <a:latin typeface="Helvetica" pitchFamily="2" charset="0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2800" dirty="0">
              <a:latin typeface="Helvetica" pitchFamily="2" charset="0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2800" dirty="0">
              <a:latin typeface="Helvetica" pitchFamily="2" charset="0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2800" dirty="0">
              <a:latin typeface="Helvetica" pitchFamily="2" charset="0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2800" dirty="0">
              <a:latin typeface="Helvetica" pitchFamily="2" charset="0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lang="en-GB" sz="2800" b="1" dirty="0">
                <a:latin typeface="Helvetica" pitchFamily="2" charset="0"/>
                <a:cs typeface="Courier New"/>
              </a:rPr>
              <a:t>Remember: Compound primary keys can only be created at the table level</a:t>
            </a:r>
          </a:p>
          <a:p>
            <a:endParaRPr lang="en-IE" dirty="0"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D4C4B5-560C-0A03-6807-37DA6DB77658}"/>
              </a:ext>
            </a:extLst>
          </p:cNvPr>
          <p:cNvSpPr txBox="1"/>
          <p:nvPr/>
        </p:nvSpPr>
        <p:spPr>
          <a:xfrm>
            <a:off x="1155700" y="3473450"/>
            <a:ext cx="6024262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 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CREATE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TABLE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movieCast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movieID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SERIAL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actorID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SERIAL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rolePlayed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VARCHAR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</a:t>
            </a:r>
            <a:r>
              <a:rPr lang="en-US" sz="2000" dirty="0">
                <a:solidFill>
                  <a:srgbClr val="B5CEA8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50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),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20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PRIMARY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KEY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movieID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actorID</a:t>
            </a: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);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14705-0710-F564-DA9A-252CC98E4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Compound primary key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787289-21D0-D280-5E28-2E72FB8CD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55600" marR="6212840" indent="-342900">
              <a:spcBef>
                <a:spcPts val="5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Three tables:</a:t>
            </a:r>
          </a:p>
          <a:p>
            <a:pPr marL="355600" marR="6212840" indent="-342900">
              <a:spcBef>
                <a:spcPts val="5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endParaRPr lang="en-GB" sz="2400" spc="1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0" marR="6212840" indent="0">
              <a:spcBef>
                <a:spcPts val="5"/>
              </a:spcBef>
              <a:buNone/>
              <a:tabLst>
                <a:tab pos="254000" algn="l"/>
                <a:tab pos="254635" algn="l"/>
              </a:tabLst>
            </a:pPr>
            <a:endParaRPr lang="en-GB" sz="2400" spc="1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355600" marR="885190" indent="-342900">
              <a:spcBef>
                <a:spcPts val="1495"/>
              </a:spcBef>
              <a:buFont typeface="Arial"/>
              <a:buChar char="•"/>
            </a:pPr>
            <a:r>
              <a:rPr lang="en-GB" sz="2400" spc="1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movieCast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has a common data element with movies (</a:t>
            </a:r>
            <a:r>
              <a:rPr lang="en-GB" sz="2400" spc="1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movieId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)</a:t>
            </a:r>
          </a:p>
          <a:p>
            <a:pPr marL="355600" marR="885190" indent="-342900">
              <a:spcBef>
                <a:spcPts val="1495"/>
              </a:spcBef>
              <a:buFont typeface="Arial"/>
              <a:buChar char="•"/>
            </a:pPr>
            <a:r>
              <a:rPr lang="en-GB" sz="2400" spc="1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movieCast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has a common data element with actors (</a:t>
            </a:r>
            <a:r>
              <a:rPr lang="en-GB" sz="2400" spc="1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actorId</a:t>
            </a: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)</a:t>
            </a:r>
          </a:p>
          <a:p>
            <a:pPr marL="355600" marR="5080" indent="-342900">
              <a:buFont typeface="Arial"/>
              <a:buChar char="•"/>
            </a:pPr>
            <a:r>
              <a:rPr lang="en-GB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 must ensure this is expressed in the metadata to protect our data’s integrity.</a:t>
            </a:r>
          </a:p>
          <a:p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8698F0-A09B-EB58-8F1C-6287F5FEE608}"/>
              </a:ext>
            </a:extLst>
          </p:cNvPr>
          <p:cNvSpPr/>
          <p:nvPr/>
        </p:nvSpPr>
        <p:spPr>
          <a:xfrm>
            <a:off x="1079500" y="2704779"/>
            <a:ext cx="1153797" cy="78307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>
                <a:latin typeface="Times" pitchFamily="2" charset="0"/>
              </a:rPr>
              <a:t>movies</a:t>
            </a:r>
            <a:endParaRPr lang="pt-PT" dirty="0">
              <a:latin typeface="Times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55A639-A48E-41E4-B31C-D28698583042}"/>
              </a:ext>
            </a:extLst>
          </p:cNvPr>
          <p:cNvSpPr/>
          <p:nvPr/>
        </p:nvSpPr>
        <p:spPr>
          <a:xfrm>
            <a:off x="2451100" y="2711450"/>
            <a:ext cx="1153797" cy="78307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>
                <a:latin typeface="Times" pitchFamily="2" charset="0"/>
              </a:rPr>
              <a:t>actors</a:t>
            </a:r>
            <a:endParaRPr lang="pt-PT" dirty="0">
              <a:latin typeface="Times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00F1C-BC15-A438-0AE0-0B63AA27D56A}"/>
              </a:ext>
            </a:extLst>
          </p:cNvPr>
          <p:cNvSpPr/>
          <p:nvPr/>
        </p:nvSpPr>
        <p:spPr>
          <a:xfrm>
            <a:off x="3822700" y="2711450"/>
            <a:ext cx="1295400" cy="78307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>
                <a:latin typeface="Times" pitchFamily="2" charset="0"/>
              </a:rPr>
              <a:t>movieCast</a:t>
            </a:r>
            <a:endParaRPr lang="pt-PT" dirty="0">
              <a:latin typeface="Time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4285A-8AFF-C8D0-CC5F-DC185657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IMDb structure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D997-7E94-E965-BE46-1647FF17D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Defining table relationships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B670D-DB24-AD82-8804-F4AACC73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0" y="2011569"/>
            <a:ext cx="9869329" cy="4794530"/>
          </a:xfrm>
        </p:spPr>
        <p:txBody>
          <a:bodyPr>
            <a:normAutofit/>
          </a:bodyPr>
          <a:lstStyle/>
          <a:p>
            <a:pPr marL="355600" marR="885190" indent="-342900">
              <a:lnSpc>
                <a:spcPct val="100000"/>
              </a:lnSpc>
              <a:spcBef>
                <a:spcPts val="1495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Foreign keys define relationships between tables</a:t>
            </a:r>
          </a:p>
          <a:p>
            <a:pPr marL="355600" marR="885190" indent="-342900">
              <a:lnSpc>
                <a:spcPct val="100000"/>
              </a:lnSpc>
              <a:spcBef>
                <a:spcPts val="1495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 foreign key is a constraint that establishes a link between two tables by ensuring that the values in one table's column(s) match the values in another table's primary key column(s). That happens when a column of one table is the same as the primary key of another</a:t>
            </a:r>
          </a:p>
          <a:p>
            <a:pPr marL="355600" marR="885190" indent="-342900">
              <a:lnSpc>
                <a:spcPct val="119300"/>
              </a:lnSpc>
              <a:spcBef>
                <a:spcPts val="1495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So we need to include something in our CREATE statement for </a:t>
            </a:r>
            <a:r>
              <a:rPr lang="en-IE" sz="2400" spc="10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movieCast</a:t>
            </a:r>
            <a:r>
              <a:rPr lang="en-IE" sz="24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to indicate which attribute is  the foreign key</a:t>
            </a:r>
          </a:p>
          <a:p>
            <a:endParaRPr lang="en-IE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9AB0D12-DE6B-8172-C27A-AA522B190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spc="-5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</a:t>
            </a:r>
            <a:r>
              <a:rPr lang="en-GB" sz="2400" spc="-5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know</a:t>
            </a:r>
            <a:r>
              <a:rPr lang="en-GB" sz="2400" spc="-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that</a:t>
            </a:r>
            <a:r>
              <a:rPr lang="en-GB" sz="2400" spc="-3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Cast</a:t>
            </a:r>
            <a:r>
              <a:rPr lang="en-GB" sz="2400" spc="-3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has</a:t>
            </a:r>
            <a:r>
              <a:rPr lang="en-GB" sz="2400" spc="-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two</a:t>
            </a:r>
            <a:r>
              <a:rPr lang="en-GB" sz="2400" spc="-3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foreign</a:t>
            </a:r>
            <a:r>
              <a:rPr lang="en-GB" sz="2400" spc="-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keys:</a:t>
            </a:r>
            <a:r>
              <a:rPr lang="en-GB" sz="2400" spc="-3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25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actorID</a:t>
            </a:r>
            <a:r>
              <a:rPr lang="en-GB" sz="2400" spc="-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819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and</a:t>
            </a:r>
            <a:r>
              <a:rPr lang="en-GB" sz="2400" spc="-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400" spc="-15" dirty="0" err="1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movieID</a:t>
            </a:r>
            <a:endParaRPr lang="en-GB" sz="2400" dirty="0">
              <a:latin typeface="Helvetica" pitchFamily="2" charset="0"/>
              <a:cs typeface="HelveticaNeue-Thin"/>
            </a:endParaRPr>
          </a:p>
          <a:p>
            <a:endParaRPr lang="en-IE" sz="2400" dirty="0">
              <a:latin typeface="Helvetica" pitchFamily="2" charset="0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41036"/>
              </p:ext>
            </p:extLst>
          </p:nvPr>
        </p:nvGraphicFramePr>
        <p:xfrm>
          <a:off x="1917700" y="3016250"/>
          <a:ext cx="1678305" cy="31813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67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72390" algn="l">
                        <a:lnSpc>
                          <a:spcPts val="1714"/>
                        </a:lnSpc>
                      </a:pPr>
                      <a:r>
                        <a:rPr sz="1500" b="1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Movie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72390" algn="l">
                        <a:lnSpc>
                          <a:spcPts val="1705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Movie ID</a:t>
                      </a:r>
                      <a:r>
                        <a:rPr lang="pt-BR"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(PK)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72390" algn="l">
                        <a:lnSpc>
                          <a:spcPts val="1714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Movie </a:t>
                      </a:r>
                      <a:r>
                        <a:rPr sz="1500" spc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Titl</a:t>
                      </a:r>
                      <a:r>
                        <a:rPr lang="pt-BR"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72390" algn="l">
                        <a:lnSpc>
                          <a:spcPts val="1720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Year</a:t>
                      </a:r>
                      <a:endParaRPr sz="1500" spc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72390" algn="l">
                        <a:lnSpc>
                          <a:spcPts val="1725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Director</a:t>
                      </a:r>
                      <a:endParaRPr sz="1500" spc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72390" algn="l">
                        <a:lnSpc>
                          <a:spcPts val="1735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Budget</a:t>
                      </a:r>
                      <a:endParaRPr sz="1500" spc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marL="72390" algn="l">
                        <a:lnSpc>
                          <a:spcPts val="1714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Profit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628778"/>
              </p:ext>
            </p:extLst>
          </p:nvPr>
        </p:nvGraphicFramePr>
        <p:xfrm>
          <a:off x="4376989" y="3377967"/>
          <a:ext cx="2037714" cy="171322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7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72390">
                        <a:lnSpc>
                          <a:spcPts val="1714"/>
                        </a:lnSpc>
                      </a:pPr>
                      <a:r>
                        <a:rPr lang="pt-BR" sz="1500" b="1" spc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MovieC</a:t>
                      </a:r>
                      <a:r>
                        <a:rPr sz="1500" b="1" spc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ast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72390">
                        <a:lnSpc>
                          <a:spcPts val="1720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Actor ID</a:t>
                      </a:r>
                      <a:r>
                        <a:rPr lang="pt-BR"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(PK)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72390">
                        <a:lnSpc>
                          <a:spcPts val="1710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Movie ID</a:t>
                      </a:r>
                      <a:r>
                        <a:rPr lang="pt-BR"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(PK)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72390">
                        <a:lnSpc>
                          <a:spcPts val="1725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Role Played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object 19">
            <a:extLst>
              <a:ext uri="{FF2B5EF4-FFF2-40B4-BE49-F238E27FC236}">
                <a16:creationId xmlns:a16="http://schemas.microsoft.com/office/drawing/2014/main" id="{2CD883E1-5212-28FA-724B-3C43ED15D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558262"/>
              </p:ext>
            </p:extLst>
          </p:nvPr>
        </p:nvGraphicFramePr>
        <p:xfrm>
          <a:off x="7043989" y="3682767"/>
          <a:ext cx="2037714" cy="124459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7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72390">
                        <a:lnSpc>
                          <a:spcPts val="1714"/>
                        </a:lnSpc>
                      </a:pPr>
                      <a:r>
                        <a:rPr lang="pt-BR" sz="1500" b="1" spc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Actor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72390">
                        <a:lnSpc>
                          <a:spcPts val="1720"/>
                        </a:lnSpc>
                      </a:pPr>
                      <a:r>
                        <a:rPr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Actor ID</a:t>
                      </a:r>
                      <a:r>
                        <a:rPr lang="pt-BR"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(PK)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marL="72390">
                        <a:lnSpc>
                          <a:spcPts val="1710"/>
                        </a:lnSpc>
                      </a:pPr>
                      <a:r>
                        <a:rPr lang="pt-BR" sz="1500" spc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Actor</a:t>
                      </a:r>
                      <a:r>
                        <a:rPr lang="pt-BR" sz="1500" spc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 </a:t>
                      </a:r>
                      <a:r>
                        <a:rPr lang="pt-BR" sz="1500" spc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Name</a:t>
                      </a:r>
                      <a:endParaRPr sz="1500" spc="0" dirty="0">
                        <a:solidFill>
                          <a:schemeClr val="tx1"/>
                        </a:solidFill>
                        <a:latin typeface="Helvetica" pitchFamily="2" charset="0"/>
                        <a:cs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itle 19">
            <a:extLst>
              <a:ext uri="{FF2B5EF4-FFF2-40B4-BE49-F238E27FC236}">
                <a16:creationId xmlns:a16="http://schemas.microsoft.com/office/drawing/2014/main" id="{6F10D32C-BE25-3243-A1D7-107AC0DF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Foreign Keys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D4DDA-B205-9D68-5BEE-CDF78DE04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644650"/>
            <a:ext cx="9223058" cy="5161449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GB" sz="22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To define a foreign key between two tables, we declare the foreign key at a table level (after declaring the columns) and state from which table we are retrieving the data.</a:t>
            </a:r>
          </a:p>
          <a:p>
            <a:pPr marL="12700" marR="379095">
              <a:lnSpc>
                <a:spcPts val="2500"/>
              </a:lnSpc>
              <a:spcBef>
                <a:spcPts val="1180"/>
              </a:spcBef>
            </a:pPr>
            <a:endParaRPr lang="en-GB" sz="22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12700" marR="379095">
              <a:lnSpc>
                <a:spcPts val="2500"/>
              </a:lnSpc>
              <a:spcBef>
                <a:spcPts val="1180"/>
              </a:spcBef>
            </a:pPr>
            <a:endParaRPr lang="en-GB" sz="22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12700" marR="379095">
              <a:lnSpc>
                <a:spcPts val="2500"/>
              </a:lnSpc>
              <a:spcBef>
                <a:spcPts val="1180"/>
              </a:spcBef>
            </a:pPr>
            <a:endParaRPr lang="en-GB" sz="2200" dirty="0">
              <a:latin typeface="Helvetica" pitchFamily="2" charset="0"/>
              <a:cs typeface="HelveticaNeue-Thin"/>
            </a:endParaRPr>
          </a:p>
          <a:p>
            <a:pPr>
              <a:lnSpc>
                <a:spcPct val="100000"/>
              </a:lnSpc>
            </a:pPr>
            <a:endParaRPr lang="en-GB" sz="2200" dirty="0">
              <a:latin typeface="Helvetica" pitchFamily="2" charset="0"/>
              <a:cs typeface="HelveticaNeue-Thin"/>
            </a:endParaRPr>
          </a:p>
          <a:p>
            <a:pPr marL="0" marR="570230" indent="0">
              <a:lnSpc>
                <a:spcPct val="103800"/>
              </a:lnSpc>
              <a:spcBef>
                <a:spcPts val="2060"/>
              </a:spcBef>
              <a:buNone/>
              <a:tabLst>
                <a:tab pos="254000" algn="l"/>
                <a:tab pos="254635" algn="l"/>
              </a:tabLst>
            </a:pPr>
            <a:endParaRPr lang="en-GB" sz="22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254000" marR="570230" indent="-241935">
              <a:lnSpc>
                <a:spcPct val="103800"/>
              </a:lnSpc>
              <a:spcBef>
                <a:spcPts val="2060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2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FOREIGN KEY: Defines the column in the child table at the table-constraint level</a:t>
            </a:r>
            <a:endParaRPr lang="en-GB" sz="2200" dirty="0"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985"/>
              </a:spcBef>
              <a:buFont typeface="Arial"/>
              <a:buChar char="•"/>
              <a:tabLst>
                <a:tab pos="254000" algn="l"/>
                <a:tab pos="254635" algn="l"/>
              </a:tabLst>
            </a:pPr>
            <a:r>
              <a:rPr lang="en-GB" sz="22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REFERENCES: Identifies the table and column in the parent table</a:t>
            </a:r>
            <a:endParaRPr lang="en-GB" sz="2200" dirty="0">
              <a:latin typeface="Helvetica" pitchFamily="2" charset="0"/>
              <a:cs typeface="HelveticaNeue-Thin"/>
            </a:endParaRPr>
          </a:p>
          <a:p>
            <a:endParaRPr lang="en-IE" sz="2200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5694D-59E2-D21F-F4F1-348132E966C1}"/>
              </a:ext>
            </a:extLst>
          </p:cNvPr>
          <p:cNvSpPr txBox="1"/>
          <p:nvPr/>
        </p:nvSpPr>
        <p:spPr>
          <a:xfrm>
            <a:off x="622300" y="2863850"/>
            <a:ext cx="9853929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CREATE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TABLE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latin typeface="Menlo" panose="020B0609030804020204" pitchFamily="49" charset="0"/>
                <a:ea typeface="Times New Roman" panose="02020603050405020304" pitchFamily="18" charset="0"/>
              </a:rPr>
              <a:t>movieC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ast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  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movieID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SERIAL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 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actorID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SERIAL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 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rolePlayed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VARCHAR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B5CEA8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50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),  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CONSTRAINT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cast_actor_fk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FOREIGN KEY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actorId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REFERENCES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actors (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actorID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),  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CONSTRAINT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cast_movie_fk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FOREIGN KEY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movieId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REFERENCES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movies (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movieID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),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PRIMARY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KEY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movieID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actorID</a:t>
            </a:r>
            <a:r>
              <a:rPr lang="en-US" sz="1600" dirty="0">
                <a:solidFill>
                  <a:srgbClr val="D4D4D4"/>
                </a:solidFill>
                <a:effectLst/>
                <a:latin typeface="Menlo" panose="020B0609030804020204" pitchFamily="49" charset="0"/>
                <a:ea typeface="Times New Roman" panose="02020603050405020304" pitchFamily="18" charset="0"/>
              </a:rPr>
              <a:t>));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85A2DB-2141-349F-7FE4-4A1FEB05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Defining foreign keys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B1A52D4-7E0B-21D9-4EBA-181EEA59A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025650"/>
            <a:ext cx="83185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75C47-6F1B-B7D4-2480-477655DE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Defining tables relationships</a:t>
            </a:r>
          </a:p>
        </p:txBody>
      </p:sp>
    </p:spTree>
    <p:extLst>
      <p:ext uri="{BB962C8B-B14F-4D97-AF65-F5344CB8AC3E}">
        <p14:creationId xmlns:p14="http://schemas.microsoft.com/office/powerpoint/2010/main" val="735119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100" y="2101850"/>
            <a:ext cx="9753600" cy="37617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0" marR="5080" indent="-241935">
              <a:lnSpc>
                <a:spcPct val="108200"/>
              </a:lnSpc>
              <a:spcBef>
                <a:spcPts val="9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3000" spc="-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Foreign </a:t>
            </a:r>
            <a:r>
              <a:rPr lang="en-IE" sz="3000" spc="-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keys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provide </a:t>
            </a:r>
            <a:r>
              <a:rPr lang="en-IE" sz="30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method </a:t>
            </a:r>
            <a:r>
              <a:rPr lang="en-IE" sz="3000" spc="-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for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maintaining integrity </a:t>
            </a:r>
            <a:r>
              <a:rPr lang="en-IE" sz="3000" spc="-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in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the data (called </a:t>
            </a:r>
            <a:r>
              <a:rPr lang="en-IE" sz="3000" spc="-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referential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integrity) and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navigating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between different instances </a:t>
            </a:r>
            <a:r>
              <a:rPr lang="en-IE" sz="3000" spc="-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of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an </a:t>
            </a:r>
            <a:r>
              <a:rPr lang="en-IE" sz="3000" spc="-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entity.</a:t>
            </a:r>
            <a:endParaRPr lang="en-IE" sz="3000" dirty="0">
              <a:latin typeface="Times" pitchFamily="2" charset="0"/>
              <a:cs typeface="HelveticaNeue-Thin"/>
            </a:endParaRPr>
          </a:p>
          <a:p>
            <a:pPr marL="254000" marR="1109345" indent="-241935">
              <a:lnSpc>
                <a:spcPct val="108000"/>
              </a:lnSpc>
              <a:spcBef>
                <a:spcPts val="113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3000" spc="-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Every</a:t>
            </a:r>
            <a:r>
              <a:rPr lang="en-IE" sz="3000" spc="-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relationship</a:t>
            </a:r>
            <a:r>
              <a:rPr lang="en-IE" sz="3000" spc="-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between</a:t>
            </a:r>
            <a:r>
              <a:rPr lang="en-IE" sz="3000" spc="-5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tables</a:t>
            </a:r>
            <a:r>
              <a:rPr lang="en-IE" sz="3000" spc="-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must</a:t>
            </a:r>
            <a:r>
              <a:rPr lang="en-IE" sz="3000" spc="-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be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supported</a:t>
            </a:r>
            <a:r>
              <a:rPr lang="en-IE" sz="3000" spc="-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by</a:t>
            </a:r>
            <a:r>
              <a:rPr lang="en-IE" sz="3000" spc="-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</a:t>
            </a:r>
            <a:r>
              <a:rPr lang="en-IE" sz="3000" spc="-4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foreign</a:t>
            </a:r>
            <a:r>
              <a:rPr lang="en-IE" sz="3000" spc="-5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6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key.</a:t>
            </a:r>
            <a:endParaRPr lang="en-IE" sz="3000" dirty="0">
              <a:latin typeface="Times" pitchFamily="2" charset="0"/>
              <a:cs typeface="HelveticaNeue-Thin"/>
            </a:endParaRPr>
          </a:p>
          <a:p>
            <a:pPr marL="254000" marR="271780" indent="-241935">
              <a:lnSpc>
                <a:spcPct val="108000"/>
              </a:lnSpc>
              <a:spcBef>
                <a:spcPts val="1030"/>
              </a:spcBef>
              <a:buFont typeface="Arial"/>
              <a:buChar char="•"/>
              <a:tabLst>
                <a:tab pos="254635" algn="l"/>
              </a:tabLst>
            </a:pPr>
            <a:r>
              <a:rPr lang="en-IE" sz="3000" spc="-3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Foreign </a:t>
            </a:r>
            <a:r>
              <a:rPr lang="en-IE" sz="3000" spc="-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key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attributes </a:t>
            </a:r>
            <a:r>
              <a:rPr lang="en-IE" sz="3000" spc="-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are </a:t>
            </a:r>
            <a:r>
              <a:rPr lang="en-IE" sz="3000" spc="-2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indicated </a:t>
            </a:r>
            <a:r>
              <a:rPr lang="en-IE" sz="3000" spc="-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by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the notation</a:t>
            </a:r>
            <a:r>
              <a:rPr lang="en-IE" sz="3000" spc="-5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(FK)</a:t>
            </a:r>
            <a:r>
              <a:rPr lang="en-IE" sz="3000" spc="-3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beside</a:t>
            </a:r>
            <a:r>
              <a:rPr lang="en-IE" sz="3000" spc="-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1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them</a:t>
            </a:r>
            <a:r>
              <a:rPr lang="en-IE" sz="3000" spc="-5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1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on</a:t>
            </a:r>
            <a:r>
              <a:rPr lang="en-IE" sz="3000" spc="-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database</a:t>
            </a:r>
            <a:r>
              <a:rPr lang="en-IE" sz="3000" spc="-45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 </a:t>
            </a:r>
            <a:r>
              <a:rPr lang="en-IE" sz="3000" spc="-20" dirty="0">
                <a:solidFill>
                  <a:srgbClr val="212121"/>
                </a:solidFill>
                <a:latin typeface="Times" pitchFamily="2" charset="0"/>
                <a:cs typeface="HelveticaNeue-Thin"/>
              </a:rPr>
              <a:t>models.</a:t>
            </a:r>
            <a:endParaRPr lang="en-IE" sz="3000" dirty="0">
              <a:latin typeface="Times" pitchFamily="2" charset="0"/>
              <a:cs typeface="HelveticaNeue-Thi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E15755-54DA-CA08-F65A-ACF7548E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Foreign keys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E946-5995-95EB-379B-C6E8711A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order of creation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2BC69-3DCA-D3E1-E9A9-C73CF0DE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797050"/>
            <a:ext cx="9223058" cy="4794530"/>
          </a:xfrm>
        </p:spPr>
        <p:txBody>
          <a:bodyPr>
            <a:normAutofit/>
          </a:bodyPr>
          <a:lstStyle/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spc="-5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</a:t>
            </a:r>
            <a:r>
              <a:rPr lang="en-GB" sz="2300" spc="-5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300" spc="-2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need</a:t>
            </a:r>
            <a:r>
              <a:rPr lang="en-GB" sz="2300" spc="-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300" spc="-3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to</a:t>
            </a:r>
            <a:r>
              <a:rPr lang="en-GB" sz="2300" spc="-3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create</a:t>
            </a:r>
            <a:r>
              <a:rPr lang="en-GB" sz="2300" spc="-4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300" spc="-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</a:t>
            </a:r>
            <a:r>
              <a:rPr lang="en-GB" sz="2300" spc="-5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300" spc="-1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tables</a:t>
            </a:r>
            <a:r>
              <a:rPr lang="en-GB" sz="2300" spc="-4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300" spc="-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in</a:t>
            </a:r>
            <a:r>
              <a:rPr lang="en-GB" sz="2300" spc="-5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 </a:t>
            </a:r>
            <a:r>
              <a:rPr lang="en-GB" sz="2300" spc="-2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order</a:t>
            </a:r>
            <a:endParaRPr lang="en-GB" sz="2300" dirty="0">
              <a:latin typeface="Helvetica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300" spc="1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Movie</a:t>
            </a:r>
            <a:endParaRPr lang="en-GB" sz="2300" dirty="0">
              <a:latin typeface="Helvetica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3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Actor</a:t>
            </a:r>
            <a:endParaRPr lang="en-GB" sz="2300" dirty="0">
              <a:latin typeface="Helvetica" pitchFamily="2" charset="0"/>
              <a:cs typeface="HelveticaNeue-Thin"/>
            </a:endParaRPr>
          </a:p>
          <a:p>
            <a:pPr marL="737235" lvl="1" indent="-242570">
              <a:lnSpc>
                <a:spcPct val="100000"/>
              </a:lnSpc>
              <a:spcBef>
                <a:spcPts val="1225"/>
              </a:spcBef>
              <a:buFont typeface="Arial"/>
              <a:buChar char="•"/>
              <a:tabLst>
                <a:tab pos="737870" algn="l"/>
              </a:tabLst>
            </a:pPr>
            <a:r>
              <a:rPr lang="en-GB" sz="2300" spc="5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Cast</a:t>
            </a:r>
            <a:endParaRPr lang="en-GB" sz="2300" dirty="0">
              <a:latin typeface="Helvetica" pitchFamily="2" charset="0"/>
              <a:cs typeface="HelveticaNeue-Thin"/>
            </a:endParaRPr>
          </a:p>
          <a:p>
            <a:pPr lvl="1">
              <a:lnSpc>
                <a:spcPct val="100000"/>
              </a:lnSpc>
              <a:buClr>
                <a:srgbClr val="212121"/>
              </a:buClr>
              <a:buFont typeface="Arial"/>
              <a:buChar char="•"/>
            </a:pPr>
            <a:endParaRPr lang="en-GB" sz="2300" dirty="0">
              <a:latin typeface="Helvetica" pitchFamily="2" charset="0"/>
              <a:cs typeface="HelveticaNeue-Thin"/>
            </a:endParaRPr>
          </a:p>
          <a:p>
            <a:pPr marL="0" indent="0">
              <a:buNone/>
            </a:pPr>
            <a:endParaRPr lang="en-IE" sz="23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IE" sz="2300" dirty="0">
                <a:latin typeface="Helvetica" pitchFamily="2" charset="0"/>
              </a:rPr>
              <a:t>Why?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E946-5995-95EB-379B-C6E8711A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order of creation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2BC69-3DCA-D3E1-E9A9-C73CF0DE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797050"/>
            <a:ext cx="9223058" cy="4794530"/>
          </a:xfrm>
        </p:spPr>
        <p:txBody>
          <a:bodyPr>
            <a:normAutofit/>
          </a:bodyPr>
          <a:lstStyle/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First</a:t>
            </a:r>
          </a:p>
          <a:p>
            <a:pPr marL="654689" lvl="1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Create tables that have no dependencies</a:t>
            </a:r>
          </a:p>
          <a:p>
            <a:pPr marL="412754" lvl="1" indent="0">
              <a:lnSpc>
                <a:spcPct val="100000"/>
              </a:lnSpc>
              <a:spcBef>
                <a:spcPts val="1535"/>
              </a:spcBef>
              <a:buNone/>
              <a:tabLst>
                <a:tab pos="254635" algn="l"/>
              </a:tabLst>
            </a:pPr>
            <a:endParaRPr lang="en-GB" sz="23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Second</a:t>
            </a:r>
          </a:p>
          <a:p>
            <a:pPr marL="654689" lvl="1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Create tables that depend on those tables but only have one  dependency</a:t>
            </a:r>
          </a:p>
          <a:p>
            <a:pPr marL="412754" lvl="1" indent="0">
              <a:lnSpc>
                <a:spcPct val="100000"/>
              </a:lnSpc>
              <a:spcBef>
                <a:spcPts val="1535"/>
              </a:spcBef>
              <a:buNone/>
              <a:tabLst>
                <a:tab pos="254635" algn="l"/>
              </a:tabLst>
            </a:pPr>
            <a:endParaRPr lang="en-GB" sz="23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Third</a:t>
            </a:r>
          </a:p>
          <a:p>
            <a:pPr marL="654689" lvl="1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Create tables with multiple dependencies</a:t>
            </a:r>
          </a:p>
        </p:txBody>
      </p:sp>
    </p:spTree>
    <p:extLst>
      <p:ext uri="{BB962C8B-B14F-4D97-AF65-F5344CB8AC3E}">
        <p14:creationId xmlns:p14="http://schemas.microsoft.com/office/powerpoint/2010/main" val="4017679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E946-5995-95EB-379B-C6E8711A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DROP 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2BC69-3DCA-D3E1-E9A9-C73CF0DE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797050"/>
            <a:ext cx="9223058" cy="4794530"/>
          </a:xfrm>
        </p:spPr>
        <p:txBody>
          <a:bodyPr>
            <a:normAutofit/>
          </a:bodyPr>
          <a:lstStyle/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All data and structure in the table are deleted.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Any pending TRANSACTION is committed.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All indexes are dropped.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All constraints are dropped.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Once the table is dropped, there is no turning back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endParaRPr lang="en-GB" sz="23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</p:txBody>
      </p:sp>
    </p:spTree>
    <p:extLst>
      <p:ext uri="{BB962C8B-B14F-4D97-AF65-F5344CB8AC3E}">
        <p14:creationId xmlns:p14="http://schemas.microsoft.com/office/powerpoint/2010/main" val="29232563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E946-5995-95EB-379B-C6E8711A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DROP TABLE - order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2BC69-3DCA-D3E1-E9A9-C73CF0DE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797050"/>
            <a:ext cx="9223058" cy="4794530"/>
          </a:xfrm>
        </p:spPr>
        <p:txBody>
          <a:bodyPr>
            <a:normAutofit/>
          </a:bodyPr>
          <a:lstStyle/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The order used to drop the table also matters.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We should drop tables in the opposite order they were created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If we try to drop a table that contains a column that is a foreign key in another existing table, we get an error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First, delete tables with multiple dependencies, then tables with no dependencies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endParaRPr lang="en-GB" sz="23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endParaRPr lang="en-GB" sz="23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</p:txBody>
      </p:sp>
    </p:spTree>
    <p:extLst>
      <p:ext uri="{BB962C8B-B14F-4D97-AF65-F5344CB8AC3E}">
        <p14:creationId xmlns:p14="http://schemas.microsoft.com/office/powerpoint/2010/main" val="32985550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E946-5995-95EB-379B-C6E8711A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DROP TABLE - order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2BC69-3DCA-D3E1-E9A9-C73CF0DEF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171" y="1797050"/>
            <a:ext cx="9223058" cy="4794530"/>
          </a:xfrm>
        </p:spPr>
        <p:txBody>
          <a:bodyPr>
            <a:normAutofit/>
          </a:bodyPr>
          <a:lstStyle/>
          <a:p>
            <a:pPr marL="254000" indent="-241935"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When we create a set of SQL in a script to create and insert data, we include statements to drop the tables at the start of that script</a:t>
            </a:r>
          </a:p>
          <a:p>
            <a:pPr marL="254000" indent="-241935"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This will make sure our script clears out any old versions of our tables</a:t>
            </a:r>
          </a:p>
          <a:p>
            <a:pPr marL="254000" indent="-241935"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If no tables exist, then we will get an error message</a:t>
            </a:r>
          </a:p>
          <a:p>
            <a:pPr marL="254000" indent="-241935"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r>
              <a:rPr lang="en-GB" sz="2300" dirty="0">
                <a:solidFill>
                  <a:srgbClr val="212121"/>
                </a:solidFill>
                <a:latin typeface="Helvetica" pitchFamily="2" charset="0"/>
                <a:cs typeface="HelveticaNeue-Thin"/>
              </a:rPr>
              <a:t>You can also use DROP TABLE IF EXISTS to skip that message</a:t>
            </a:r>
          </a:p>
          <a:p>
            <a:pPr marL="254000" indent="-241935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254635" algn="l"/>
              </a:tabLst>
            </a:pPr>
            <a:endParaRPr lang="en-GB" sz="2300" dirty="0">
              <a:solidFill>
                <a:srgbClr val="212121"/>
              </a:solidFill>
              <a:latin typeface="Helvetica" pitchFamily="2" charset="0"/>
              <a:cs typeface="HelveticaNeue-Thin"/>
            </a:endParaRPr>
          </a:p>
        </p:txBody>
      </p:sp>
    </p:spTree>
    <p:extLst>
      <p:ext uri="{BB962C8B-B14F-4D97-AF65-F5344CB8AC3E}">
        <p14:creationId xmlns:p14="http://schemas.microsoft.com/office/powerpoint/2010/main" val="2333864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2239</Words>
  <Application>Microsoft Macintosh PowerPoint</Application>
  <PresentationFormat>Custom</PresentationFormat>
  <Paragraphs>373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Times</vt:lpstr>
      <vt:lpstr>Arial</vt:lpstr>
      <vt:lpstr>Calibri</vt:lpstr>
      <vt:lpstr>Helvetica</vt:lpstr>
      <vt:lpstr>HelveticaNeue-Medium</vt:lpstr>
      <vt:lpstr>HelveticaNeue-Thin</vt:lpstr>
      <vt:lpstr>Menlo</vt:lpstr>
      <vt:lpstr>Times New Roman</vt:lpstr>
      <vt:lpstr>Office Theme</vt:lpstr>
      <vt:lpstr>1_Office Theme</vt:lpstr>
      <vt:lpstr>PowerPoint Presentation</vt:lpstr>
      <vt:lpstr>Before we start</vt:lpstr>
      <vt:lpstr>Learning Objectives</vt:lpstr>
      <vt:lpstr>What have we learned so far?</vt:lpstr>
      <vt:lpstr>How do we instruct the DBMS?</vt:lpstr>
      <vt:lpstr>How do we instruct the DBMS?</vt:lpstr>
      <vt:lpstr>DDL and DML main commands</vt:lpstr>
      <vt:lpstr>Tables</vt:lpstr>
      <vt:lpstr>Creating a table</vt:lpstr>
      <vt:lpstr>Creating a table - process</vt:lpstr>
      <vt:lpstr>Creating a table - example</vt:lpstr>
      <vt:lpstr>Creating a table - example</vt:lpstr>
      <vt:lpstr>Creating a table - example</vt:lpstr>
      <vt:lpstr>Metadata - Datatypes in PostgreSQL</vt:lpstr>
      <vt:lpstr>Creating a table - example</vt:lpstr>
      <vt:lpstr>Naming tables</vt:lpstr>
      <vt:lpstr>Key constraints – Primary Key</vt:lpstr>
      <vt:lpstr>Key constraints – Primary Key</vt:lpstr>
      <vt:lpstr>Key constraints – Primary Key</vt:lpstr>
      <vt:lpstr>Key constraints – Primary Key</vt:lpstr>
      <vt:lpstr>Defining a primary key – Column level</vt:lpstr>
      <vt:lpstr>Defining a primary key – table level</vt:lpstr>
      <vt:lpstr>Defining a primary key – naming PK</vt:lpstr>
      <vt:lpstr>IMDb Example</vt:lpstr>
      <vt:lpstr>IMDb example</vt:lpstr>
      <vt:lpstr>IMDb example</vt:lpstr>
      <vt:lpstr>IMDb Example – movieCast</vt:lpstr>
      <vt:lpstr>IMDb Example – movieCast</vt:lpstr>
      <vt:lpstr>IMDb example – movieCast</vt:lpstr>
      <vt:lpstr>Compound primary key</vt:lpstr>
      <vt:lpstr>IMDb structure</vt:lpstr>
      <vt:lpstr>Defining table relationships</vt:lpstr>
      <vt:lpstr>Foreign Keys</vt:lpstr>
      <vt:lpstr>Defining foreign keys</vt:lpstr>
      <vt:lpstr>Defining tables relationships</vt:lpstr>
      <vt:lpstr>Foreign keys</vt:lpstr>
      <vt:lpstr>The order of creation</vt:lpstr>
      <vt:lpstr>The order of creation</vt:lpstr>
      <vt:lpstr>DROP TABLE</vt:lpstr>
      <vt:lpstr>DROP TABLE - order</vt:lpstr>
      <vt:lpstr>DROP TABLE - order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L2_creating and exploring data structuresv3</dc:title>
  <dc:creator>Emma Murphy</dc:creator>
  <cp:lastModifiedBy>Mariana Rocha</cp:lastModifiedBy>
  <cp:revision>66</cp:revision>
  <dcterms:created xsi:type="dcterms:W3CDTF">2021-09-30T15:19:26Z</dcterms:created>
  <dcterms:modified xsi:type="dcterms:W3CDTF">2025-09-18T09:53:11Z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2021-09-30T00:00:00Z</vt:filetime>
  </property>
</Properties>
</file>