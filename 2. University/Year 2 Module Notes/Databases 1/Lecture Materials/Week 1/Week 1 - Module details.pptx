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706" r:id="rId2"/>
    <p:sldMasterId id="2147483693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8" r:id="rId5"/>
    <p:sldId id="259" r:id="rId6"/>
    <p:sldId id="263" r:id="rId7"/>
    <p:sldId id="264" r:id="rId8"/>
    <p:sldId id="265" r:id="rId9"/>
    <p:sldId id="266" r:id="rId10"/>
    <p:sldId id="269" r:id="rId11"/>
    <p:sldId id="271" r:id="rId12"/>
    <p:sldId id="267" r:id="rId13"/>
    <p:sldId id="268" r:id="rId14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FF835-3F40-F141-A7FD-B8702E7D464C}" v="2" dt="2025-09-15T12:48:15.4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/>
    <p:restoredTop sz="94610"/>
  </p:normalViewPr>
  <p:slideViewPr>
    <p:cSldViewPr>
      <p:cViewPr varScale="1">
        <p:scale>
          <a:sx n="101" d="100"/>
          <a:sy n="101" d="100"/>
        </p:scale>
        <p:origin x="125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custSel modSld">
      <pc:chgData name="Mariana Rocha" userId="0a3173bd-d0ed-4c32-8e4c-b90c820606c5" providerId="ADAL" clId="{DCC3A51D-31E8-5BC6-970B-354B54D5302A}" dt="2025-09-15T12:48:28.490" v="62" actId="1076"/>
      <pc:docMkLst>
        <pc:docMk/>
      </pc:docMkLst>
      <pc:sldChg chg="modSp mod">
        <pc:chgData name="Mariana Rocha" userId="0a3173bd-d0ed-4c32-8e4c-b90c820606c5" providerId="ADAL" clId="{DCC3A51D-31E8-5BC6-970B-354B54D5302A}" dt="2025-09-01T12:31:24.438" v="18" actId="20577"/>
        <pc:sldMkLst>
          <pc:docMk/>
          <pc:sldMk cId="0" sldId="256"/>
        </pc:sldMkLst>
        <pc:spChg chg="mod">
          <ac:chgData name="Mariana Rocha" userId="0a3173bd-d0ed-4c32-8e4c-b90c820606c5" providerId="ADAL" clId="{DCC3A51D-31E8-5BC6-970B-354B54D5302A}" dt="2025-09-01T12:31:24.438" v="18" actId="20577"/>
          <ac:spMkLst>
            <pc:docMk/>
            <pc:sldMk cId="0" sldId="256"/>
            <ac:spMk id="28" creationId="{F8E066B0-7223-D5C8-AC47-4AE5F2157F6E}"/>
          </ac:spMkLst>
        </pc:spChg>
      </pc:sldChg>
      <pc:sldChg chg="modSp mod">
        <pc:chgData name="Mariana Rocha" userId="0a3173bd-d0ed-4c32-8e4c-b90c820606c5" providerId="ADAL" clId="{DCC3A51D-31E8-5BC6-970B-354B54D5302A}" dt="2025-09-12T16:07:15.206" v="22" actId="20577"/>
        <pc:sldMkLst>
          <pc:docMk/>
          <pc:sldMk cId="0" sldId="258"/>
        </pc:sldMkLst>
        <pc:spChg chg="mod">
          <ac:chgData name="Mariana Rocha" userId="0a3173bd-d0ed-4c32-8e4c-b90c820606c5" providerId="ADAL" clId="{DCC3A51D-31E8-5BC6-970B-354B54D5302A}" dt="2025-09-12T16:07:15.206" v="22" actId="20577"/>
          <ac:spMkLst>
            <pc:docMk/>
            <pc:sldMk cId="0" sldId="258"/>
            <ac:spMk id="5" creationId="{13010EF3-1421-00C5-23F6-4FF63C1B3C97}"/>
          </ac:spMkLst>
        </pc:spChg>
      </pc:sldChg>
      <pc:sldChg chg="modSp mod">
        <pc:chgData name="Mariana Rocha" userId="0a3173bd-d0ed-4c32-8e4c-b90c820606c5" providerId="ADAL" clId="{DCC3A51D-31E8-5BC6-970B-354B54D5302A}" dt="2025-09-15T12:47:28.219" v="39" actId="20577"/>
        <pc:sldMkLst>
          <pc:docMk/>
          <pc:sldMk cId="0" sldId="266"/>
        </pc:sldMkLst>
        <pc:spChg chg="mod">
          <ac:chgData name="Mariana Rocha" userId="0a3173bd-d0ed-4c32-8e4c-b90c820606c5" providerId="ADAL" clId="{DCC3A51D-31E8-5BC6-970B-354B54D5302A}" dt="2025-09-15T12:47:28.219" v="39" actId="20577"/>
          <ac:spMkLst>
            <pc:docMk/>
            <pc:sldMk cId="0" sldId="266"/>
            <ac:spMk id="5" creationId="{56028183-9739-2CDE-94F2-EF6DAF637FE2}"/>
          </ac:spMkLst>
        </pc:spChg>
      </pc:sldChg>
      <pc:sldChg chg="modSp mod">
        <pc:chgData name="Mariana Rocha" userId="0a3173bd-d0ed-4c32-8e4c-b90c820606c5" providerId="ADAL" clId="{DCC3A51D-31E8-5BC6-970B-354B54D5302A}" dt="2025-09-15T12:48:28.490" v="62" actId="1076"/>
        <pc:sldMkLst>
          <pc:docMk/>
          <pc:sldMk cId="0" sldId="269"/>
        </pc:sldMkLst>
        <pc:spChg chg="mod">
          <ac:chgData name="Mariana Rocha" userId="0a3173bd-d0ed-4c32-8e4c-b90c820606c5" providerId="ADAL" clId="{DCC3A51D-31E8-5BC6-970B-354B54D5302A}" dt="2025-09-15T12:48:28.490" v="62" actId="1076"/>
          <ac:spMkLst>
            <pc:docMk/>
            <pc:sldMk cId="0" sldId="269"/>
            <ac:spMk id="6" creationId="{6EC5EFEE-6C0C-576C-07E3-E3C41F260816}"/>
          </ac:spMkLst>
        </pc:spChg>
      </pc:sldChg>
      <pc:sldChg chg="modSp mod">
        <pc:chgData name="Mariana Rocha" userId="0a3173bd-d0ed-4c32-8e4c-b90c820606c5" providerId="ADAL" clId="{DCC3A51D-31E8-5BC6-970B-354B54D5302A}" dt="2025-09-12T16:07:51.357" v="23" actId="1076"/>
        <pc:sldMkLst>
          <pc:docMk/>
          <pc:sldMk cId="2683491706" sldId="271"/>
        </pc:sldMkLst>
        <pc:graphicFrameChg chg="mod">
          <ac:chgData name="Mariana Rocha" userId="0a3173bd-d0ed-4c32-8e4c-b90c820606c5" providerId="ADAL" clId="{DCC3A51D-31E8-5BC6-970B-354B54D5302A}" dt="2025-09-12T16:07:51.357" v="23" actId="1076"/>
          <ac:graphicFrameMkLst>
            <pc:docMk/>
            <pc:sldMk cId="2683491706" sldId="271"/>
            <ac:graphicFrameMk id="5" creationId="{0E59A2A6-918C-7F8D-39C5-D64FAEFDB07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CAAEF1-4129-5822-5844-29249EA16C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77F45-3992-DD6D-575D-332DE81317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54806-A9C3-A34D-B712-6ECB2AFB3018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1698C-2E7C-E9F1-61A2-67309D50A8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BAB55-E2C3-B4AB-0869-7E5516CD56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B868-7B58-4648-948B-FD16C38494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4539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13044-2A8A-EE40-A844-AEFA75312CDC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3B961-E7C4-1242-BB48-20E7BA73505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5822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717"/>
            <a:ext cx="8020050" cy="2632992"/>
          </a:xfrm>
        </p:spPr>
        <p:txBody>
          <a:bodyPr anchor="b"/>
          <a:lstStyle>
            <a:lvl1pPr algn="ctr">
              <a:defRPr sz="5263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247"/>
            <a:ext cx="8020050" cy="1825938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010" indent="0" algn="ctr">
              <a:buNone/>
              <a:defRPr sz="1754"/>
            </a:lvl2pPr>
            <a:lvl3pPr marL="802020" indent="0" algn="ctr">
              <a:buNone/>
              <a:defRPr sz="1579"/>
            </a:lvl3pPr>
            <a:lvl4pPr marL="1203030" indent="0" algn="ctr">
              <a:buNone/>
              <a:defRPr sz="1403"/>
            </a:lvl4pPr>
            <a:lvl5pPr marL="1604040" indent="0" algn="ctr">
              <a:buNone/>
              <a:defRPr sz="1403"/>
            </a:lvl5pPr>
            <a:lvl6pPr marL="2005051" indent="0" algn="ctr">
              <a:buNone/>
              <a:defRPr sz="1403"/>
            </a:lvl6pPr>
            <a:lvl7pPr marL="2406061" indent="0" algn="ctr">
              <a:buNone/>
              <a:defRPr sz="1403"/>
            </a:lvl7pPr>
            <a:lvl8pPr marL="2807071" indent="0" algn="ctr">
              <a:buNone/>
              <a:defRPr sz="1403"/>
            </a:lvl8pPr>
            <a:lvl9pPr marL="3208081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71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46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12" y="2013259"/>
            <a:ext cx="1828160" cy="22985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8643"/>
            <a:ext cx="7552214" cy="4185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0646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5462"/>
            <a:ext cx="9223058" cy="3145935"/>
          </a:xfrm>
        </p:spPr>
        <p:txBody>
          <a:bodyPr anchor="b"/>
          <a:lstStyle>
            <a:lvl1pPr>
              <a:defRPr sz="5263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1158"/>
            <a:ext cx="9223058" cy="1654373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01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20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303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404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505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606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707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808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34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11582"/>
            <a:ext cx="9223058" cy="1349636"/>
          </a:xfrm>
        </p:spPr>
        <p:txBody>
          <a:bodyPr anchor="b">
            <a:normAutofit/>
          </a:bodyPr>
          <a:lstStyle>
            <a:lvl1pPr algn="ctr">
              <a:defRPr sz="4736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2" y="786047"/>
            <a:ext cx="5959343" cy="45255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99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4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97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652"/>
            <a:ext cx="9223058" cy="14618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5" y="1853949"/>
            <a:ext cx="4523809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5" y="2762541"/>
            <a:ext cx="4523809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088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088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6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53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2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415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9832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0082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85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3766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1203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2214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7888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1335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4768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0277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652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8006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899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84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652"/>
            <a:ext cx="2305764" cy="6409166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652"/>
            <a:ext cx="6783626" cy="640916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45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38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87"/>
            <a:ext cx="9089390" cy="1621111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8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2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7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31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2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4678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59"/>
            <a:ext cx="9089390" cy="1654373"/>
          </a:xfrm>
        </p:spPr>
        <p:txBody>
          <a:bodyPr anchor="b"/>
          <a:lstStyle>
            <a:lvl1pPr marL="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743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670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812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0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89"/>
            <a:ext cx="4724775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3"/>
            <a:ext cx="4724775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1" y="1692889"/>
            <a:ext cx="4726631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1" y="2398403"/>
            <a:ext cx="4726631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9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45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2" y="301113"/>
            <a:ext cx="3518055" cy="1281484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15"/>
            <a:ext cx="5977908" cy="6454683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2" y="1582598"/>
            <a:ext cx="3518055" cy="5173200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34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7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4"/>
            <a:ext cx="6416040" cy="4537710"/>
          </a:xfr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5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90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438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52715" y="302865"/>
            <a:ext cx="2406015" cy="64529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670" y="302865"/>
            <a:ext cx="7039822" cy="64529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9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824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98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417C-2A90-F5CE-0B3A-2CD4A6C51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133"/>
            <a:ext cx="8020050" cy="2632992"/>
          </a:xfrm>
        </p:spPr>
        <p:txBody>
          <a:bodyPr anchor="b"/>
          <a:lstStyle>
            <a:lvl1pPr algn="l"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CEDB4-8055-5CCD-DD87-D2E492006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831"/>
            <a:ext cx="8020050" cy="18253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25D8-FC45-230F-BAAF-C7B889CC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C628-93D6-CFFE-31EB-675D672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8896-248E-A999-7FAB-965F2D2A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673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0C88-B162-0BF3-0361-72260F9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7347-AE29-1F2D-8D26-CAAA994F5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00CC-99A8-C131-7BF3-DA75E5B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CB88-6934-9482-07D5-7876EAA4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32B9-6AF2-518F-8242-0951F611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176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D1B8-AC63-F115-4165-46E54850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6044"/>
            <a:ext cx="9223058" cy="314651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9F74-8A9E-79D2-DF72-E65A42B3C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0574"/>
            <a:ext cx="9223058" cy="1654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9C2BF-D372-BD7D-7F4F-76F441C5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33C5-E803-B4D5-D591-07A025C5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48CA-FB66-7200-FE96-40548C0E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31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C8B4-F8EB-68F8-4158-4EFF95C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54006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2B2D-BBF2-120A-CA37-BEBB1CA1A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FA3D7-3C83-858A-BFDF-1E259A90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5812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F2F15-441B-E9D8-8A5B-171B6E17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5969-9822-373C-6D6A-EA229BB1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5A342-C722-A4D8-AB12-C6580F9E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2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E8DF-56BF-AF91-0B06-651C207A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8" y="403820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D81AA-CFEC-587A-EB67-A75EDB8B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029" y="1853366"/>
            <a:ext cx="4524273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5F7E-0C55-5B12-EEB2-C929A4BC0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7029" y="2763708"/>
            <a:ext cx="4524273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49F57-2857-8012-4522-9D73A0AD5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366"/>
            <a:ext cx="4546552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9AF5B-BA06-6C05-DDE4-DDD7B9894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3708"/>
            <a:ext cx="4546552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085D3-134B-9009-8C03-036C9336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AAB6-FBB1-FEC8-0898-F756F73A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1A263-1AC1-FAA2-7E31-EC9FF36F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902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D0E5-68A9-8B82-06C6-0B25C21E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B70AA-2CAF-41A8-3187-0E75768D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04B93-F5F2-2506-1FFC-388DD55B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B4076-8AD3-C968-A2F0-CDE1D734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7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15CFAA-6E36-4A2C-37EB-F90D5201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C55953-6E13-67BB-FBEB-54FD8BB6E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5171" y="3456970"/>
            <a:ext cx="9223058" cy="27917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4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D3BA-D41F-D7F5-8124-ADECF44D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CF27-1325-6AF8-E022-7132EB42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9AC32-89D3-98F9-5639-06BBBDE12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A9781-72F4-C6CD-A779-CAE1A1B6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67623-E412-E791-D89E-8E21C7A3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CA0EA-B805-68FA-D443-2C8D039A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44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6FB8-3D61-2BD6-986C-152A8BCD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85B45-526F-A9C6-5FF0-E7D3B32EA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55749-24D6-7B1A-5315-A08CAEB8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F18C-6983-848D-DB23-A6F85109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68207-9B44-E639-68E9-E9EE80A0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2B671-26DF-B986-3516-E5E2BD6F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07A1-4541-779E-4539-80108302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DA2BE-3B8C-3E42-202D-7278FA5B1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561B-6874-E860-3E8C-43BA7369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F409-2E9C-2A96-ECFA-F9421F24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9F3AD-6F56-A147-8B0A-5F43D39E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33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19164-9741-0766-0850-BDBBCDCAC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3820"/>
            <a:ext cx="2305764" cy="64074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D4B1-EAF5-90EE-1048-8CD33AD34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2" y="403820"/>
            <a:ext cx="6739070" cy="64074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2955-9F48-57FE-6D98-11537DB9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0E6B-E62A-DA15-7298-F45DA461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65944-E3A1-78DB-8291-286E2CA2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1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652"/>
            <a:ext cx="9223058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3259"/>
            <a:ext cx="9223058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1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89" y="7044819"/>
            <a:ext cx="360902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4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6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731" r:id="rId27"/>
  </p:sldLayoutIdLst>
  <p:hf sldNum="0" hdr="0" ftr="0" dt="0"/>
  <p:txStyles>
    <p:titleStyle>
      <a:lvl1pPr algn="l" defTabSz="802020" rtl="0" eaLnBrk="1" latinLnBrk="0" hangingPunct="1">
        <a:lnSpc>
          <a:spcPct val="90000"/>
        </a:lnSpc>
        <a:spcBef>
          <a:spcPct val="0"/>
        </a:spcBef>
        <a:buNone/>
        <a:defRPr sz="3859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00505" indent="-200505" algn="l" defTabSz="802020" rtl="0" eaLnBrk="1" latinLnBrk="0" hangingPunct="1">
        <a:lnSpc>
          <a:spcPct val="15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51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100252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40353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804546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0555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56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57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58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670" y="302865"/>
            <a:ext cx="9624060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764666"/>
            <a:ext cx="9624060" cy="499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670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579" y="7009642"/>
            <a:ext cx="338624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3603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4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32" r:id="rId12"/>
  </p:sldLayoutIdLst>
  <p:hf sldNum="0" hdr="0" ftr="0" dt="0"/>
  <p:txStyles>
    <p:titleStyle>
      <a:lvl1pPr algn="l" defTabSz="534650" rtl="0" eaLnBrk="1" latinLnBrk="0" hangingPunct="1"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987" indent="-400987" algn="l" defTabSz="534650" rtl="0" eaLnBrk="1" latinLnBrk="0" hangingPunct="1">
        <a:spcBef>
          <a:spcPct val="20000"/>
        </a:spcBef>
        <a:buFont typeface="Arial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868806" indent="-334156" algn="l" defTabSz="534650" rtl="0" eaLnBrk="1" latinLnBrk="0" hangingPunct="1">
        <a:spcBef>
          <a:spcPct val="20000"/>
        </a:spcBef>
        <a:buFont typeface="Arial"/>
        <a:buChar char="–"/>
        <a:defRPr sz="3274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534650" rtl="0" eaLnBrk="1" latinLnBrk="0" hangingPunct="1">
        <a:spcBef>
          <a:spcPct val="20000"/>
        </a:spcBef>
        <a:buFont typeface="Arial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534650" rtl="0" eaLnBrk="1" latinLnBrk="0" hangingPunct="1">
        <a:spcBef>
          <a:spcPct val="20000"/>
        </a:spcBef>
        <a:buFont typeface="Arial"/>
        <a:buChar char="–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534650" rtl="0" eaLnBrk="1" latinLnBrk="0" hangingPunct="1">
        <a:spcBef>
          <a:spcPct val="20000"/>
        </a:spcBef>
        <a:buFont typeface="Arial"/>
        <a:buChar char="»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0CBAF-FD6F-8D22-7028-D26883ED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1837961"/>
            <a:ext cx="9223058" cy="1461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6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sldNum="0" hdr="0" ftr="0" dt="0"/>
  <p:txStyles>
    <p:titleStyle>
      <a:lvl1pPr algn="l" defTabSz="1069299" rtl="0" eaLnBrk="1" latinLnBrk="0" hangingPunct="1">
        <a:lnSpc>
          <a:spcPct val="90000"/>
        </a:lnSpc>
        <a:spcBef>
          <a:spcPct val="0"/>
        </a:spcBef>
        <a:buNone/>
        <a:defRPr sz="5145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bg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bg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bg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dublin.ie/brightspac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ebookcentral.proquest.com/lib/tudublin/detail.action?docID=517445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imetables.tudublin.i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na.rocha@tudublin.i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71" y="1876425"/>
            <a:ext cx="9223058" cy="23756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sz="4400" dirty="0">
                <a:solidFill>
                  <a:schemeClr val="tx1"/>
                </a:solidFill>
                <a:latin typeface="Helvetica" pitchFamily="2" charset="0"/>
              </a:rPr>
              <a:t>Module details</a:t>
            </a:r>
            <a:br>
              <a:rPr lang="en-IE" sz="4400" dirty="0">
                <a:solidFill>
                  <a:schemeClr val="tx1"/>
                </a:solidFill>
                <a:latin typeface="Helvetica" pitchFamily="2" charset="0"/>
              </a:rPr>
            </a:br>
            <a:br>
              <a:rPr lang="en-IE" sz="40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Dr Mariana Rocha</a:t>
            </a:r>
            <a:br>
              <a:rPr lang="en-IE" sz="36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School of Computer Science</a:t>
            </a:r>
            <a:endParaRPr lang="en-IE" sz="4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735171" y="5915025"/>
            <a:ext cx="5549917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600" dirty="0">
                <a:solidFill>
                  <a:schemeClr val="tx1"/>
                </a:solidFill>
                <a:latin typeface="Helvetica" pitchFamily="2" charset="0"/>
                <a:cs typeface="Open sans"/>
              </a:rPr>
              <a:t>CMPU </a:t>
            </a:r>
            <a:r>
              <a:rPr lang="en-US" sz="2600">
                <a:solidFill>
                  <a:schemeClr val="tx1"/>
                </a:solidFill>
                <a:latin typeface="Helvetica" pitchFamily="2" charset="0"/>
                <a:cs typeface="Open sans"/>
              </a:rPr>
              <a:t>2007 Databases 1, </a:t>
            </a:r>
            <a:r>
              <a:rPr lang="en-US" sz="2600" dirty="0">
                <a:solidFill>
                  <a:schemeClr val="tx1"/>
                </a:solidFill>
                <a:latin typeface="Helvetica" pitchFamily="2" charset="0"/>
                <a:cs typeface="Open sans"/>
              </a:rPr>
              <a:t>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What’s</a:t>
            </a:r>
            <a:r>
              <a:rPr spc="-229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module</a:t>
            </a:r>
            <a:r>
              <a:rPr spc="-165" dirty="0"/>
              <a:t> </a:t>
            </a:r>
            <a:r>
              <a:rPr spc="-10" dirty="0"/>
              <a:t>about?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010EF3-1421-00C5-23F6-4FF63C1B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Relational Databases</a:t>
            </a:r>
          </a:p>
          <a:p>
            <a:r>
              <a:rPr lang="en-IE" dirty="0"/>
              <a:t>The rationale behind them</a:t>
            </a:r>
          </a:p>
          <a:p>
            <a:r>
              <a:rPr lang="en-IE" dirty="0"/>
              <a:t>How to build one</a:t>
            </a:r>
          </a:p>
          <a:p>
            <a:r>
              <a:rPr lang="en-IE" dirty="0"/>
              <a:t>How to use the data within one</a:t>
            </a:r>
          </a:p>
          <a:p>
            <a:r>
              <a:rPr lang="en-IE" dirty="0"/>
              <a:t>The special-purpose programming language used (Structured Query Language)</a:t>
            </a:r>
          </a:p>
          <a:p>
            <a:r>
              <a:rPr lang="en-IE" dirty="0"/>
              <a:t>How to use AI to optimise databases performance</a:t>
            </a:r>
          </a:p>
          <a:p>
            <a:endParaRPr lang="en-IE" dirty="0"/>
          </a:p>
          <a:p>
            <a:endParaRPr lang="en-I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200" dirty="0"/>
              <a:t> </a:t>
            </a:r>
            <a:r>
              <a:rPr spc="-20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5A68BB-6C78-4D91-574B-D3CD74B5E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724026"/>
            <a:ext cx="9525000" cy="5433335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Describe and justify the rationale behind the use of relational database management systems.</a:t>
            </a:r>
          </a:p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Identify and distinguish between data and meta-data and the concepts of keys.</a:t>
            </a:r>
          </a:p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Design and implement a data model suited to a business application in a relational database.</a:t>
            </a:r>
          </a:p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Define tables and views with appropriate constraints to ensure data integrity and relational integrity.</a:t>
            </a:r>
          </a:p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Manipulate the data in a relational database using DDL and DML aspects of SQL.</a:t>
            </a:r>
          </a:p>
          <a:p>
            <a:pPr>
              <a:lnSpc>
                <a:spcPct val="170000"/>
              </a:lnSpc>
              <a:tabLst>
                <a:tab pos="254635" algn="l"/>
              </a:tabLst>
            </a:pPr>
            <a:r>
              <a:rPr lang="en-GB" sz="1800" dirty="0"/>
              <a:t>Apply knowledge of SQL to real-world query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140" dirty="0"/>
              <a:t> </a:t>
            </a:r>
            <a:r>
              <a:rPr dirty="0"/>
              <a:t>is</a:t>
            </a:r>
            <a:r>
              <a:rPr spc="-14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module</a:t>
            </a:r>
            <a:r>
              <a:rPr spc="-135" dirty="0"/>
              <a:t> </a:t>
            </a:r>
            <a:r>
              <a:rPr spc="-25" dirty="0"/>
              <a:t>material?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F2F79C-C69E-3FD8-C091-C23E02B0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952625"/>
            <a:ext cx="9223058" cy="4794530"/>
          </a:xfrm>
        </p:spPr>
        <p:txBody>
          <a:bodyPr/>
          <a:lstStyle/>
          <a:p>
            <a:pPr marL="254635" indent="-241935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All</a:t>
            </a:r>
            <a:r>
              <a:rPr lang="en-GB" sz="2800" spc="-8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class</a:t>
            </a:r>
            <a:r>
              <a:rPr lang="en-GB" sz="2800" spc="-10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material</a:t>
            </a:r>
            <a:r>
              <a:rPr lang="en-GB" sz="2800" spc="-9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will</a:t>
            </a:r>
            <a:r>
              <a:rPr lang="en-GB" sz="2800" spc="-7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</a:t>
            </a:r>
            <a:r>
              <a:rPr lang="en-GB" sz="2800" spc="-9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available</a:t>
            </a:r>
            <a:r>
              <a:rPr lang="en-GB" sz="28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on</a:t>
            </a:r>
            <a:r>
              <a:rPr lang="en-GB" sz="2800" spc="-114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Brightspace</a:t>
            </a:r>
            <a:endParaRPr lang="en-GB" sz="2800" dirty="0">
              <a:latin typeface="Helvetica" pitchFamily="2" charset="0"/>
              <a:cs typeface="Times New Roman"/>
            </a:endParaRPr>
          </a:p>
          <a:p>
            <a:pPr marL="254000" marR="5080" indent="-241935">
              <a:lnSpc>
                <a:spcPct val="116700"/>
              </a:lnSpc>
              <a:spcBef>
                <a:spcPts val="815"/>
              </a:spcBef>
              <a:buFont typeface="Arial"/>
              <a:buChar char="•"/>
              <a:tabLst>
                <a:tab pos="254635" algn="l"/>
                <a:tab pos="6791959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Help</a:t>
            </a:r>
            <a:r>
              <a:rPr lang="en-GB" sz="28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with</a:t>
            </a:r>
            <a:r>
              <a:rPr lang="en-GB" sz="2800" spc="-9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Brightspace</a:t>
            </a:r>
            <a:r>
              <a:rPr lang="en-GB" sz="28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and</a:t>
            </a:r>
            <a:r>
              <a:rPr lang="en-GB" sz="28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how</a:t>
            </a:r>
            <a:r>
              <a:rPr lang="en-GB" sz="2800" spc="-9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2800" spc="-1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enrol</a:t>
            </a:r>
            <a:r>
              <a:rPr lang="en-GB" sz="28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spc="-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is </a:t>
            </a:r>
            <a:r>
              <a:rPr lang="en-GB" sz="28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available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at</a:t>
            </a:r>
            <a:r>
              <a:rPr lang="en-GB" sz="2800" spc="-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8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Helvetica" pitchFamily="2" charset="0"/>
                <a:cs typeface="Times New Roman"/>
                <a:hlinkClick r:id="rId2"/>
              </a:rPr>
              <a:t>www.tudublin.ie/brightspace</a:t>
            </a:r>
            <a:endParaRPr lang="en-GB" sz="2800" dirty="0">
              <a:latin typeface="Helvetica" pitchFamily="2" charset="0"/>
              <a:cs typeface="Times New Roman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Recommended</a:t>
            </a:r>
            <a:r>
              <a:rPr spc="-229" dirty="0"/>
              <a:t> </a:t>
            </a:r>
            <a:r>
              <a:rPr spc="-20" dirty="0"/>
              <a:t>reading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B8F3F-E971-F5CD-4434-605D7D9E0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866063"/>
            <a:ext cx="5181600" cy="4102100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Helvetica" pitchFamily="2" charset="0"/>
                <a:cs typeface="Times New Roman"/>
              </a:rPr>
              <a:t>Our</a:t>
            </a:r>
            <a:r>
              <a:rPr lang="en-GB" sz="2400" spc="-5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reference</a:t>
            </a:r>
            <a:r>
              <a:rPr lang="en-GB" sz="2400" spc="-2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is</a:t>
            </a:r>
            <a:r>
              <a:rPr lang="en-GB" sz="2400" spc="-15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the</a:t>
            </a:r>
            <a:r>
              <a:rPr lang="en-GB" sz="2400" spc="-15" dirty="0">
                <a:latin typeface="Helvetica" pitchFamily="2" charset="0"/>
                <a:cs typeface="Times New Roman"/>
              </a:rPr>
              <a:t> </a:t>
            </a:r>
            <a:r>
              <a:rPr lang="en-GB" sz="2400" spc="-20" dirty="0">
                <a:latin typeface="Helvetica" pitchFamily="2" charset="0"/>
                <a:cs typeface="Times New Roman"/>
              </a:rPr>
              <a:t>book </a:t>
            </a:r>
            <a:r>
              <a:rPr lang="en-GB" sz="2400" dirty="0">
                <a:latin typeface="Helvetica" pitchFamily="2" charset="0"/>
                <a:cs typeface="Times New Roman"/>
              </a:rPr>
              <a:t>“Fundamentals</a:t>
            </a:r>
            <a:r>
              <a:rPr lang="en-GB" sz="2400" spc="-4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of</a:t>
            </a:r>
            <a:r>
              <a:rPr lang="en-GB" sz="2400" spc="-20" dirty="0">
                <a:latin typeface="Helvetica" pitchFamily="2" charset="0"/>
                <a:cs typeface="Times New Roman"/>
              </a:rPr>
              <a:t> </a:t>
            </a:r>
            <a:r>
              <a:rPr lang="en-GB" sz="2400" spc="-10" dirty="0">
                <a:latin typeface="Helvetica" pitchFamily="2" charset="0"/>
                <a:cs typeface="Times New Roman"/>
              </a:rPr>
              <a:t>Database </a:t>
            </a:r>
            <a:r>
              <a:rPr lang="en-GB" sz="2400" dirty="0">
                <a:latin typeface="Helvetica" pitchFamily="2" charset="0"/>
                <a:cs typeface="Times New Roman"/>
              </a:rPr>
              <a:t>Systems”.</a:t>
            </a:r>
            <a:r>
              <a:rPr lang="en-GB" sz="2400" spc="-155" dirty="0">
                <a:latin typeface="Helvetica" pitchFamily="2" charset="0"/>
                <a:cs typeface="Times New Roman"/>
              </a:rPr>
              <a:t> </a:t>
            </a:r>
            <a:r>
              <a:rPr lang="en-GB" sz="2400" spc="-55" dirty="0">
                <a:latin typeface="Helvetica" pitchFamily="2" charset="0"/>
                <a:cs typeface="Times New Roman"/>
              </a:rPr>
              <a:t>You</a:t>
            </a:r>
            <a:r>
              <a:rPr lang="en-GB" sz="2400" spc="-4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should</a:t>
            </a:r>
            <a:r>
              <a:rPr lang="en-GB" sz="2400" spc="-4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find</a:t>
            </a:r>
            <a:r>
              <a:rPr lang="en-GB" sz="2400" spc="-40" dirty="0">
                <a:latin typeface="Helvetica" pitchFamily="2" charset="0"/>
                <a:cs typeface="Times New Roman"/>
              </a:rPr>
              <a:t> </a:t>
            </a:r>
            <a:r>
              <a:rPr lang="en-GB" sz="2400" spc="-25" dirty="0">
                <a:latin typeface="Helvetica" pitchFamily="2" charset="0"/>
                <a:cs typeface="Times New Roman"/>
              </a:rPr>
              <a:t>it </a:t>
            </a:r>
            <a:r>
              <a:rPr lang="en-GB" sz="2400" dirty="0">
                <a:latin typeface="Helvetica" pitchFamily="2" charset="0"/>
                <a:cs typeface="Times New Roman"/>
              </a:rPr>
              <a:t>in</a:t>
            </a:r>
            <a:r>
              <a:rPr lang="en-GB" sz="2400" spc="-25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the</a:t>
            </a:r>
            <a:r>
              <a:rPr lang="en-GB" sz="2400" spc="-20" dirty="0">
                <a:latin typeface="Helvetica" pitchFamily="2" charset="0"/>
                <a:cs typeface="Times New Roman"/>
              </a:rPr>
              <a:t> library.</a:t>
            </a:r>
            <a:r>
              <a:rPr lang="en-GB" sz="2400" spc="-65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TU</a:t>
            </a:r>
            <a:r>
              <a:rPr lang="en-GB" sz="2400" spc="-10" dirty="0">
                <a:latin typeface="Helvetica" pitchFamily="2" charset="0"/>
                <a:cs typeface="Times New Roman"/>
              </a:rPr>
              <a:t> Dublin </a:t>
            </a:r>
            <a:r>
              <a:rPr lang="en-GB" sz="2400" dirty="0">
                <a:latin typeface="Helvetica" pitchFamily="2" charset="0"/>
                <a:cs typeface="Times New Roman"/>
              </a:rPr>
              <a:t>students</a:t>
            </a:r>
            <a:r>
              <a:rPr lang="en-GB" sz="2400" spc="-4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can</a:t>
            </a:r>
            <a:r>
              <a:rPr lang="en-GB" sz="2400" spc="-2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also</a:t>
            </a:r>
            <a:r>
              <a:rPr lang="en-GB" sz="2400" spc="-20" dirty="0">
                <a:latin typeface="Helvetica" pitchFamily="2" charset="0"/>
                <a:cs typeface="Times New Roman"/>
              </a:rPr>
              <a:t> </a:t>
            </a:r>
            <a:r>
              <a:rPr lang="en-GB" sz="2400" spc="-10" dirty="0">
                <a:latin typeface="Helvetica" pitchFamily="2" charset="0"/>
                <a:cs typeface="Times New Roman"/>
              </a:rPr>
              <a:t>download </a:t>
            </a:r>
            <a:r>
              <a:rPr lang="en-GB" sz="2400" dirty="0">
                <a:latin typeface="Helvetica" pitchFamily="2" charset="0"/>
                <a:cs typeface="Times New Roman"/>
              </a:rPr>
              <a:t>the</a:t>
            </a:r>
            <a:r>
              <a:rPr lang="en-GB" sz="2400" spc="-3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eBook</a:t>
            </a:r>
            <a:r>
              <a:rPr lang="en-GB" sz="2400" spc="-10" dirty="0"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latin typeface="Helvetica" pitchFamily="2" charset="0"/>
                <a:cs typeface="Times New Roman"/>
              </a:rPr>
              <a:t>using</a:t>
            </a:r>
            <a:r>
              <a:rPr lang="en-GB" sz="2400" spc="-15" dirty="0">
                <a:latin typeface="Helvetica" pitchFamily="2" charset="0"/>
                <a:cs typeface="Times New Roman"/>
              </a:rPr>
              <a:t> </a:t>
            </a:r>
            <a:r>
              <a:rPr lang="en-GB" sz="24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Helvetica" pitchFamily="2" charset="0"/>
                <a:cs typeface="Times New Roman"/>
                <a:hlinkClick r:id="rId2"/>
              </a:rPr>
              <a:t>this</a:t>
            </a:r>
            <a:r>
              <a:rPr lang="en-GB" sz="2400" u="sng" spc="-1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Helvetica" pitchFamily="2" charset="0"/>
                <a:cs typeface="Times New Roman"/>
                <a:hlinkClick r:id="rId2"/>
              </a:rPr>
              <a:t> </a:t>
            </a:r>
            <a:r>
              <a:rPr lang="en-GB"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Helvetica" pitchFamily="2" charset="0"/>
                <a:cs typeface="Times New Roman"/>
                <a:hlinkClick r:id="rId2"/>
              </a:rPr>
              <a:t>link</a:t>
            </a:r>
            <a:r>
              <a:rPr lang="en-GB" sz="2400" spc="-10" dirty="0">
                <a:latin typeface="Helvetica" pitchFamily="2" charset="0"/>
                <a:cs typeface="Times New Roman"/>
              </a:rPr>
              <a:t>.</a:t>
            </a:r>
            <a:endParaRPr lang="en-GB" sz="2400" dirty="0">
              <a:latin typeface="Helvetica" pitchFamily="2" charset="0"/>
              <a:cs typeface="Times New Roman"/>
            </a:endParaRPr>
          </a:p>
          <a:p>
            <a:endParaRPr lang="en-IE" dirty="0">
              <a:latin typeface="Helvetica" pitchFamily="2" charset="0"/>
            </a:endParaRPr>
          </a:p>
        </p:txBody>
      </p:sp>
      <p:pic>
        <p:nvPicPr>
          <p:cNvPr id="5" name="object 5" descr="Cover of the book Fundamentals of Database Systems&#10;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3864" y="1866063"/>
            <a:ext cx="33020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House</a:t>
            </a:r>
            <a:r>
              <a:rPr spc="-150" dirty="0"/>
              <a:t> </a:t>
            </a:r>
            <a:r>
              <a:rPr spc="-20" dirty="0"/>
              <a:t>Keeping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0DDD31-6D7C-CD13-B57A-4A3B2CE4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4635" indent="-2419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6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Lecture</a:t>
            </a:r>
            <a:r>
              <a:rPr lang="en-GB" sz="2600" spc="-114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notes</a:t>
            </a:r>
            <a:r>
              <a:rPr lang="en-GB" sz="2600" spc="-9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will</a:t>
            </a:r>
            <a:r>
              <a:rPr lang="en-GB" sz="2600" spc="-6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</a:t>
            </a:r>
            <a:r>
              <a:rPr lang="en-GB" sz="2600" spc="-8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available</a:t>
            </a:r>
            <a:r>
              <a:rPr lang="en-GB" sz="26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in</a:t>
            </a:r>
            <a:r>
              <a:rPr lang="en-GB" sz="2600" spc="-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advance</a:t>
            </a:r>
            <a:r>
              <a:rPr lang="en-GB" sz="2600" spc="-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of</a:t>
            </a:r>
            <a:r>
              <a:rPr lang="en-GB" sz="2600" spc="-5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classes</a:t>
            </a:r>
            <a:endParaRPr lang="en-GB" sz="2600" dirty="0">
              <a:latin typeface="Helvetica" pitchFamily="2" charset="0"/>
              <a:cs typeface="Times New Roman"/>
            </a:endParaRPr>
          </a:p>
          <a:p>
            <a:pPr marL="254000" marR="758825" indent="-241935">
              <a:lnSpc>
                <a:spcPct val="115399"/>
              </a:lnSpc>
              <a:spcBef>
                <a:spcPts val="19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Lecture</a:t>
            </a:r>
            <a:r>
              <a:rPr lang="en-GB" sz="2600" spc="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notes</a:t>
            </a:r>
            <a:r>
              <a:rPr lang="en-GB" sz="2600" spc="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are</a:t>
            </a:r>
            <a:r>
              <a:rPr lang="en-GB" sz="2600" spc="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intended</a:t>
            </a:r>
            <a:r>
              <a:rPr lang="en-GB" sz="2600" spc="4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2600" spc="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</a:t>
            </a:r>
            <a:r>
              <a:rPr lang="en-GB" sz="2600" spc="10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</a:t>
            </a:r>
            <a:r>
              <a:rPr lang="en-GB" sz="2600" spc="1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supplement</a:t>
            </a:r>
            <a:r>
              <a:rPr lang="en-GB" sz="2600" spc="1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2600" spc="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attending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lectures,</a:t>
            </a:r>
            <a:r>
              <a:rPr lang="en-GB" sz="2600" spc="1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not</a:t>
            </a:r>
            <a:r>
              <a:rPr lang="en-GB" sz="2600" spc="1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</a:t>
            </a:r>
            <a:r>
              <a:rPr lang="en-GB" sz="2600" spc="1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replacement</a:t>
            </a:r>
            <a:endParaRPr lang="en-GB" sz="3300" dirty="0">
              <a:latin typeface="Helvetica" pitchFamily="2" charset="0"/>
              <a:cs typeface="Times New Roman"/>
            </a:endParaRPr>
          </a:p>
          <a:p>
            <a:pPr marL="254000" marR="5080" indent="-241935">
              <a:lnSpc>
                <a:spcPct val="118500"/>
              </a:lnSpc>
              <a:buFont typeface="Arial"/>
              <a:buChar char="•"/>
              <a:tabLst>
                <a:tab pos="254635" algn="l"/>
                <a:tab pos="5157470" algn="l"/>
                <a:tab pos="7268209" algn="l"/>
              </a:tabLst>
            </a:pP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Information</a:t>
            </a:r>
            <a:r>
              <a:rPr lang="en-GB" sz="2600" spc="16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about</a:t>
            </a:r>
            <a:r>
              <a:rPr lang="en-GB" sz="2600" spc="1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class</a:t>
            </a:r>
            <a:r>
              <a:rPr lang="en-GB" sz="2600" spc="1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location,</a:t>
            </a:r>
            <a:r>
              <a:rPr lang="en-GB" sz="2600" spc="17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lecture times</a:t>
            </a:r>
            <a:r>
              <a:rPr lang="en-GB" sz="2600" spc="1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,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lab</a:t>
            </a:r>
            <a:r>
              <a:rPr lang="en-GB" sz="2600" spc="8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content,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tools,</a:t>
            </a:r>
            <a:r>
              <a:rPr lang="en-GB" sz="2600" spc="2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assessments</a:t>
            </a:r>
            <a:r>
              <a:rPr lang="en-GB" sz="2600" spc="2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etc.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will</a:t>
            </a:r>
            <a:r>
              <a:rPr lang="en-GB" sz="2600" spc="8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</a:t>
            </a:r>
            <a:r>
              <a:rPr lang="en-GB" sz="2600" spc="9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6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made available via emails </a:t>
            </a:r>
            <a:r>
              <a:rPr lang="en-GB" sz="26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sent by the lecturer</a:t>
            </a:r>
            <a:endParaRPr lang="en-GB" sz="2600" dirty="0">
              <a:latin typeface="Helvetica" pitchFamily="2" charset="0"/>
              <a:cs typeface="Times New Roman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185" dirty="0"/>
              <a:t> </a:t>
            </a:r>
            <a:r>
              <a:rPr dirty="0"/>
              <a:t>schedule</a:t>
            </a:r>
            <a:r>
              <a:rPr spc="-175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-20" dirty="0"/>
              <a:t>location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028183-9739-2CDE-94F2-EF6DAF63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914995"/>
            <a:ext cx="9223058" cy="4794530"/>
          </a:xfrm>
        </p:spPr>
        <p:txBody>
          <a:bodyPr/>
          <a:lstStyle/>
          <a:p>
            <a:pPr marL="254635" indent="-241935">
              <a:lnSpc>
                <a:spcPct val="100000"/>
              </a:lnSpc>
              <a:spcBef>
                <a:spcPts val="1770"/>
              </a:spcBef>
              <a:buSzPct val="101694"/>
              <a:tabLst>
                <a:tab pos="25463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Arial"/>
              </a:rPr>
              <a:t>Tuesday 11:00 to 12:00 – Lecture at CQ-006</a:t>
            </a:r>
            <a:endParaRPr lang="en-GB" sz="2800" dirty="0">
              <a:latin typeface="Helvetica" pitchFamily="2" charset="0"/>
              <a:cs typeface="Arial"/>
            </a:endParaRPr>
          </a:p>
          <a:p>
            <a:pPr marL="254635" indent="-241935">
              <a:lnSpc>
                <a:spcPct val="100000"/>
              </a:lnSpc>
              <a:spcBef>
                <a:spcPts val="1764"/>
              </a:spcBef>
              <a:buSzPct val="101694"/>
              <a:tabLst>
                <a:tab pos="25463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Arial"/>
              </a:rPr>
              <a:t>Tuesday 14:00 to 16:00 – Lab (check your timetable)</a:t>
            </a:r>
          </a:p>
          <a:p>
            <a:pPr marL="254635" indent="-241935">
              <a:lnSpc>
                <a:spcPct val="100000"/>
              </a:lnSpc>
              <a:spcBef>
                <a:spcPts val="1764"/>
              </a:spcBef>
              <a:buSzPct val="101694"/>
              <a:tabLst>
                <a:tab pos="25463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Arial"/>
              </a:rPr>
              <a:t>Friday 10:00 to 11:00 – Lecture at CQ-010</a:t>
            </a:r>
          </a:p>
          <a:p>
            <a:pPr marL="254635" indent="-241935">
              <a:lnSpc>
                <a:spcPct val="100000"/>
              </a:lnSpc>
              <a:spcBef>
                <a:spcPts val="1764"/>
              </a:spcBef>
              <a:buSzPct val="101694"/>
              <a:tabLst>
                <a:tab pos="254635" algn="l"/>
              </a:tabLst>
            </a:pPr>
            <a:endParaRPr lang="en-GB" sz="2800" dirty="0">
              <a:solidFill>
                <a:srgbClr val="212121"/>
              </a:solidFill>
              <a:latin typeface="Helvetica" pitchFamily="2" charset="0"/>
              <a:cs typeface="Arial"/>
            </a:endParaRPr>
          </a:p>
          <a:p>
            <a:pPr marL="254635" indent="-241935">
              <a:lnSpc>
                <a:spcPct val="100000"/>
              </a:lnSpc>
              <a:spcBef>
                <a:spcPts val="1764"/>
              </a:spcBef>
              <a:buSzPct val="101694"/>
              <a:tabLst>
                <a:tab pos="254635" algn="l"/>
              </a:tabLst>
            </a:pPr>
            <a:endParaRPr lang="en-GB" sz="2800" dirty="0">
              <a:solidFill>
                <a:srgbClr val="212121"/>
              </a:solidFill>
              <a:latin typeface="Helvetica" pitchFamily="2" charset="0"/>
              <a:cs typeface="Arial"/>
            </a:endParaRPr>
          </a:p>
          <a:p>
            <a:pPr marL="12700">
              <a:spcBef>
                <a:spcPts val="1764"/>
              </a:spcBef>
              <a:buSzPct val="101694"/>
              <a:tabLst>
                <a:tab pos="25463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Arial"/>
              </a:rPr>
              <a:t>Keep an eye on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https://timetables.tudublin.ie/</a:t>
            </a:r>
            <a:endParaRPr lang="en-GB" sz="2800" dirty="0">
              <a:solidFill>
                <a:srgbClr val="212121"/>
              </a:solidFill>
              <a:latin typeface="Helvetica" pitchFamily="2" charset="0"/>
              <a:cs typeface="Arial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Assessment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EFEE-6C0C-576C-07E3-E3C41F26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647825"/>
            <a:ext cx="10058400" cy="5237649"/>
          </a:xfrm>
        </p:spPr>
        <p:txBody>
          <a:bodyPr>
            <a:normAutofit fontScale="92500"/>
          </a:bodyPr>
          <a:lstStyle/>
          <a:p>
            <a:pPr marL="254635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dirty="0">
                <a:latin typeface="Helvetica" pitchFamily="2" charset="0"/>
              </a:rPr>
              <a:t>50%</a:t>
            </a:r>
            <a:r>
              <a:rPr lang="en-GB" sz="2400" spc="-135" dirty="0">
                <a:latin typeface="Helvetica" pitchFamily="2" charset="0"/>
              </a:rPr>
              <a:t> </a:t>
            </a:r>
            <a:r>
              <a:rPr lang="en-GB" sz="2400" spc="-10" dirty="0">
                <a:latin typeface="Helvetica" pitchFamily="2" charset="0"/>
              </a:rPr>
              <a:t>examination: end-of-semester </a:t>
            </a:r>
            <a:r>
              <a:rPr lang="en-GB" sz="24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exam</a:t>
            </a:r>
            <a:endParaRPr lang="en-GB" sz="2400" dirty="0">
              <a:latin typeface="Helvetica" pitchFamily="2" charset="0"/>
            </a:endParaRPr>
          </a:p>
          <a:p>
            <a:pPr marL="254635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dirty="0">
                <a:latin typeface="Helvetica" pitchFamily="2" charset="0"/>
              </a:rPr>
              <a:t>50%</a:t>
            </a:r>
            <a:r>
              <a:rPr lang="en-GB" sz="2400" spc="-150" dirty="0">
                <a:latin typeface="Helvetica" pitchFamily="2" charset="0"/>
              </a:rPr>
              <a:t> </a:t>
            </a:r>
            <a:r>
              <a:rPr lang="en-GB" sz="2400" spc="-10" dirty="0">
                <a:latin typeface="Helvetica" pitchFamily="2" charset="0"/>
              </a:rPr>
              <a:t>continuous</a:t>
            </a:r>
            <a:r>
              <a:rPr lang="en-GB" sz="2400" spc="-140" dirty="0">
                <a:latin typeface="Helvetica" pitchFamily="2" charset="0"/>
              </a:rPr>
              <a:t> </a:t>
            </a:r>
            <a:r>
              <a:rPr lang="en-GB" sz="2400" spc="-20" dirty="0">
                <a:latin typeface="Helvetica" pitchFamily="2" charset="0"/>
              </a:rPr>
              <a:t>assessment, composed of:</a:t>
            </a:r>
            <a:endParaRPr lang="en-GB" sz="2400" dirty="0">
              <a:latin typeface="Helvetica" pitchFamily="2" charset="0"/>
            </a:endParaRPr>
          </a:p>
          <a:p>
            <a:pPr marL="737870" lvl="1" indent="-24257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2 lab</a:t>
            </a:r>
            <a:r>
              <a:rPr lang="en-GB" sz="2400" spc="-5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400" spc="-6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tests (10% each)</a:t>
            </a:r>
            <a:endParaRPr lang="en-GB" sz="2400" dirty="0">
              <a:latin typeface="Helvetica" pitchFamily="2" charset="0"/>
              <a:cs typeface="Times New Roman"/>
            </a:endParaRPr>
          </a:p>
          <a:p>
            <a:pPr marL="737235" marR="5080" lvl="1" indent="-242570"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10 lab works (3% each)</a:t>
            </a:r>
          </a:p>
          <a:p>
            <a:pPr marL="495300" lvl="1">
              <a:spcBef>
                <a:spcPts val="1200"/>
              </a:spcBef>
              <a:tabLst>
                <a:tab pos="737870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Specifications about the labs and tests will</a:t>
            </a:r>
            <a:r>
              <a:rPr lang="en-GB" sz="2400" spc="7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</a:t>
            </a:r>
            <a:r>
              <a:rPr lang="en-GB" sz="2400" spc="9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available</a:t>
            </a:r>
            <a:r>
              <a:rPr lang="en-GB" sz="2400" spc="8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in</a:t>
            </a:r>
            <a:r>
              <a:rPr lang="en-GB" sz="2400" spc="6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4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Brightspace. </a:t>
            </a:r>
          </a:p>
          <a:p>
            <a:pPr marL="495300" lvl="1">
              <a:spcBef>
                <a:spcPts val="1200"/>
              </a:spcBef>
              <a:tabLst>
                <a:tab pos="737870" algn="l"/>
              </a:tabLst>
            </a:pPr>
            <a:r>
              <a:rPr lang="en-GB" sz="2400" b="1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 get the lab work marks, students </a:t>
            </a:r>
            <a:r>
              <a:rPr lang="en-GB" sz="2400" b="1" u="sng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must</a:t>
            </a:r>
            <a:r>
              <a:rPr lang="en-GB" sz="2400" b="1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:</a:t>
            </a:r>
          </a:p>
          <a:p>
            <a:pPr marL="895989" lvl="2">
              <a:spcBef>
                <a:spcPts val="1200"/>
              </a:spcBef>
              <a:tabLst>
                <a:tab pos="737870" algn="l"/>
              </a:tabLst>
            </a:pPr>
            <a:r>
              <a:rPr lang="en-GB" sz="2400" b="1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Submit the resulting files on Brightspace</a:t>
            </a:r>
          </a:p>
          <a:p>
            <a:pPr marL="895989" lvl="2">
              <a:spcBef>
                <a:spcPts val="1200"/>
              </a:spcBef>
              <a:tabLst>
                <a:tab pos="737870" algn="l"/>
              </a:tabLst>
            </a:pPr>
            <a:r>
              <a:rPr lang="en-GB" sz="2400" b="1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Demonstrate their work to the lab instructor</a:t>
            </a:r>
            <a:endParaRPr lang="en-GB" sz="2400" b="1" dirty="0">
              <a:latin typeface="Helvetica" pitchFamily="2" charset="0"/>
              <a:cs typeface="Times New Roman"/>
            </a:endParaRPr>
          </a:p>
          <a:p>
            <a:endParaRPr lang="en-IE" sz="20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8500" y="375225"/>
            <a:ext cx="9223058" cy="60619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5" dirty="0" err="1"/>
              <a:t>Continuous</a:t>
            </a:r>
            <a:r>
              <a:rPr lang="pt-BR" spc="-25" dirty="0"/>
              <a:t> </a:t>
            </a:r>
            <a:r>
              <a:rPr spc="-25" dirty="0"/>
              <a:t>Assessment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0E59A2A6-918C-7F8D-39C5-D64FAEFDB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063424"/>
              </p:ext>
            </p:extLst>
          </p:nvPr>
        </p:nvGraphicFramePr>
        <p:xfrm>
          <a:off x="771842" y="981417"/>
          <a:ext cx="7488000" cy="6048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126089638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54551269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13122519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94389707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62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16/09/2025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98236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23/09/2025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7228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30/09/2025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843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07/10/2025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2651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14/10/2025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982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21/10/2025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Quiz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5103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28/10/2025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REVIEW WEEK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9880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04/11/2025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5774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5256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Quiz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8866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5848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02/12/2025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5013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09/12/2025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Lab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42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491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A9A2-C4B7-7B03-AC6A-71B542691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4635" indent="-241935" algn="just">
              <a:lnSpc>
                <a:spcPct val="100000"/>
              </a:lnSpc>
              <a:spcBef>
                <a:spcPts val="163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Submitted on Brightspace</a:t>
            </a:r>
            <a:endParaRPr lang="en-GB" sz="2400" dirty="0">
              <a:latin typeface="Helvetica" pitchFamily="2" charset="0"/>
              <a:cs typeface="Times New Roman"/>
            </a:endParaRPr>
          </a:p>
          <a:p>
            <a:pPr marL="254635" marR="506730" indent="-241935" algn="just">
              <a:lnSpc>
                <a:spcPct val="100000"/>
              </a:lnSpc>
              <a:spcBef>
                <a:spcPts val="151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It is the best way of getting ready for the exams</a:t>
            </a:r>
            <a:endParaRPr lang="en-GB" sz="2400" dirty="0">
              <a:latin typeface="Helvetica" pitchFamily="2" charset="0"/>
              <a:cs typeface="Times New Roman"/>
            </a:endParaRPr>
          </a:p>
          <a:p>
            <a:pPr marL="254635" marR="5080" indent="-241935" algn="just">
              <a:lnSpc>
                <a:spcPct val="100000"/>
              </a:lnSpc>
              <a:spcBef>
                <a:spcPts val="1664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You should be able to use your own laptop or the computer available in the lab. If you have issues, please let me or the lab instructor know!</a:t>
            </a:r>
            <a:endParaRPr lang="en-GB" sz="2400" dirty="0">
              <a:latin typeface="Helvetica" pitchFamily="2" charset="0"/>
              <a:cs typeface="Times New Roman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833376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Contact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41B332-8A84-738D-8D6A-273D16A27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4635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Best</a:t>
            </a:r>
            <a:r>
              <a:rPr lang="en-GB" sz="3000" spc="-1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way</a:t>
            </a:r>
            <a:r>
              <a:rPr lang="en-GB" sz="3000" spc="-1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3000" spc="-1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contact</a:t>
            </a:r>
            <a:r>
              <a:rPr lang="en-GB" sz="3000" spc="-1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3000" spc="-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me</a:t>
            </a:r>
            <a:endParaRPr lang="en-GB" sz="3000" dirty="0">
              <a:latin typeface="Helvetica" pitchFamily="2" charset="0"/>
              <a:cs typeface="Times New Roman"/>
            </a:endParaRPr>
          </a:p>
          <a:p>
            <a:pPr marL="737870" lvl="1" indent="-243204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Email:</a:t>
            </a:r>
            <a:r>
              <a:rPr lang="en-GB" sz="2500" spc="7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Helvetica" pitchFamily="2" charset="0"/>
                <a:cs typeface="Times New Roman"/>
                <a:hlinkClick r:id="rId2"/>
              </a:rPr>
              <a:t>mariana.rocha@tudublin.ie</a:t>
            </a:r>
            <a:endParaRPr lang="en-GB" sz="2500" dirty="0">
              <a:latin typeface="Helvetica" pitchFamily="2" charset="0"/>
              <a:cs typeface="Times New Roman"/>
            </a:endParaRPr>
          </a:p>
          <a:p>
            <a:pPr marL="737870" lvl="1" indent="-243204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Please</a:t>
            </a:r>
            <a:r>
              <a:rPr lang="en-GB" sz="2500" spc="6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Note:</a:t>
            </a:r>
            <a:endParaRPr lang="en-GB" sz="2500" dirty="0">
              <a:latin typeface="Helvetica" pitchFamily="2" charset="0"/>
              <a:cs typeface="Times New Roman"/>
            </a:endParaRPr>
          </a:p>
          <a:p>
            <a:pPr marL="1704339" marR="5080" lvl="2" indent="-241935">
              <a:lnSpc>
                <a:spcPct val="118900"/>
              </a:lnSpc>
              <a:spcBef>
                <a:spcPts val="455"/>
              </a:spcBef>
              <a:buFont typeface="Arial"/>
              <a:buChar char="•"/>
              <a:tabLst>
                <a:tab pos="1703705" algn="l"/>
                <a:tab pos="1704339" algn="l"/>
              </a:tabLst>
            </a:pP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</a:t>
            </a:r>
            <a:r>
              <a:rPr lang="en-GB" sz="19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will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try</a:t>
            </a:r>
            <a:r>
              <a:rPr lang="en-GB" sz="19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1900" spc="-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get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back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1900" spc="-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you</a:t>
            </a:r>
            <a:r>
              <a:rPr lang="en-GB" sz="19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as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soon</a:t>
            </a:r>
            <a:r>
              <a:rPr lang="en-GB" sz="1900" spc="-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but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I</a:t>
            </a:r>
            <a:r>
              <a:rPr lang="en-GB" sz="19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can’t</a:t>
            </a:r>
            <a:r>
              <a:rPr lang="en-GB" sz="1900" spc="-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guarantee</a:t>
            </a:r>
            <a:r>
              <a:rPr lang="en-GB" sz="1900" spc="-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1900" spc="-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get</a:t>
            </a:r>
            <a:r>
              <a:rPr lang="en-GB" sz="1900" spc="-3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back</a:t>
            </a:r>
            <a:r>
              <a:rPr lang="en-GB" sz="1900" spc="-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1900" spc="-4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spc="-2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you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the</a:t>
            </a:r>
            <a:r>
              <a:rPr lang="en-GB" sz="1900" spc="-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same</a:t>
            </a:r>
            <a:r>
              <a:rPr lang="en-GB" sz="1900" spc="-4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1900" spc="-2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day.</a:t>
            </a:r>
            <a:endParaRPr lang="en-GB" sz="1900" dirty="0">
              <a:latin typeface="Helvetica" pitchFamily="2" charset="0"/>
              <a:cs typeface="Times New Roman"/>
            </a:endParaRPr>
          </a:p>
          <a:p>
            <a:pPr marL="737870" lvl="1" indent="-243204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Or</a:t>
            </a:r>
            <a:r>
              <a:rPr lang="en-GB" sz="2500" spc="5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talk</a:t>
            </a:r>
            <a:r>
              <a:rPr lang="en-GB" sz="2500" spc="5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to</a:t>
            </a:r>
            <a:r>
              <a:rPr lang="en-GB" sz="2500" spc="3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me</a:t>
            </a:r>
            <a:r>
              <a:rPr lang="en-GB" sz="2500" spc="6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during</a:t>
            </a:r>
            <a:r>
              <a:rPr lang="en-GB" sz="2500" spc="55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 </a:t>
            </a:r>
            <a:r>
              <a:rPr lang="en-GB" sz="2500" spc="-10" dirty="0">
                <a:solidFill>
                  <a:srgbClr val="212121"/>
                </a:solidFill>
                <a:latin typeface="Helvetica" pitchFamily="2" charset="0"/>
                <a:cs typeface="Times New Roman"/>
              </a:rPr>
              <a:t>class</a:t>
            </a:r>
            <a:endParaRPr lang="en-GB" sz="2500" dirty="0">
              <a:latin typeface="Helvetica" pitchFamily="2" charset="0"/>
              <a:cs typeface="Times New Roman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TU Dubli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 Dublin blue" id="{6D57FD24-6AFF-7F41-B61B-15129C67D53B}" vid="{5494679D-FC2E-284F-BAB5-6633A551CA7A}"/>
    </a:ext>
  </a:extLst>
</a:theme>
</file>

<file path=ppt/theme/theme3.xml><?xml version="1.0" encoding="utf-8"?>
<a:theme xmlns:a="http://schemas.openxmlformats.org/drawingml/2006/main" name="Custom Desig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</TotalTime>
  <Words>541</Words>
  <Application>Microsoft Macintosh PowerPoint</Application>
  <PresentationFormat>Custom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Prophet</vt:lpstr>
      <vt:lpstr>Visuelt</vt:lpstr>
      <vt:lpstr>Arial</vt:lpstr>
      <vt:lpstr>Calibri</vt:lpstr>
      <vt:lpstr>Helvetica</vt:lpstr>
      <vt:lpstr>1_Office Theme</vt:lpstr>
      <vt:lpstr>TU Dublin</vt:lpstr>
      <vt:lpstr>Custom Design</vt:lpstr>
      <vt:lpstr>Module details  Dr Mariana Rocha School of Computer Science</vt:lpstr>
      <vt:lpstr>What’s the module about?</vt:lpstr>
      <vt:lpstr>Learning Objectives</vt:lpstr>
      <vt:lpstr>Where is the module material?</vt:lpstr>
      <vt:lpstr>Recommended reading</vt:lpstr>
      <vt:lpstr>House Keeping</vt:lpstr>
      <vt:lpstr>Class schedule and location</vt:lpstr>
      <vt:lpstr>Assessment</vt:lpstr>
      <vt:lpstr>Continuous Assessment</vt:lpstr>
      <vt:lpstr>Labs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Relational Databases and SQL</dc:title>
  <cp:lastModifiedBy>Mariana Rocha</cp:lastModifiedBy>
  <cp:revision>42</cp:revision>
  <dcterms:created xsi:type="dcterms:W3CDTF">2023-09-08T07:22:53Z</dcterms:created>
  <dcterms:modified xsi:type="dcterms:W3CDTF">2025-09-15T12:48:28Z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2023-09-08T00:00:00Z</vt:filetime>
  </property>
  <property fmtid="{D5CDD505-2E9C-101B-9397-08002B2CF9AE}" pid="5" name="Producer">
    <vt:lpwstr>macOS Version 11.5.2 (Build 20G95) Quartz PDFContext</vt:lpwstr>
  </property>
</Properties>
</file>